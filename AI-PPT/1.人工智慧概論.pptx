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sldIdLst>
    <p:sldId id="263" r:id="rId4"/>
    <p:sldId id="264" r:id="rId5"/>
    <p:sldId id="280" r:id="rId6"/>
    <p:sldId id="265" r:id="rId7"/>
    <p:sldId id="266" r:id="rId8"/>
    <p:sldId id="269" r:id="rId9"/>
    <p:sldId id="267" r:id="rId10"/>
    <p:sldId id="268" r:id="rId11"/>
    <p:sldId id="283" r:id="rId12"/>
    <p:sldId id="270" r:id="rId13"/>
    <p:sldId id="272" r:id="rId14"/>
    <p:sldId id="281" r:id="rId15"/>
    <p:sldId id="282" r:id="rId16"/>
    <p:sldId id="273" r:id="rId17"/>
    <p:sldId id="274" r:id="rId18"/>
    <p:sldId id="275" r:id="rId19"/>
    <p:sldId id="276" r:id="rId20"/>
    <p:sldId id="277" r:id="rId21"/>
    <p:sldId id="261" r:id="rId2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F1A86-9669-49A3-AF28-57049C3EE01F}" type="datetimeFigureOut">
              <a:rPr lang="zh-TW" altLang="en-US" smtClean="0"/>
              <a:t>2025/9/1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F71B2-D6E7-4D46-9CE4-BFC99F6A9FD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2027208" y="5556060"/>
            <a:ext cx="8082950" cy="1191286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3" name="文字版面配置區 3"/>
          <p:cNvSpPr>
            <a:spLocks noGrp="1"/>
          </p:cNvSpPr>
          <p:nvPr>
            <p:ph type="body" sz="quarter" idx="13" hasCustomPrompt="1"/>
          </p:nvPr>
        </p:nvSpPr>
        <p:spPr>
          <a:xfrm>
            <a:off x="2614288" y="6202396"/>
            <a:ext cx="7029450" cy="456429"/>
          </a:xfrm>
        </p:spPr>
        <p:txBody>
          <a:bodyPr>
            <a:normAutofit/>
          </a:bodyPr>
          <a:lstStyle>
            <a:lvl1pPr marL="228600" marR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40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pPr algn="ctr"/>
            <a:r>
              <a:rPr lang="zh-TW" altLang="en-US" dirty="0"/>
              <a:t>慈濟</a:t>
            </a:r>
            <a:r>
              <a:rPr lang="zh-TW" altLang="en-US" dirty="0" smtClean="0"/>
              <a:t>大學</a:t>
            </a:r>
            <a:r>
              <a:rPr lang="en-US" altLang="zh-TW" dirty="0" smtClean="0"/>
              <a:t>-</a:t>
            </a:r>
            <a:r>
              <a:rPr lang="zh-TW" altLang="en-US" dirty="0" smtClean="0"/>
              <a:t>資訊科技</a:t>
            </a:r>
            <a:r>
              <a:rPr lang="zh-TW" altLang="en-US" dirty="0"/>
              <a:t>與</a:t>
            </a:r>
            <a:r>
              <a:rPr lang="zh-TW" altLang="en-US" dirty="0" smtClean="0"/>
              <a:t>管理學系</a:t>
            </a:r>
            <a:r>
              <a:rPr lang="en-US" altLang="zh-TW" dirty="0" smtClean="0"/>
              <a:t>-</a:t>
            </a:r>
            <a:r>
              <a:rPr lang="zh-TW" altLang="en-US" dirty="0" smtClean="0"/>
              <a:t>吳志成助理教授</a:t>
            </a:r>
            <a:endParaRPr lang="en-US" altLang="zh-TW" dirty="0" smtClean="0"/>
          </a:p>
          <a:p>
            <a:pPr algn="ctr"/>
            <a:endParaRPr lang="zh-TW" altLang="en-US" dirty="0"/>
          </a:p>
        </p:txBody>
      </p:sp>
      <p:sp>
        <p:nvSpPr>
          <p:cNvPr id="9" name="文字版面配置區 3"/>
          <p:cNvSpPr>
            <a:spLocks noGrp="1"/>
          </p:cNvSpPr>
          <p:nvPr>
            <p:ph type="body" sz="quarter" idx="16" hasCustomPrompt="1"/>
          </p:nvPr>
        </p:nvSpPr>
        <p:spPr>
          <a:xfrm>
            <a:off x="2070338" y="5676173"/>
            <a:ext cx="7979434" cy="500332"/>
          </a:xfrm>
        </p:spPr>
        <p:txBody>
          <a:bodyPr>
            <a:noAutofit/>
          </a:bodyPr>
          <a:lstStyle>
            <a:lvl1pPr marL="228600" marR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zh-TW" altLang="en-US" sz="2400" b="1" kern="1200" dirty="0" smtClean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defRPr>
            </a:lvl1pPr>
          </a:lstStyle>
          <a:p>
            <a:r>
              <a:rPr lang="zh-TW" altLang="en-US" dirty="0" smtClean="0"/>
              <a:t>人工智慧概論 </a:t>
            </a:r>
            <a:r>
              <a:rPr lang="en-US" altLang="zh-TW" dirty="0" smtClean="0"/>
              <a:t>Concepts of Artificial Intelligence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98509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F1A86-9669-49A3-AF28-57049C3EE01F}" type="datetimeFigureOut">
              <a:rPr lang="zh-TW" altLang="en-US" smtClean="0"/>
              <a:t>2025/9/1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F71B2-D6E7-4D46-9CE4-BFC99F6A9FD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2027209" y="6052829"/>
            <a:ext cx="7763774" cy="668646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文字版面配置區 6"/>
          <p:cNvSpPr>
            <a:spLocks noGrp="1"/>
          </p:cNvSpPr>
          <p:nvPr>
            <p:ph type="body" sz="quarter" idx="13" hasCustomPrompt="1"/>
          </p:nvPr>
        </p:nvSpPr>
        <p:spPr>
          <a:xfrm>
            <a:off x="2458528" y="6165387"/>
            <a:ext cx="6901132" cy="537193"/>
          </a:xfrm>
        </p:spPr>
        <p:txBody>
          <a:bodyPr>
            <a:no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pPr lvl="0"/>
            <a:r>
              <a:rPr lang="en-US" altLang="zh-TW" dirty="0" smtClean="0"/>
              <a:t>Thank you for your time and attention</a:t>
            </a:r>
            <a:endParaRPr lang="zh-TW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180697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21FF1-0EB7-406D-85CE-C6E4C1CD2731}" type="datetimeFigureOut">
              <a:rPr lang="zh-TW" altLang="en-US" smtClean="0"/>
              <a:t>2025/9/1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EC870-3D8A-4FA0-A11E-72D24C051C9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6162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21FF1-0EB7-406D-85CE-C6E4C1CD2731}" type="datetimeFigureOut">
              <a:rPr lang="zh-TW" altLang="en-US" smtClean="0"/>
              <a:t>2025/9/1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EC870-3D8A-4FA0-A11E-72D24C051C9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269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21FF1-0EB7-406D-85CE-C6E4C1CD2731}" type="datetimeFigureOut">
              <a:rPr lang="zh-TW" altLang="en-US" smtClean="0"/>
              <a:t>2025/9/1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EC870-3D8A-4FA0-A11E-72D24C051C9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4757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21FF1-0EB7-406D-85CE-C6E4C1CD2731}" type="datetimeFigureOut">
              <a:rPr lang="zh-TW" altLang="en-US" smtClean="0"/>
              <a:t>2025/9/1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EC870-3D8A-4FA0-A11E-72D24C051C9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4441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21FF1-0EB7-406D-85CE-C6E4C1CD2731}" type="datetimeFigureOut">
              <a:rPr lang="zh-TW" altLang="en-US" smtClean="0"/>
              <a:t>2025/9/1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EC870-3D8A-4FA0-A11E-72D24C051C9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6854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21FF1-0EB7-406D-85CE-C6E4C1CD2731}" type="datetimeFigureOut">
              <a:rPr lang="zh-TW" altLang="en-US" smtClean="0"/>
              <a:t>2025/9/1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EC870-3D8A-4FA0-A11E-72D24C051C9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3345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21FF1-0EB7-406D-85CE-C6E4C1CD2731}" type="datetimeFigureOut">
              <a:rPr lang="zh-TW" altLang="en-US" smtClean="0"/>
              <a:t>2025/9/1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EC870-3D8A-4FA0-A11E-72D24C051C9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8631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21FF1-0EB7-406D-85CE-C6E4C1CD2731}" type="datetimeFigureOut">
              <a:rPr lang="zh-TW" altLang="en-US" smtClean="0"/>
              <a:t>2025/9/1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EC870-3D8A-4FA0-A11E-72D24C051C9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8662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21FF1-0EB7-406D-85CE-C6E4C1CD2731}" type="datetimeFigureOut">
              <a:rPr lang="zh-TW" altLang="en-US" smtClean="0"/>
              <a:t>2025/9/1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EC870-3D8A-4FA0-A11E-72D24C051C9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45760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21FF1-0EB7-406D-85CE-C6E4C1CD2731}" type="datetimeFigureOut">
              <a:rPr lang="zh-TW" altLang="en-US" smtClean="0"/>
              <a:t>2025/9/1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EC870-3D8A-4FA0-A11E-72D24C051C9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66739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21FF1-0EB7-406D-85CE-C6E4C1CD2731}" type="datetimeFigureOut">
              <a:rPr lang="zh-TW" altLang="en-US" smtClean="0"/>
              <a:t>2025/9/1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EC870-3D8A-4FA0-A11E-72D24C051C9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0401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0F9B3-AD29-4B17-BC8D-E49BCA271F71}" type="datetimeFigureOut">
              <a:rPr lang="zh-TW" altLang="en-US" smtClean="0"/>
              <a:t>2025/9/1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413C2-AECE-4567-973C-8A0CF9C3BFE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2994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0F9B3-AD29-4B17-BC8D-E49BCA271F71}" type="datetimeFigureOut">
              <a:rPr lang="zh-TW" altLang="en-US" smtClean="0"/>
              <a:t>2025/9/1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413C2-AECE-4567-973C-8A0CF9C3BFE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4968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0F9B3-AD29-4B17-BC8D-E49BCA271F71}" type="datetimeFigureOut">
              <a:rPr lang="zh-TW" altLang="en-US" smtClean="0"/>
              <a:t>2025/9/1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413C2-AECE-4567-973C-8A0CF9C3BFE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86950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0F9B3-AD29-4B17-BC8D-E49BCA271F71}" type="datetimeFigureOut">
              <a:rPr lang="zh-TW" altLang="en-US" smtClean="0"/>
              <a:t>2025/9/1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413C2-AECE-4567-973C-8A0CF9C3BFE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36613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0F9B3-AD29-4B17-BC8D-E49BCA271F71}" type="datetimeFigureOut">
              <a:rPr lang="zh-TW" altLang="en-US" smtClean="0"/>
              <a:t>2025/9/1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413C2-AECE-4567-973C-8A0CF9C3BFE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70910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0F9B3-AD29-4B17-BC8D-E49BCA271F71}" type="datetimeFigureOut">
              <a:rPr lang="zh-TW" altLang="en-US" smtClean="0"/>
              <a:t>2025/9/1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413C2-AECE-4567-973C-8A0CF9C3BFE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1244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0F9B3-AD29-4B17-BC8D-E49BCA271F71}" type="datetimeFigureOut">
              <a:rPr lang="zh-TW" altLang="en-US" smtClean="0"/>
              <a:t>2025/9/1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413C2-AECE-4567-973C-8A0CF9C3BFE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557053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0F9B3-AD29-4B17-BC8D-E49BCA271F71}" type="datetimeFigureOut">
              <a:rPr lang="zh-TW" altLang="en-US" smtClean="0"/>
              <a:t>2025/9/1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413C2-AECE-4567-973C-8A0CF9C3BFE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7688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0F9B3-AD29-4B17-BC8D-E49BCA271F71}" type="datetimeFigureOut">
              <a:rPr lang="zh-TW" altLang="en-US" smtClean="0"/>
              <a:t>2025/9/1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413C2-AECE-4567-973C-8A0CF9C3BFE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601647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0F9B3-AD29-4B17-BC8D-E49BCA271F71}" type="datetimeFigureOut">
              <a:rPr lang="zh-TW" altLang="en-US" smtClean="0"/>
              <a:t>2025/9/1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413C2-AECE-4567-973C-8A0CF9C3BFE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512253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0F9B3-AD29-4B17-BC8D-E49BCA271F71}" type="datetimeFigureOut">
              <a:rPr lang="zh-TW" altLang="en-US" smtClean="0"/>
              <a:t>2025/9/1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413C2-AECE-4567-973C-8A0CF9C3BFE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1602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image" Target="../media/image2.jpg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image" Target="../media/image3.jpg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 l="-31000" r="-3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9F1A86-9669-49A3-AF28-57049C3EE01F}" type="datetimeFigureOut">
              <a:rPr lang="zh-TW" altLang="en-US" smtClean="0"/>
              <a:t>2025/9/1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AF71B2-D6E7-4D46-9CE4-BFC99F6A9F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8144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421FF1-0EB7-406D-85CE-C6E4C1CD2731}" type="datetimeFigureOut">
              <a:rPr lang="zh-TW" altLang="en-US" smtClean="0"/>
              <a:t>2025/9/1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CEC870-3D8A-4FA0-A11E-72D24C051C9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4015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 t="-21000" b="-2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00F9B3-AD29-4B17-BC8D-E49BCA271F71}" type="datetimeFigureOut">
              <a:rPr lang="zh-TW" altLang="en-US" smtClean="0"/>
              <a:t>2025/9/1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413C2-AECE-4567-973C-8A0CF9C3BFE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4406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reurl.cc/aGq1x9" TargetMode="Externa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reurl.cc/D3jmOE" TargetMode="Externa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hCzsEgdxNBg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hyperlink" Target="https://zh.wikipedia.org/wiki/%E9%9F%A9%E5%9B%BD" TargetMode="External"/><Relationship Id="rId7" Type="http://schemas.openxmlformats.org/officeDocument/2006/relationships/image" Target="../media/image13.png"/><Relationship Id="rId2" Type="http://schemas.openxmlformats.org/officeDocument/2006/relationships/hyperlink" Target="https://zh.wikipedia.org/wiki/%E4%BA%91%E8%AE%A1%E7%AE%97" TargetMode="External"/><Relationship Id="rId1" Type="http://schemas.openxmlformats.org/officeDocument/2006/relationships/slideLayout" Target="../slideLayouts/slideLayout15.xml"/><Relationship Id="rId6" Type="http://schemas.openxmlformats.org/officeDocument/2006/relationships/hyperlink" Target="https://youtu.be/WIZH61sODNI" TargetMode="External"/><Relationship Id="rId5" Type="http://schemas.openxmlformats.org/officeDocument/2006/relationships/hyperlink" Target="https://zh.wikipedia.org/wiki/%E5%9B%9B%E5%AD%A3%E9%85%92%E5%BA%97" TargetMode="External"/><Relationship Id="rId4" Type="http://schemas.openxmlformats.org/officeDocument/2006/relationships/hyperlink" Target="https://zh.wikipedia.org/wiki/%E9%A6%96%E7%88%BE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www.youtube.com/watch?v=jgaCsJOpWhE" TargetMode="Externa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nside.com.tw/article/22145-waymo-ceo-launching-a-self-driving-car-is-harder-than-launching-a-rocket" TargetMode="Externa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38863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5"/>
          <p:cNvSpPr>
            <a:spLocks noGrp="1" noChangeArrowheads="1"/>
          </p:cNvSpPr>
          <p:nvPr>
            <p:ph type="ctrTitle"/>
          </p:nvPr>
        </p:nvSpPr>
        <p:spPr>
          <a:xfrm>
            <a:off x="2209800" y="1341439"/>
            <a:ext cx="7772400" cy="1470025"/>
          </a:xfrm>
        </p:spPr>
        <p:txBody>
          <a:bodyPr anchor="ctr"/>
          <a:lstStyle/>
          <a:p>
            <a:pPr eaLnBrk="1" hangingPunct="1"/>
            <a:r>
              <a:rPr lang="zh-TW" altLang="en-US" sz="6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人工智慧概論</a:t>
            </a:r>
            <a:endParaRPr lang="es-ES" altLang="zh-TW" sz="36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051" name="Rectangle 29"/>
          <p:cNvSpPr>
            <a:spLocks noGrp="1" noChangeArrowheads="1"/>
          </p:cNvSpPr>
          <p:nvPr>
            <p:ph type="subTitle" idx="1"/>
          </p:nvPr>
        </p:nvSpPr>
        <p:spPr>
          <a:xfrm>
            <a:off x="2895600" y="5445126"/>
            <a:ext cx="6400800" cy="841375"/>
          </a:xfrm>
        </p:spPr>
        <p:txBody>
          <a:bodyPr anchor="ctr"/>
          <a:lstStyle/>
          <a:p>
            <a:pPr eaLnBrk="1" hangingPunct="1"/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慈濟大學</a:t>
            </a:r>
            <a:r>
              <a:rPr lang="en-US" altLang="zh-TW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吳志成老師</a:t>
            </a:r>
            <a:endParaRPr lang="zh-TW" alt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052" name="Rectangle 25"/>
          <p:cNvSpPr txBox="1">
            <a:spLocks noChangeArrowheads="1"/>
          </p:cNvSpPr>
          <p:nvPr/>
        </p:nvSpPr>
        <p:spPr bwMode="auto">
          <a:xfrm>
            <a:off x="1847850" y="3062289"/>
            <a:ext cx="8420100" cy="147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3600" b="1" dirty="0">
                <a:solidFill>
                  <a:schemeClr val="tx2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Concepts of Artificial Intelligence</a:t>
            </a:r>
            <a:endParaRPr lang="es-ES" altLang="zh-TW" sz="36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98543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Relationship between AI,ML,DL</a:t>
            </a:r>
            <a:endParaRPr lang="zh-TW" altLang="en-US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5" name="Picture 2" descr="This figure illustrates the relationships between AI, ML, and DL. DL is...  | Download Scientific Diagra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0295" y="1825625"/>
            <a:ext cx="5018829" cy="5032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9771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TW" altLang="en-US" sz="48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課程目標</a:t>
            </a:r>
          </a:p>
        </p:txBody>
      </p:sp>
      <p:sp>
        <p:nvSpPr>
          <p:cNvPr id="3075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44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1.</a:t>
            </a:r>
            <a:r>
              <a:rPr lang="zh-TW" altLang="en-US" sz="44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人工智慧定義</a:t>
            </a:r>
            <a:endParaRPr lang="en-US" altLang="zh-TW" sz="4400" b="1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sz="4000" dirty="0">
                <a:latin typeface="標楷體" panose="03000509000000000000" pitchFamily="65" charset="-120"/>
                <a:ea typeface="標楷體" panose="03000509000000000000" pitchFamily="65" charset="-120"/>
              </a:rPr>
              <a:t>弱人工智慧（</a:t>
            </a:r>
            <a:r>
              <a:rPr lang="en-US" altLang="zh-TW" sz="4000" dirty="0">
                <a:latin typeface="標楷體" panose="03000509000000000000" pitchFamily="65" charset="-120"/>
                <a:ea typeface="標楷體" panose="03000509000000000000" pitchFamily="65" charset="-120"/>
              </a:rPr>
              <a:t>Weak </a:t>
            </a:r>
            <a:r>
              <a:rPr lang="en-US" altLang="zh-TW" sz="4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AI</a:t>
            </a:r>
            <a:r>
              <a:rPr lang="zh-TW" altLang="en-US" sz="4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）</a:t>
            </a:r>
            <a:endParaRPr lang="zh-TW" altLang="en-US" sz="4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sz="4000" dirty="0">
                <a:latin typeface="標楷體" panose="03000509000000000000" pitchFamily="65" charset="-120"/>
                <a:ea typeface="標楷體" panose="03000509000000000000" pitchFamily="65" charset="-120"/>
              </a:rPr>
              <a:t>強人工智慧（</a:t>
            </a:r>
            <a:r>
              <a:rPr lang="en-US" altLang="zh-TW" sz="4000" dirty="0">
                <a:latin typeface="標楷體" panose="03000509000000000000" pitchFamily="65" charset="-120"/>
                <a:ea typeface="標楷體" panose="03000509000000000000" pitchFamily="65" charset="-120"/>
              </a:rPr>
              <a:t>Strong </a:t>
            </a:r>
            <a:r>
              <a:rPr lang="en-US" altLang="zh-TW" sz="4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AI</a:t>
            </a:r>
            <a:r>
              <a:rPr lang="zh-TW" altLang="en-US" sz="4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）</a:t>
            </a:r>
            <a:endParaRPr lang="en-US" altLang="zh-TW" sz="40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4400" b="1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44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2.</a:t>
            </a:r>
            <a:r>
              <a:rPr lang="zh-TW" altLang="en-US" sz="44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人工智慧的發展</a:t>
            </a:r>
            <a:endParaRPr lang="en-US" altLang="zh-TW" sz="44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35887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title"/>
          </p:nvPr>
        </p:nvSpPr>
        <p:spPr>
          <a:xfrm>
            <a:off x="1981200" y="274639"/>
            <a:ext cx="8229600" cy="962025"/>
          </a:xfrm>
        </p:spPr>
        <p:txBody>
          <a:bodyPr/>
          <a:lstStyle/>
          <a:p>
            <a:pPr algn="ctr" eaLnBrk="1" hangingPunct="1"/>
            <a:r>
              <a:rPr lang="en-US" altLang="zh-TW" b="1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1.</a:t>
            </a:r>
            <a:r>
              <a:rPr lang="zh-TW" altLang="en-US" b="1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人工智慧定義</a:t>
            </a:r>
            <a:r>
              <a:rPr lang="en-US" altLang="zh-TW" b="1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(Definitions)</a:t>
            </a:r>
            <a:endParaRPr lang="zh-TW" altLang="zh-TW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099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1981200" y="1268414"/>
            <a:ext cx="8229600" cy="4752975"/>
          </a:xfrm>
        </p:spPr>
        <p:txBody>
          <a:bodyPr/>
          <a:lstStyle/>
          <a:p>
            <a:pPr eaLnBrk="1" hangingPunct="1"/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所謂人工智慧（</a:t>
            </a:r>
            <a:r>
              <a:rPr lang="en-US" altLang="zh-TW" sz="2400">
                <a:latin typeface="標楷體" panose="03000509000000000000" pitchFamily="65" charset="-120"/>
                <a:ea typeface="標楷體" panose="03000509000000000000" pitchFamily="65" charset="-120"/>
              </a:rPr>
              <a:t>Artificial Intelligence,AI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），是指以人工方式來實現人類所具有之智慧的技術。只不過，目前能實現與人類智能同等的技術還不存在，世界上絕大多數的人工智慧還是只能解決某個特定問題。</a:t>
            </a:r>
            <a:endParaRPr lang="en-US" altLang="zh-TW" sz="240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eaLnBrk="1" hangingPunct="1"/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人工智慧（</a:t>
            </a:r>
            <a:r>
              <a:rPr lang="en-US" altLang="zh-TW" sz="2400">
                <a:latin typeface="標楷體" panose="03000509000000000000" pitchFamily="65" charset="-120"/>
                <a:ea typeface="標楷體" panose="03000509000000000000" pitchFamily="65" charset="-120"/>
              </a:rPr>
              <a:t>AI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）是指透過電腦程式來呈現人類智慧的技術。</a:t>
            </a:r>
            <a:endParaRPr lang="en-US" altLang="zh-TW" sz="240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eaLnBrk="1" hangingPunct="1"/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人工智慧是計算機科學的一個分支。</a:t>
            </a:r>
            <a:endParaRPr lang="en-US" altLang="zh-TW" sz="240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「人工」即由人設計，為人創造、製造。</a:t>
            </a:r>
          </a:p>
          <a:p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關於什麼是「智慧」，較有爭議性。這涉及到其它諸如意識、自我、心靈，包括無意識的精神等等問題。</a:t>
            </a:r>
            <a:endParaRPr lang="en-US" altLang="zh-TW" sz="240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簡單而普遍的定義是：一部機器假如它表現的行為</a:t>
            </a:r>
            <a:r>
              <a:rPr lang="zh-TW" altLang="en-US" sz="240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與人類表現的同樣有智慧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，這種經由機器表現的智慧就叫做人工智慧。</a:t>
            </a:r>
          </a:p>
        </p:txBody>
      </p:sp>
      <p:sp>
        <p:nvSpPr>
          <p:cNvPr id="4100" name="矩形 1"/>
          <p:cNvSpPr>
            <a:spLocks noChangeArrowheads="1"/>
          </p:cNvSpPr>
          <p:nvPr/>
        </p:nvSpPr>
        <p:spPr bwMode="auto">
          <a:xfrm>
            <a:off x="2424114" y="6165851"/>
            <a:ext cx="7705725" cy="35877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180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Inference</a:t>
            </a:r>
            <a:r>
              <a:rPr lang="zh-TW" altLang="en-US" sz="1800">
                <a:latin typeface="標楷體" panose="03000509000000000000" pitchFamily="65" charset="-120"/>
                <a:ea typeface="標楷體" panose="03000509000000000000" pitchFamily="65" charset="-120"/>
              </a:rPr>
              <a:t>推論</a:t>
            </a:r>
            <a:r>
              <a:rPr lang="en-US" altLang="zh-TW" sz="180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en-US" altLang="zh-TW" sz="180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prediction</a:t>
            </a:r>
            <a:r>
              <a:rPr lang="zh-TW" altLang="en-US" sz="1800">
                <a:latin typeface="標楷體" panose="03000509000000000000" pitchFamily="65" charset="-120"/>
                <a:ea typeface="標楷體" panose="03000509000000000000" pitchFamily="65" charset="-120"/>
              </a:rPr>
              <a:t>預測</a:t>
            </a:r>
            <a:r>
              <a:rPr lang="en-US" altLang="zh-TW" sz="180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en-US" altLang="zh-TW" sz="180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self-learning</a:t>
            </a:r>
            <a:r>
              <a:rPr lang="zh-TW" altLang="en-US" sz="1800">
                <a:latin typeface="標楷體" panose="03000509000000000000" pitchFamily="65" charset="-120"/>
                <a:ea typeface="標楷體" panose="03000509000000000000" pitchFamily="65" charset="-120"/>
              </a:rPr>
              <a:t>自我學習</a:t>
            </a:r>
            <a:r>
              <a:rPr lang="en-US" altLang="zh-TW" sz="180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en-US" altLang="zh-TW" sz="180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Perception</a:t>
            </a:r>
            <a:r>
              <a:rPr lang="zh-TW" altLang="en-US" sz="1800">
                <a:latin typeface="標楷體" panose="03000509000000000000" pitchFamily="65" charset="-120"/>
                <a:ea typeface="標楷體" panose="03000509000000000000" pitchFamily="65" charset="-120"/>
              </a:rPr>
              <a:t>感知</a:t>
            </a:r>
          </a:p>
        </p:txBody>
      </p:sp>
    </p:spTree>
    <p:extLst>
      <p:ext uri="{BB962C8B-B14F-4D97-AF65-F5344CB8AC3E}">
        <p14:creationId xmlns:p14="http://schemas.microsoft.com/office/powerpoint/2010/main" val="3038633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弱人工智慧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強人工智慧</a:t>
            </a:r>
          </a:p>
        </p:txBody>
      </p:sp>
      <p:sp>
        <p:nvSpPr>
          <p:cNvPr id="7171" name="內容版面配置區 2"/>
          <p:cNvSpPr>
            <a:spLocks noGrp="1"/>
          </p:cNvSpPr>
          <p:nvPr>
            <p:ph idx="1"/>
          </p:nvPr>
        </p:nvSpPr>
        <p:spPr>
          <a:xfrm>
            <a:off x="1793966" y="1341438"/>
            <a:ext cx="8416834" cy="4963568"/>
          </a:xfrm>
        </p:spPr>
        <p:txBody>
          <a:bodyPr>
            <a:normAutofit/>
          </a:bodyPr>
          <a:lstStyle/>
          <a:p>
            <a:r>
              <a:rPr lang="zh-TW" altLang="en-US" sz="2000" b="1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弱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人工智慧（</a:t>
            </a:r>
            <a:r>
              <a:rPr lang="en-US" altLang="zh-TW" sz="2000" b="1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Weak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 Artificial Intelligence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）：透過電腦與軟體模擬</a:t>
            </a:r>
            <a:r>
              <a:rPr lang="zh-TW" altLang="en-US" sz="20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「部分」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的人類智慧與行為，像是只會下圍棋、只會自動導航、只會醫療影像判斷、只會掃地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......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等</a:t>
            </a:r>
            <a:r>
              <a:rPr lang="zh-TW" altLang="en-US" sz="20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「特定功能」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的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AI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，它們通常被應用在解決特定領域問題，因此也有人稱之為 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Narrow AI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Applied AI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，也是目前最常見的人工智慧。</a:t>
            </a:r>
          </a:p>
          <a:p>
            <a:r>
              <a:rPr lang="zh-TW" altLang="en-US" sz="2000" b="1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強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人工智慧（</a:t>
            </a:r>
            <a:r>
              <a:rPr lang="en-US" altLang="zh-TW" sz="2000" b="1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Strong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 Artificial Intelligence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）：期望電腦能執行所有人類的工作，除了具有認知能力之外，還能夠</a:t>
            </a:r>
            <a:r>
              <a:rPr lang="zh-TW" altLang="en-US" sz="20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「推理」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en-US" sz="20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「自學」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en-US" sz="20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「溝通」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甚至擁有自我意識，並綜合這些能力來面對未知的情境，可以因應不同狀況調整自身能力來實踐特定目標。因為擁有非常廣泛的能力，面對各種情境都通用，因此也有人稱之為 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Full AI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AGI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（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Artificial </a:t>
            </a:r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General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 Intelligence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），這目前大概只有在電影裡看的到。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註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推理</a:t>
            </a:r>
            <a:r>
              <a:rPr lang="en-US" altLang="zh-TW" sz="20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inference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自我學習</a:t>
            </a:r>
            <a:r>
              <a:rPr lang="en-US" altLang="zh-TW" sz="20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self-learning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預測</a:t>
            </a:r>
            <a:r>
              <a:rPr lang="en-US" altLang="zh-TW" sz="20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prediction</a:t>
            </a:r>
            <a:endParaRPr lang="zh-TW" altLang="en-US" sz="2000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2000" b="1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超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人工智慧（</a:t>
            </a:r>
            <a:r>
              <a:rPr lang="en-US" altLang="zh-TW" sz="2000" b="1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Super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 Artificial Intelligence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）：定義為「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AI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在任何領域都超越人類大腦，包括科學、創新、通識與社交等技能」，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AI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可以自己創造出比自己更聰明、更強大的東西，創造出一個我們人類完全無法理解的世界。（這大概還非常遙遠吧）</a:t>
            </a:r>
          </a:p>
        </p:txBody>
      </p:sp>
    </p:spTree>
    <p:extLst>
      <p:ext uri="{BB962C8B-B14F-4D97-AF65-F5344CB8AC3E}">
        <p14:creationId xmlns:p14="http://schemas.microsoft.com/office/powerpoint/2010/main" val="3217429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圖</a:t>
            </a:r>
            <a:r>
              <a:rPr lang="zh-TW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靈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測試 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(Turing Test)</a:t>
            </a:r>
            <a:endParaRPr lang="zh-TW" altLang="en-US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123" name="內容版面配置區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4924425"/>
          </a:xfrm>
        </p:spPr>
        <p:txBody>
          <a:bodyPr/>
          <a:lstStyle/>
          <a:p>
            <a:r>
              <a:rPr lang="en-US" altLang="zh-TW" sz="2200">
                <a:latin typeface="標楷體" panose="03000509000000000000" pitchFamily="65" charset="-120"/>
                <a:ea typeface="標楷體" panose="03000509000000000000" pitchFamily="65" charset="-120"/>
              </a:rPr>
              <a:t>1951 </a:t>
            </a:r>
            <a:r>
              <a:rPr lang="zh-TW" altLang="en-US" sz="2200">
                <a:latin typeface="標楷體" panose="03000509000000000000" pitchFamily="65" charset="-120"/>
                <a:ea typeface="標楷體" panose="03000509000000000000" pitchFamily="65" charset="-120"/>
              </a:rPr>
              <a:t>年圖林</a:t>
            </a:r>
            <a:r>
              <a:rPr lang="en-US" altLang="zh-TW" sz="2200">
                <a:latin typeface="標楷體" panose="03000509000000000000" pitchFamily="65" charset="-120"/>
                <a:ea typeface="標楷體" panose="03000509000000000000" pitchFamily="65" charset="-120"/>
              </a:rPr>
              <a:t>(Alan Turing)</a:t>
            </a:r>
            <a:r>
              <a:rPr lang="zh-TW" altLang="en-US" sz="2200">
                <a:latin typeface="標楷體" panose="03000509000000000000" pitchFamily="65" charset="-120"/>
                <a:ea typeface="標楷體" panose="03000509000000000000" pitchFamily="65" charset="-120"/>
              </a:rPr>
              <a:t>提出有名的「圖林測試」</a:t>
            </a:r>
            <a:r>
              <a:rPr lang="zh-TW" altLang="en-US" sz="220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來測試一部機器是否具智慧</a:t>
            </a:r>
            <a:r>
              <a:rPr lang="zh-TW" altLang="en-US" sz="2200">
                <a:latin typeface="標楷體" panose="03000509000000000000" pitchFamily="65" charset="-120"/>
                <a:ea typeface="標楷體" panose="03000509000000000000" pitchFamily="65" charset="-120"/>
              </a:rPr>
              <a:t>，也是判斷機器是否具有智慧最為人熟知的方法。圖林測試的方法有許多的版本，基本上其原理與方法是：假設有三個房間，有一個房間裡面坐著一個人，另一個房間有一部具有「人工智慧」的機器，而你坐在第三個房間，假設你能透過鍵盤、螢幕或甚至聲音與其他兩個房間溝通。</a:t>
            </a:r>
            <a:endParaRPr lang="en-US" altLang="zh-TW" sz="220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220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2200">
                <a:latin typeface="標楷體" panose="03000509000000000000" pitchFamily="65" charset="-120"/>
                <a:ea typeface="標楷體" panose="03000509000000000000" pitchFamily="65" charset="-120"/>
              </a:rPr>
              <a:t>你能隨意決定談話的時間、談話的內容並提出各種問題。但是記住另外一個房間的「人」會想盡辦法，讓你誤認他是一部「機器」；相反的來自另一個房間的「機器」想盡辦法，要你相信他是一個「人」，在經過適當的溝通與對話後，你必須決定剛剛談話的對象，那一個房間是人，那一個房間是機器。</a:t>
            </a:r>
            <a:r>
              <a:rPr lang="zh-TW" altLang="en-US" sz="220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假如你無法辨認或誤判「機器」是人，則這部機器通過圖林測試而具有智慧</a:t>
            </a:r>
            <a:r>
              <a:rPr lang="zh-TW" altLang="en-US" sz="22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sp>
        <p:nvSpPr>
          <p:cNvPr id="5124" name="文字方塊 3"/>
          <p:cNvSpPr txBox="1">
            <a:spLocks noChangeArrowheads="1"/>
          </p:cNvSpPr>
          <p:nvPr/>
        </p:nvSpPr>
        <p:spPr bwMode="auto">
          <a:xfrm>
            <a:off x="4008438" y="6221414"/>
            <a:ext cx="5040312" cy="3381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TW" altLang="en-US" sz="1600">
                <a:latin typeface="標楷體" panose="03000509000000000000" pitchFamily="65" charset="-120"/>
                <a:ea typeface="標楷體" panose="03000509000000000000" pitchFamily="65" charset="-120"/>
              </a:rPr>
              <a:t>參考</a:t>
            </a:r>
            <a:r>
              <a:rPr lang="en-US" altLang="zh-TW" sz="1600">
                <a:latin typeface="標楷體" panose="03000509000000000000" pitchFamily="65" charset="-120"/>
                <a:ea typeface="標楷體" panose="03000509000000000000" pitchFamily="65" charset="-120"/>
              </a:rPr>
              <a:t>: </a:t>
            </a:r>
            <a:r>
              <a:rPr lang="en-US" altLang="zh-TW" sz="1600">
                <a:latin typeface="標楷體" panose="03000509000000000000" pitchFamily="65" charset="-120"/>
                <a:ea typeface="標楷體" panose="03000509000000000000" pitchFamily="65" charset="-120"/>
                <a:hlinkClick r:id="rId2"/>
              </a:rPr>
              <a:t>https://reurl.cc/aGq1x9</a:t>
            </a:r>
            <a:endParaRPr lang="en-US" altLang="zh-TW" sz="160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7576" y="2349500"/>
            <a:ext cx="2239963" cy="2871788"/>
          </a:xfrm>
          <a:prstGeom prst="rect">
            <a:avLst/>
          </a:prstGeom>
          <a:noFill/>
          <a:ln w="508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949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標題 1"/>
          <p:cNvSpPr>
            <a:spLocks noGrp="1"/>
          </p:cNvSpPr>
          <p:nvPr>
            <p:ph type="title"/>
          </p:nvPr>
        </p:nvSpPr>
        <p:spPr>
          <a:xfrm>
            <a:off x="1957388" y="333375"/>
            <a:ext cx="82296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「圖靈測試」已過時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?</a:t>
            </a:r>
            <a:b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AI 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應追求新的衡量標準</a:t>
            </a:r>
          </a:p>
        </p:txBody>
      </p:sp>
      <p:sp>
        <p:nvSpPr>
          <p:cNvPr id="6147" name="內容版面配置區 2"/>
          <p:cNvSpPr>
            <a:spLocks noGrp="1"/>
          </p:cNvSpPr>
          <p:nvPr>
            <p:ph idx="1"/>
          </p:nvPr>
        </p:nvSpPr>
        <p:spPr>
          <a:xfrm>
            <a:off x="1981200" y="2027238"/>
            <a:ext cx="8229600" cy="3994150"/>
          </a:xfrm>
        </p:spPr>
        <p:txBody>
          <a:bodyPr/>
          <a:lstStyle/>
          <a:p>
            <a:r>
              <a:rPr lang="zh-TW" altLang="en-US" sz="2200" dirty="0">
                <a:latin typeface="標楷體" panose="03000509000000000000" pitchFamily="65" charset="-120"/>
                <a:ea typeface="標楷體" panose="03000509000000000000" pitchFamily="65" charset="-120"/>
              </a:rPr>
              <a:t>一個最經典的例子就是以 </a:t>
            </a:r>
            <a:r>
              <a:rPr lang="en-US" altLang="zh-TW" sz="22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AlphaGo</a:t>
            </a:r>
            <a:r>
              <a:rPr lang="en-US" altLang="zh-TW" sz="22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sz="2200" dirty="0">
                <a:latin typeface="標楷體" panose="03000509000000000000" pitchFamily="65" charset="-120"/>
                <a:ea typeface="標楷體" panose="03000509000000000000" pitchFamily="65" charset="-120"/>
              </a:rPr>
              <a:t>為代表的，足以在各種高難度博弈項目上擊敗最頂級人類選手的 </a:t>
            </a:r>
            <a:r>
              <a:rPr lang="en-US" altLang="zh-TW" sz="2200" dirty="0">
                <a:latin typeface="標楷體" panose="03000509000000000000" pitchFamily="65" charset="-120"/>
                <a:ea typeface="標楷體" panose="03000509000000000000" pitchFamily="65" charset="-120"/>
              </a:rPr>
              <a:t>AI</a:t>
            </a:r>
            <a:r>
              <a:rPr lang="zh-TW" altLang="en-US" sz="2200" dirty="0">
                <a:latin typeface="標楷體" panose="03000509000000000000" pitchFamily="65" charset="-120"/>
                <a:ea typeface="標楷體" panose="03000509000000000000" pitchFamily="65" charset="-120"/>
              </a:rPr>
              <a:t>。這些重大進展，</a:t>
            </a:r>
            <a:r>
              <a:rPr lang="zh-TW" altLang="en-US" sz="22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很難在一成不變的圖靈測試當中得到體現</a:t>
            </a:r>
            <a:r>
              <a:rPr lang="zh-TW" altLang="en-US" sz="2200" dirty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  <a:p>
            <a:endParaRPr lang="zh-TW" altLang="en-US" sz="2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22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「機器能否思考」</a:t>
            </a:r>
            <a:r>
              <a:rPr lang="zh-TW" altLang="en-US" sz="2200" dirty="0">
                <a:latin typeface="標楷體" panose="03000509000000000000" pitchFamily="65" charset="-120"/>
                <a:ea typeface="標楷體" panose="03000509000000000000" pitchFamily="65" charset="-120"/>
              </a:rPr>
              <a:t>這個問題，也橫跨了一整個世紀，指導了後世的電腦和人工智慧技術革新。</a:t>
            </a:r>
          </a:p>
          <a:p>
            <a:endParaRPr lang="zh-TW" altLang="en-US" sz="2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220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圖靈測試無法體現 </a:t>
            </a:r>
            <a:r>
              <a:rPr lang="en-US" altLang="zh-TW" sz="220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AI </a:t>
            </a:r>
            <a:r>
              <a:rPr lang="zh-TW" altLang="en-US" sz="220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進步</a:t>
            </a:r>
            <a:r>
              <a:rPr lang="en-US" altLang="zh-TW" sz="220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?</a:t>
            </a:r>
            <a:endParaRPr lang="zh-TW" altLang="en-US" sz="2200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148" name="文字方塊 3"/>
          <p:cNvSpPr txBox="1">
            <a:spLocks noChangeArrowheads="1"/>
          </p:cNvSpPr>
          <p:nvPr/>
        </p:nvSpPr>
        <p:spPr bwMode="auto">
          <a:xfrm>
            <a:off x="4151313" y="6021389"/>
            <a:ext cx="4176712" cy="3381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參考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: 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  <a:hlinkClick r:id="rId2"/>
              </a:rPr>
              <a:t>https://reurl.cc/D3jmOE - </a:t>
            </a:r>
            <a:endParaRPr lang="en-US" altLang="zh-TW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82940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 smtClean="0">
                <a:solidFill>
                  <a:srgbClr val="00B05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誕生期</a:t>
            </a:r>
            <a:endParaRPr lang="zh-TW" altLang="en-US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lnSpc>
                <a:spcPct val="150000"/>
              </a:lnSpc>
              <a:buNone/>
              <a:defRPr/>
            </a:pPr>
            <a:r>
              <a:rPr kumimoji="1" lang="zh-TW" altLang="en-US" sz="2400" dirty="0">
                <a:latin typeface="Times New Roman" pitchFamily="18" charset="0"/>
                <a:ea typeface="標楷體" pitchFamily="65" charset="-120"/>
              </a:rPr>
              <a:t>艾倫．圖靈提出一個稱為「圖靈測試」</a:t>
            </a:r>
            <a:r>
              <a:rPr kumimoji="1" lang="en-US" altLang="zh-TW" sz="2400" dirty="0">
                <a:latin typeface="Times New Roman" pitchFamily="18" charset="0"/>
                <a:ea typeface="標楷體" pitchFamily="65" charset="-120"/>
              </a:rPr>
              <a:t>(Turing Test) </a:t>
            </a:r>
            <a:r>
              <a:rPr kumimoji="1" lang="zh-TW" altLang="en-US" sz="2400" dirty="0">
                <a:latin typeface="Times New Roman" pitchFamily="18" charset="0"/>
                <a:ea typeface="標楷體" pitchFamily="65" charset="-120"/>
              </a:rPr>
              <a:t>的試驗方法。</a:t>
            </a:r>
          </a:p>
          <a:p>
            <a:pPr marL="0" indent="0">
              <a:lnSpc>
                <a:spcPct val="150000"/>
              </a:lnSpc>
              <a:buNone/>
              <a:defRPr/>
            </a:pPr>
            <a:endParaRPr kumimoji="1" lang="en-US" altLang="zh-TW" sz="2400" dirty="0">
              <a:latin typeface="Times New Roman" pitchFamily="18" charset="0"/>
              <a:ea typeface="標楷體" pitchFamily="65" charset="-120"/>
            </a:endParaRPr>
          </a:p>
          <a:p>
            <a:pPr>
              <a:defRPr/>
            </a:pPr>
            <a:endParaRPr kumimoji="1" lang="zh-TW" altLang="en-US" sz="2400" dirty="0">
              <a:latin typeface="Times New Roman" pitchFamily="18" charset="0"/>
              <a:ea typeface="標楷體" pitchFamily="65" charset="-120"/>
            </a:endParaRPr>
          </a:p>
        </p:txBody>
      </p:sp>
      <p:pic>
        <p:nvPicPr>
          <p:cNvPr id="922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852738"/>
            <a:ext cx="3098800" cy="320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221" name="群組 4"/>
          <p:cNvGrpSpPr>
            <a:grpSpLocks/>
          </p:cNvGrpSpPr>
          <p:nvPr/>
        </p:nvGrpSpPr>
        <p:grpSpPr bwMode="auto">
          <a:xfrm>
            <a:off x="6069013" y="3829051"/>
            <a:ext cx="3740150" cy="1254125"/>
            <a:chOff x="4632365" y="1069993"/>
            <a:chExt cx="3741613" cy="1254498"/>
          </a:xfrm>
        </p:grpSpPr>
        <p:pic>
          <p:nvPicPr>
            <p:cNvPr id="9222" name="Picture 3">
              <a:hlinkClick r:id="rId3"/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32365" y="1069993"/>
              <a:ext cx="3741613" cy="12544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9223" name="Picture 2" descr="C:\Users\chwa\Desktop\video.png">
              <a:hlinkClick r:id="rId3"/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12532" y="1680750"/>
              <a:ext cx="504000" cy="504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009113309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2.</a:t>
            </a:r>
            <a:r>
              <a:rPr lang="zh-TW" altLang="en-US" b="1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人工智慧的發展</a:t>
            </a:r>
          </a:p>
        </p:txBody>
      </p:sp>
      <p:sp>
        <p:nvSpPr>
          <p:cNvPr id="8195" name="內容版面配置區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indent="0">
              <a:lnSpc>
                <a:spcPct val="150000"/>
              </a:lnSpc>
              <a:buNone/>
            </a:pPr>
            <a:r>
              <a:rPr kumimoji="1" lang="en-US" altLang="zh-TW">
                <a:latin typeface="Times New Roman" panose="02020603050405020304" pitchFamily="18" charset="0"/>
                <a:ea typeface="標楷體" panose="03000509000000000000" pitchFamily="65" charset="-120"/>
              </a:rPr>
              <a:t>	</a:t>
            </a:r>
            <a:r>
              <a:rPr kumimoji="1" lang="zh-TW" altLang="en-US">
                <a:latin typeface="Times New Roman" panose="02020603050405020304" pitchFamily="18" charset="0"/>
                <a:ea typeface="標楷體" panose="03000509000000000000" pitchFamily="65" charset="-120"/>
              </a:rPr>
              <a:t>人工智慧發展歷程大概分為誕生期、成長期、重生期、進化期四個</a:t>
            </a:r>
            <a:r>
              <a:rPr lang="zh-TW" altLang="en-US">
                <a:ea typeface="新細明體" panose="02020500000000000000" pitchFamily="18" charset="-120"/>
              </a:rPr>
              <a:t>階段。</a:t>
            </a:r>
          </a:p>
          <a:p>
            <a:pPr lvl="1" indent="0">
              <a:buNone/>
            </a:pPr>
            <a:endParaRPr kumimoji="1" lang="zh-TW" altLang="en-US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819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2838" y="2627313"/>
            <a:ext cx="7529512" cy="3681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7" name="文字方塊 4"/>
          <p:cNvSpPr txBox="1">
            <a:spLocks noChangeArrowheads="1"/>
          </p:cNvSpPr>
          <p:nvPr/>
        </p:nvSpPr>
        <p:spPr bwMode="auto">
          <a:xfrm>
            <a:off x="3503613" y="6289675"/>
            <a:ext cx="4456112" cy="3381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TW" altLang="en-US" sz="1600">
                <a:latin typeface="標楷體" panose="03000509000000000000" pitchFamily="65" charset="-120"/>
                <a:ea typeface="標楷體" panose="03000509000000000000" pitchFamily="65" charset="-120"/>
              </a:rPr>
              <a:t>參考</a:t>
            </a:r>
            <a:r>
              <a:rPr lang="en-US" altLang="zh-TW" sz="1600">
                <a:latin typeface="標楷體" panose="03000509000000000000" pitchFamily="65" charset="-120"/>
                <a:ea typeface="標楷體" panose="03000509000000000000" pitchFamily="65" charset="-120"/>
              </a:rPr>
              <a:t>: </a:t>
            </a:r>
            <a:r>
              <a:rPr lang="zh-TW" altLang="en-US" sz="1600">
                <a:latin typeface="標楷體" panose="03000509000000000000" pitchFamily="65" charset="-120"/>
                <a:ea typeface="標楷體" panose="03000509000000000000" pitchFamily="65" charset="-120"/>
              </a:rPr>
              <a:t>全華人工智慧</a:t>
            </a:r>
            <a:r>
              <a:rPr lang="en-US" altLang="zh-TW" sz="1600">
                <a:latin typeface="標楷體" panose="03000509000000000000" pitchFamily="65" charset="-120"/>
                <a:ea typeface="標楷體" panose="03000509000000000000" pitchFamily="65" charset="-120"/>
              </a:rPr>
              <a:t>06417-01(</a:t>
            </a:r>
            <a:r>
              <a:rPr lang="zh-TW" altLang="en-US" sz="1600">
                <a:latin typeface="標楷體" panose="03000509000000000000" pitchFamily="65" charset="-120"/>
                <a:ea typeface="標楷體" panose="03000509000000000000" pitchFamily="65" charset="-120"/>
              </a:rPr>
              <a:t>張志勇等</a:t>
            </a:r>
            <a:r>
              <a:rPr lang="en-US" altLang="zh-TW" sz="1600">
                <a:latin typeface="標楷體" panose="03000509000000000000" pitchFamily="65" charset="-120"/>
                <a:ea typeface="標楷體" panose="03000509000000000000" pitchFamily="65" charset="-120"/>
              </a:rPr>
              <a:t>5</a:t>
            </a:r>
            <a:r>
              <a:rPr lang="zh-TW" altLang="en-US" sz="1600">
                <a:latin typeface="標楷體" panose="03000509000000000000" pitchFamily="65" charset="-120"/>
                <a:ea typeface="標楷體" panose="03000509000000000000" pitchFamily="65" charset="-120"/>
              </a:rPr>
              <a:t>人著</a:t>
            </a:r>
            <a:r>
              <a:rPr lang="en-US" altLang="zh-TW" sz="160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3000375" y="4724400"/>
            <a:ext cx="863600" cy="433388"/>
          </a:xfrm>
          <a:prstGeom prst="rect">
            <a:avLst/>
          </a:prstGeom>
          <a:noFill/>
          <a:ln w="317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4295775" y="4724400"/>
            <a:ext cx="863600" cy="433388"/>
          </a:xfrm>
          <a:prstGeom prst="rect">
            <a:avLst/>
          </a:prstGeom>
          <a:noFill/>
          <a:ln w="317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7248525" y="4724401"/>
            <a:ext cx="863600" cy="576263"/>
          </a:xfrm>
          <a:prstGeom prst="rect">
            <a:avLst/>
          </a:prstGeom>
          <a:noFill/>
          <a:ln w="317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8616950" y="4724401"/>
            <a:ext cx="863600" cy="576263"/>
          </a:xfrm>
          <a:prstGeom prst="rect">
            <a:avLst/>
          </a:prstGeom>
          <a:noFill/>
          <a:ln w="317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37500064"/>
      </p:ext>
    </p:extLst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  <p:bldP spid="8" grpId="0" animBg="1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en-US" altLang="zh-TW" dirty="0" smtClean="0">
                <a:solidFill>
                  <a:srgbClr val="92D05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1956 </a:t>
            </a:r>
            <a:r>
              <a:rPr kumimoji="1" lang="zh-TW" altLang="en-US" dirty="0" smtClean="0">
                <a:solidFill>
                  <a:srgbClr val="92D05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正式</a:t>
            </a:r>
            <a:r>
              <a:rPr kumimoji="1" lang="zh-TW" altLang="en-US" dirty="0" smtClean="0">
                <a:solidFill>
                  <a:srgbClr val="92D05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定義為一個新學科</a:t>
            </a:r>
            <a:endParaRPr lang="zh-TW" altLang="en-US" dirty="0" smtClean="0">
              <a:solidFill>
                <a:srgbClr val="92D050"/>
              </a:solidFill>
              <a:ea typeface="新細明體" panose="02020500000000000000" pitchFamily="18" charset="-120"/>
            </a:endParaRPr>
          </a:p>
        </p:txBody>
      </p:sp>
      <p:sp>
        <p:nvSpPr>
          <p:cNvPr id="10243" name="內容版面配置區 2"/>
          <p:cNvSpPr>
            <a:spLocks noGrp="1"/>
          </p:cNvSpPr>
          <p:nvPr>
            <p:ph idx="1"/>
          </p:nvPr>
        </p:nvSpPr>
        <p:spPr>
          <a:xfrm>
            <a:off x="1703389" y="1608138"/>
            <a:ext cx="8264525" cy="4773612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TW" sz="2400">
                <a:latin typeface="Times New Roman" panose="02020603050405020304" pitchFamily="18" charset="0"/>
                <a:ea typeface="標楷體" panose="03000509000000000000" pitchFamily="65" charset="-120"/>
              </a:rPr>
              <a:t>       </a:t>
            </a:r>
            <a:r>
              <a:rPr kumimoji="1" lang="zh-TW" altLang="en-US" sz="2400">
                <a:latin typeface="Times New Roman" panose="02020603050405020304" pitchFamily="18" charset="0"/>
                <a:ea typeface="標楷體" panose="03000509000000000000" pitchFamily="65" charset="-120"/>
              </a:rPr>
              <a:t>達特茅斯會議正式將「人工智慧」定義為</a:t>
            </a:r>
            <a:r>
              <a:rPr kumimoji="1" lang="zh-TW" altLang="en-US" sz="240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一個新學科</a:t>
            </a:r>
            <a:r>
              <a:rPr kumimoji="1" lang="zh-TW" altLang="en-US" sz="2400">
                <a:latin typeface="Times New Roman" panose="02020603050405020304" pitchFamily="18" charset="0"/>
                <a:ea typeface="標楷體" panose="03000509000000000000" pitchFamily="65" charset="-120"/>
              </a:rPr>
              <a:t>。</a:t>
            </a:r>
          </a:p>
          <a:p>
            <a:pPr marL="0" indent="0"/>
            <a:endParaRPr lang="zh-TW" altLang="en-US" smtClean="0">
              <a:ea typeface="新細明體" panose="02020500000000000000" pitchFamily="18" charset="-120"/>
            </a:endParaRPr>
          </a:p>
        </p:txBody>
      </p:sp>
      <p:pic>
        <p:nvPicPr>
          <p:cNvPr id="1024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0976" y="2743200"/>
            <a:ext cx="5407025" cy="361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5" name="Picture 2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40" b="15852"/>
          <a:stretch>
            <a:fillRect/>
          </a:stretch>
        </p:blipFill>
        <p:spPr bwMode="auto">
          <a:xfrm>
            <a:off x="1692275" y="2306639"/>
            <a:ext cx="3689350" cy="3627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0311068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Milestones in the Development of Artificial Intelligence</a:t>
            </a:r>
            <a:endParaRPr lang="zh-TW" altLang="en-US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b="1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早期里程碑</a:t>
            </a:r>
          </a:p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1950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年：圖靈測試提出，奠定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AI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理論基礎</a:t>
            </a:r>
          </a:p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1956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年：達特茅斯會議，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AI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作為學科誕生</a:t>
            </a:r>
          </a:p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1966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年：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ELIZA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聊天程式，展現自然語言處理雛形</a:t>
            </a:r>
          </a:p>
          <a:p>
            <a:r>
              <a:rPr lang="zh-TW" altLang="en-US" b="1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發展階段</a:t>
            </a:r>
          </a:p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1980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年代：專家系統應用於醫療、工程</a:t>
            </a:r>
          </a:p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1997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年：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IBM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深藍擊敗西洋棋世界冠軍卡斯帕羅夫</a:t>
            </a:r>
          </a:p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2000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年代：機器學習快速發展，影像與語音辨識進步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646986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TW" altLang="en-US" b="1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深度學習與突破</a:t>
            </a:r>
          </a:p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2012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年：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ImageNet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比賽中深度神經網絡大幅超越傳統方法</a:t>
            </a:r>
          </a:p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2016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年：</a:t>
            </a:r>
            <a:r>
              <a:rPr lang="en-US" altLang="zh-TW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AlphaGo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以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4:1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擊敗李世乭，震撼世界</a:t>
            </a:r>
          </a:p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2017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年：</a:t>
            </a:r>
            <a:r>
              <a:rPr lang="en-US" altLang="zh-TW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AlphaGo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 Master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以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3:0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擊敗柯潔</a:t>
            </a:r>
          </a:p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2022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年：</a:t>
            </a:r>
            <a:r>
              <a:rPr lang="en-US" altLang="zh-TW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ChatGPT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問世，推動生成式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AI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普及</a:t>
            </a:r>
          </a:p>
          <a:p>
            <a:r>
              <a:rPr lang="zh-TW" altLang="en-US" b="1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未來展望</a:t>
            </a:r>
          </a:p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AI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將持續推動自動化與智慧化應用</a:t>
            </a: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倫理與法規將成為重要議題</a:t>
            </a: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人工智慧將深刻影響社會、經濟與教育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605009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 smtClean="0">
                <a:solidFill>
                  <a:srgbClr val="00B05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重生期 </a:t>
            </a:r>
            <a:endParaRPr lang="zh-TW" altLang="en-US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1267" name="內容版面配置區 2"/>
          <p:cNvSpPr>
            <a:spLocks noGrp="1"/>
          </p:cNvSpPr>
          <p:nvPr>
            <p:ph idx="1"/>
          </p:nvPr>
        </p:nvSpPr>
        <p:spPr>
          <a:xfrm>
            <a:off x="1703389" y="1341438"/>
            <a:ext cx="8275637" cy="5040312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	1997</a:t>
            </a:r>
            <a:r>
              <a:rPr kumimoji="1"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年</a:t>
            </a:r>
            <a:r>
              <a:rPr kumimoji="1"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IBM</a:t>
            </a:r>
            <a:r>
              <a:rPr kumimoji="1"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發展一個超級電腦</a:t>
            </a:r>
            <a:r>
              <a:rPr kumimoji="1" lang="zh-TW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「深藍」</a:t>
            </a:r>
            <a:r>
              <a:rPr kumimoji="1" lang="en-US" altLang="zh-TW" sz="24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(Deep Blue)</a:t>
            </a:r>
            <a:r>
              <a:rPr kumimoji="1"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，打敗當時世界</a:t>
            </a:r>
            <a:r>
              <a:rPr kumimoji="1" lang="zh-TW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西洋棋</a:t>
            </a:r>
            <a:r>
              <a:rPr kumimoji="1"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棋王加里．卡斯帕洛夫</a:t>
            </a:r>
            <a:r>
              <a:rPr kumimoji="1"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(Garry Kasparov)</a:t>
            </a:r>
            <a:r>
              <a:rPr kumimoji="1"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。</a:t>
            </a:r>
          </a:p>
        </p:txBody>
      </p:sp>
      <p:pic>
        <p:nvPicPr>
          <p:cNvPr id="1126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2350" y="2538414"/>
            <a:ext cx="7323138" cy="3843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41547873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標題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72086"/>
          </a:xfrm>
        </p:spPr>
        <p:txBody>
          <a:bodyPr/>
          <a:lstStyle/>
          <a:p>
            <a:pPr algn="ctr"/>
            <a:r>
              <a:rPr kumimoji="1" lang="en-US" altLang="zh-TW" dirty="0" err="1" smtClean="0">
                <a:solidFill>
                  <a:srgbClr val="92D05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AlphaGo</a:t>
            </a:r>
            <a:endParaRPr lang="zh-TW" altLang="en-US" dirty="0" smtClean="0">
              <a:solidFill>
                <a:srgbClr val="92D050"/>
              </a:solidFill>
              <a:ea typeface="新細明體" panose="02020500000000000000" pitchFamily="18" charset="-120"/>
            </a:endParaRPr>
          </a:p>
        </p:txBody>
      </p:sp>
      <p:sp>
        <p:nvSpPr>
          <p:cNvPr id="12291" name="內容版面配置區 2"/>
          <p:cNvSpPr>
            <a:spLocks noGrp="1"/>
          </p:cNvSpPr>
          <p:nvPr>
            <p:ph idx="1"/>
          </p:nvPr>
        </p:nvSpPr>
        <p:spPr>
          <a:xfrm>
            <a:off x="690154" y="1561318"/>
            <a:ext cx="10515600" cy="4351338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2016 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年，</a:t>
            </a:r>
            <a:r>
              <a:rPr lang="en-US" altLang="zh-TW" sz="24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AlphaGo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首次震撼世界，以 </a:t>
            </a:r>
            <a:r>
              <a:rPr lang="en-US" altLang="zh-TW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4:1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 擊敗李世乭。翌年，進化版 </a:t>
            </a:r>
            <a:r>
              <a:rPr lang="en-US" altLang="zh-TW" sz="2400" b="1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AlphaGo</a:t>
            </a:r>
            <a:r>
              <a:rPr lang="en-US" altLang="zh-TW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 Master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 更以 </a:t>
            </a:r>
            <a:r>
              <a:rPr lang="en-US" altLang="zh-TW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3:0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 橫掃世界棋王柯潔，展現人工智慧的飛躍進展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  <a:endParaRPr lang="en-US" altLang="zh-TW" sz="24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sz="1600" dirty="0" err="1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AlphaGo</a:t>
            </a:r>
            <a:r>
              <a:rPr lang="zh-TW" altLang="en-US" sz="160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使用</a:t>
            </a:r>
            <a:r>
              <a:rPr lang="en-US" altLang="zh-TW" sz="160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Google</a:t>
            </a:r>
            <a:r>
              <a:rPr lang="zh-TW" altLang="en-US" sz="160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位於美國的</a:t>
            </a:r>
            <a:r>
              <a:rPr lang="zh-TW" altLang="en-US" sz="160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  <a:hlinkClick r:id="rId2" tooltip="雲端運算"/>
              </a:rPr>
              <a:t>雲端運算</a:t>
            </a:r>
            <a:r>
              <a:rPr lang="zh-TW" altLang="en-US" sz="160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伺服器，並通過光纜網路連接到韓國，比賽的地點為</a:t>
            </a:r>
            <a:r>
              <a:rPr lang="zh-TW" altLang="en-US" sz="160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  <a:hlinkClick r:id="rId3" tooltip="韓國"/>
              </a:rPr>
              <a:t>韓國</a:t>
            </a:r>
            <a:r>
              <a:rPr lang="zh-TW" altLang="en-US" sz="160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  <a:hlinkClick r:id="rId4" tooltip="首爾"/>
              </a:rPr>
              <a:t>首爾</a:t>
            </a:r>
            <a:r>
              <a:rPr lang="zh-TW" altLang="en-US" sz="16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  <a:hlinkClick r:id="rId5"/>
              </a:rPr>
              <a:t>四季</a:t>
            </a:r>
            <a:r>
              <a:rPr lang="zh-TW" altLang="en-US" sz="160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  <a:hlinkClick r:id="rId5"/>
              </a:rPr>
              <a:t>酒店</a:t>
            </a:r>
            <a:r>
              <a:rPr lang="zh-TW" altLang="en-US" sz="160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  <a:endParaRPr lang="en-US" altLang="zh-TW" sz="1600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kumimoji="1"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</a:rPr>
              <a:t>AlphaGo</a:t>
            </a:r>
            <a:r>
              <a:rPr kumimoji="1"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kumimoji="1"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Zero</a:t>
            </a:r>
            <a:r>
              <a:rPr kumimoji="1"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不參考棋譜，僅透過與自己對奕的</a:t>
            </a:r>
            <a:r>
              <a:rPr kumimoji="1" lang="zh-TW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強化</a:t>
            </a:r>
            <a:r>
              <a:rPr kumimoji="1"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學習 </a:t>
            </a:r>
            <a:r>
              <a:rPr kumimoji="1"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(Reinforcement Learning) </a:t>
            </a:r>
            <a:r>
              <a:rPr kumimoji="1"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方式進行自我訓練，其成效非常驚人。</a:t>
            </a:r>
          </a:p>
          <a:p>
            <a:pPr marL="0" indent="0"/>
            <a:endParaRPr lang="zh-TW" altLang="en-US" dirty="0" smtClean="0">
              <a:ea typeface="新細明體" panose="02020500000000000000" pitchFamily="18" charset="-120"/>
            </a:endParaRPr>
          </a:p>
        </p:txBody>
      </p:sp>
      <p:grpSp>
        <p:nvGrpSpPr>
          <p:cNvPr id="12292" name="群組 28"/>
          <p:cNvGrpSpPr>
            <a:grpSpLocks/>
          </p:cNvGrpSpPr>
          <p:nvPr/>
        </p:nvGrpSpPr>
        <p:grpSpPr bwMode="auto">
          <a:xfrm>
            <a:off x="6456363" y="4713289"/>
            <a:ext cx="3592512" cy="1412875"/>
            <a:chOff x="4435550" y="3606629"/>
            <a:chExt cx="3147461" cy="1328286"/>
          </a:xfrm>
        </p:grpSpPr>
        <p:pic>
          <p:nvPicPr>
            <p:cNvPr id="12294" name="Picture 2">
              <a:hlinkClick r:id="rId6"/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013" t="35310" r="5104" b="38060"/>
            <a:stretch>
              <a:fillRect/>
            </a:stretch>
          </p:blipFill>
          <p:spPr bwMode="auto">
            <a:xfrm>
              <a:off x="4435550" y="3606629"/>
              <a:ext cx="3147461" cy="1328286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295" name="Picture 3" descr="C:\Users\chwa\Desktop\video.png">
              <a:hlinkClick r:id="rId6"/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8676" y="4230190"/>
              <a:ext cx="504000" cy="504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2293" name="文字方塊 6"/>
          <p:cNvSpPr txBox="1">
            <a:spLocks noChangeArrowheads="1"/>
          </p:cNvSpPr>
          <p:nvPr/>
        </p:nvSpPr>
        <p:spPr bwMode="auto">
          <a:xfrm>
            <a:off x="4089401" y="6236202"/>
            <a:ext cx="4454525" cy="339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TW" altLang="en-US" sz="1600">
                <a:latin typeface="標楷體" panose="03000509000000000000" pitchFamily="65" charset="-120"/>
                <a:ea typeface="標楷體" panose="03000509000000000000" pitchFamily="65" charset="-120"/>
              </a:rPr>
              <a:t>參考</a:t>
            </a:r>
            <a:r>
              <a:rPr lang="en-US" altLang="zh-TW" sz="1600">
                <a:latin typeface="標楷體" panose="03000509000000000000" pitchFamily="65" charset="-120"/>
                <a:ea typeface="標楷體" panose="03000509000000000000" pitchFamily="65" charset="-120"/>
              </a:rPr>
              <a:t>: </a:t>
            </a:r>
            <a:r>
              <a:rPr lang="zh-TW" altLang="en-US" sz="1600">
                <a:latin typeface="標楷體" panose="03000509000000000000" pitchFamily="65" charset="-120"/>
                <a:ea typeface="標楷體" panose="03000509000000000000" pitchFamily="65" charset="-120"/>
              </a:rPr>
              <a:t>全華人工智慧</a:t>
            </a:r>
            <a:r>
              <a:rPr lang="en-US" altLang="zh-TW" sz="1600">
                <a:latin typeface="標楷體" panose="03000509000000000000" pitchFamily="65" charset="-120"/>
                <a:ea typeface="標楷體" panose="03000509000000000000" pitchFamily="65" charset="-120"/>
              </a:rPr>
              <a:t>06417-01(</a:t>
            </a:r>
            <a:r>
              <a:rPr lang="zh-TW" altLang="en-US" sz="1600">
                <a:latin typeface="標楷體" panose="03000509000000000000" pitchFamily="65" charset="-120"/>
                <a:ea typeface="標楷體" panose="03000509000000000000" pitchFamily="65" charset="-120"/>
              </a:rPr>
              <a:t>張志勇等</a:t>
            </a:r>
            <a:r>
              <a:rPr lang="en-US" altLang="zh-TW" sz="1600">
                <a:latin typeface="標楷體" panose="03000509000000000000" pitchFamily="65" charset="-120"/>
                <a:ea typeface="標楷體" panose="03000509000000000000" pitchFamily="65" charset="-120"/>
              </a:rPr>
              <a:t>5</a:t>
            </a:r>
            <a:r>
              <a:rPr lang="zh-TW" altLang="en-US" sz="1600">
                <a:latin typeface="標楷體" panose="03000509000000000000" pitchFamily="65" charset="-120"/>
                <a:ea typeface="標楷體" panose="03000509000000000000" pitchFamily="65" charset="-120"/>
              </a:rPr>
              <a:t>人著</a:t>
            </a:r>
            <a:r>
              <a:rPr lang="en-US" altLang="zh-TW" sz="160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19698829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為了提供較佳的資訊搜尋服務</a:t>
            </a:r>
          </a:p>
        </p:txBody>
      </p:sp>
      <p:sp>
        <p:nvSpPr>
          <p:cNvPr id="13315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kumimoji="1"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	</a:t>
            </a:r>
            <a:r>
              <a:rPr kumimoji="1" lang="zh-TW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網路上的</a:t>
            </a:r>
            <a:r>
              <a:rPr kumimoji="1" lang="zh-TW" altLang="zh-TW" sz="24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搜尋引擎</a:t>
            </a:r>
            <a:r>
              <a:rPr kumimoji="1"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的</a:t>
            </a:r>
            <a:r>
              <a:rPr kumimoji="1" lang="zh-TW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運作</a:t>
            </a:r>
            <a:r>
              <a:rPr kumimoji="1"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也</a:t>
            </a:r>
            <a:r>
              <a:rPr kumimoji="1" lang="zh-TW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導入</a:t>
            </a:r>
            <a:r>
              <a:rPr kumimoji="1"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了</a:t>
            </a:r>
            <a:r>
              <a:rPr kumimoji="1" lang="zh-TW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人工智慧技術</a:t>
            </a:r>
            <a:r>
              <a:rPr kumimoji="1"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。</a:t>
            </a:r>
          </a:p>
        </p:txBody>
      </p:sp>
      <p:pic>
        <p:nvPicPr>
          <p:cNvPr id="1331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1581" y="2265001"/>
            <a:ext cx="4646612" cy="403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7" name="文字方塊 4"/>
          <p:cNvSpPr txBox="1">
            <a:spLocks noChangeArrowheads="1"/>
          </p:cNvSpPr>
          <p:nvPr/>
        </p:nvSpPr>
        <p:spPr bwMode="auto">
          <a:xfrm>
            <a:off x="3857625" y="6417538"/>
            <a:ext cx="4454525" cy="339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TW" altLang="en-US" sz="1600">
                <a:latin typeface="標楷體" panose="03000509000000000000" pitchFamily="65" charset="-120"/>
                <a:ea typeface="標楷體" panose="03000509000000000000" pitchFamily="65" charset="-120"/>
              </a:rPr>
              <a:t>參考</a:t>
            </a:r>
            <a:r>
              <a:rPr lang="en-US" altLang="zh-TW" sz="1600">
                <a:latin typeface="標楷體" panose="03000509000000000000" pitchFamily="65" charset="-120"/>
                <a:ea typeface="標楷體" panose="03000509000000000000" pitchFamily="65" charset="-120"/>
              </a:rPr>
              <a:t>: </a:t>
            </a:r>
            <a:r>
              <a:rPr lang="zh-TW" altLang="en-US" sz="1600">
                <a:latin typeface="標楷體" panose="03000509000000000000" pitchFamily="65" charset="-120"/>
                <a:ea typeface="標楷體" panose="03000509000000000000" pitchFamily="65" charset="-120"/>
              </a:rPr>
              <a:t>全華人工智慧</a:t>
            </a:r>
            <a:r>
              <a:rPr lang="en-US" altLang="zh-TW" sz="1600">
                <a:latin typeface="標楷體" panose="03000509000000000000" pitchFamily="65" charset="-120"/>
                <a:ea typeface="標楷體" panose="03000509000000000000" pitchFamily="65" charset="-120"/>
              </a:rPr>
              <a:t>06417-01(</a:t>
            </a:r>
            <a:r>
              <a:rPr lang="zh-TW" altLang="en-US" sz="1600">
                <a:latin typeface="標楷體" panose="03000509000000000000" pitchFamily="65" charset="-120"/>
                <a:ea typeface="標楷體" panose="03000509000000000000" pitchFamily="65" charset="-120"/>
              </a:rPr>
              <a:t>張志勇等</a:t>
            </a:r>
            <a:r>
              <a:rPr lang="en-US" altLang="zh-TW" sz="1600">
                <a:latin typeface="標楷體" panose="03000509000000000000" pitchFamily="65" charset="-120"/>
                <a:ea typeface="標楷體" panose="03000509000000000000" pitchFamily="65" charset="-120"/>
              </a:rPr>
              <a:t>5</a:t>
            </a:r>
            <a:r>
              <a:rPr lang="zh-TW" altLang="en-US" sz="1600">
                <a:latin typeface="標楷體" panose="03000509000000000000" pitchFamily="65" charset="-120"/>
                <a:ea typeface="標楷體" panose="03000509000000000000" pitchFamily="65" charset="-120"/>
              </a:rPr>
              <a:t>人著</a:t>
            </a:r>
            <a:r>
              <a:rPr lang="en-US" altLang="zh-TW" sz="160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29476941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中央研究所孔祥重院士</a:t>
            </a:r>
          </a:p>
        </p:txBody>
      </p:sp>
      <p:sp>
        <p:nvSpPr>
          <p:cNvPr id="14339" name="內容版面配置區 2"/>
          <p:cNvSpPr>
            <a:spLocks noGrp="1"/>
          </p:cNvSpPr>
          <p:nvPr>
            <p:ph idx="1"/>
          </p:nvPr>
        </p:nvSpPr>
        <p:spPr>
          <a:xfrm>
            <a:off x="1703389" y="1341438"/>
            <a:ext cx="8308975" cy="5040312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kumimoji="1" lang="en-US" altLang="zh-TW" sz="2400">
                <a:latin typeface="Times New Roman" panose="02020603050405020304" pitchFamily="18" charset="0"/>
                <a:ea typeface="標楷體" panose="03000509000000000000" pitchFamily="65" charset="-120"/>
              </a:rPr>
              <a:t>	2017</a:t>
            </a:r>
            <a:r>
              <a:rPr kumimoji="1" lang="zh-TW" altLang="en-US" sz="2400">
                <a:latin typeface="Times New Roman" panose="02020603050405020304" pitchFamily="18" charset="0"/>
                <a:ea typeface="標楷體" panose="03000509000000000000" pitchFamily="65" charset="-120"/>
              </a:rPr>
              <a:t>年成立</a:t>
            </a:r>
            <a:r>
              <a:rPr kumimoji="1" lang="zh-TW" altLang="en-US" sz="240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「人工智慧學校」</a:t>
            </a:r>
            <a:r>
              <a:rPr kumimoji="1" lang="zh-TW" altLang="en-US" sz="2400">
                <a:latin typeface="Times New Roman" panose="02020603050405020304" pitchFamily="18" charset="0"/>
                <a:ea typeface="標楷體" panose="03000509000000000000" pitchFamily="65" charset="-120"/>
              </a:rPr>
              <a:t>，是國內學術界、研究單位及產業界首次攜手合作所建構的平台，提供</a:t>
            </a:r>
            <a:r>
              <a:rPr kumimoji="1" lang="en-US" altLang="zh-TW" sz="2400">
                <a:latin typeface="Times New Roman" panose="02020603050405020304" pitchFamily="18" charset="0"/>
                <a:ea typeface="標楷體" panose="03000509000000000000" pitchFamily="65" charset="-120"/>
              </a:rPr>
              <a:t>AI</a:t>
            </a:r>
            <a:r>
              <a:rPr kumimoji="1" lang="zh-TW" altLang="en-US" sz="2400">
                <a:latin typeface="Times New Roman" panose="02020603050405020304" pitchFamily="18" charset="0"/>
                <a:ea typeface="標楷體" panose="03000509000000000000" pitchFamily="65" charset="-120"/>
              </a:rPr>
              <a:t>專業師資授課、</a:t>
            </a:r>
            <a:r>
              <a:rPr kumimoji="1" lang="en-US" altLang="zh-TW" sz="2400">
                <a:latin typeface="Times New Roman" panose="02020603050405020304" pitchFamily="18" charset="0"/>
                <a:ea typeface="標楷體" panose="03000509000000000000" pitchFamily="65" charset="-120"/>
              </a:rPr>
              <a:t>AI</a:t>
            </a:r>
            <a:r>
              <a:rPr kumimoji="1" lang="zh-TW" altLang="en-US" sz="2400">
                <a:latin typeface="Times New Roman" panose="02020603050405020304" pitchFamily="18" charset="0"/>
                <a:ea typeface="標楷體" panose="03000509000000000000" pitchFamily="65" charset="-120"/>
              </a:rPr>
              <a:t>人才媒合、</a:t>
            </a:r>
            <a:r>
              <a:rPr kumimoji="1" lang="en-US" altLang="zh-TW" sz="2400">
                <a:latin typeface="Times New Roman" panose="02020603050405020304" pitchFamily="18" charset="0"/>
                <a:ea typeface="標楷體" panose="03000509000000000000" pitchFamily="65" charset="-120"/>
              </a:rPr>
              <a:t>AI</a:t>
            </a:r>
            <a:r>
              <a:rPr kumimoji="1" lang="zh-TW" altLang="en-US" sz="2400">
                <a:latin typeface="Times New Roman" panose="02020603050405020304" pitchFamily="18" charset="0"/>
                <a:ea typeface="標楷體" panose="03000509000000000000" pitchFamily="65" charset="-120"/>
              </a:rPr>
              <a:t>技術顧問諮詢等服務，對</a:t>
            </a:r>
            <a:r>
              <a:rPr kumimoji="1" lang="en-US" altLang="zh-TW" sz="2400">
                <a:latin typeface="Times New Roman" panose="02020603050405020304" pitchFamily="18" charset="0"/>
                <a:ea typeface="標楷體" panose="03000509000000000000" pitchFamily="65" charset="-120"/>
              </a:rPr>
              <a:t>AI</a:t>
            </a:r>
            <a:r>
              <a:rPr kumimoji="1" lang="zh-TW" altLang="en-US" sz="2400">
                <a:latin typeface="Times New Roman" panose="02020603050405020304" pitchFamily="18" charset="0"/>
                <a:ea typeface="標楷體" panose="03000509000000000000" pitchFamily="65" charset="-120"/>
              </a:rPr>
              <a:t>有興趣的人可利用此平台學習</a:t>
            </a:r>
            <a:r>
              <a:rPr kumimoji="1" lang="en-US" altLang="zh-TW" sz="2400">
                <a:latin typeface="Times New Roman" panose="02020603050405020304" pitchFamily="18" charset="0"/>
                <a:ea typeface="標楷體" panose="03000509000000000000" pitchFamily="65" charset="-120"/>
              </a:rPr>
              <a:t>AI</a:t>
            </a:r>
            <a:r>
              <a:rPr kumimoji="1" lang="zh-TW" altLang="en-US" sz="2400">
                <a:latin typeface="Times New Roman" panose="02020603050405020304" pitchFamily="18" charset="0"/>
                <a:ea typeface="標楷體" panose="03000509000000000000" pitchFamily="65" charset="-120"/>
              </a:rPr>
              <a:t>知識、進行互動交流、洽談產業合作等，目的是希望能快速且系統化培育國內</a:t>
            </a:r>
            <a:r>
              <a:rPr kumimoji="1" lang="en-US" altLang="zh-TW" sz="2400">
                <a:latin typeface="Times New Roman" panose="02020603050405020304" pitchFamily="18" charset="0"/>
                <a:ea typeface="標楷體" panose="03000509000000000000" pitchFamily="65" charset="-120"/>
              </a:rPr>
              <a:t>AI</a:t>
            </a:r>
            <a:r>
              <a:rPr kumimoji="1" lang="zh-TW" altLang="en-US" sz="2400">
                <a:latin typeface="Times New Roman" panose="02020603050405020304" pitchFamily="18" charset="0"/>
                <a:ea typeface="標楷體" panose="03000509000000000000" pitchFamily="65" charset="-120"/>
              </a:rPr>
              <a:t>人才，並導入人工智慧於產業界，以達到產業升級與轉型的目標。</a:t>
            </a:r>
          </a:p>
        </p:txBody>
      </p:sp>
      <p:grpSp>
        <p:nvGrpSpPr>
          <p:cNvPr id="14340" name="群組 5"/>
          <p:cNvGrpSpPr>
            <a:grpSpLocks/>
          </p:cNvGrpSpPr>
          <p:nvPr/>
        </p:nvGrpSpPr>
        <p:grpSpPr bwMode="auto">
          <a:xfrm>
            <a:off x="6780214" y="4903789"/>
            <a:ext cx="3024187" cy="1138237"/>
            <a:chOff x="4967925" y="4333724"/>
            <a:chExt cx="3024000" cy="1139250"/>
          </a:xfrm>
        </p:grpSpPr>
        <p:pic>
          <p:nvPicPr>
            <p:cNvPr id="14342" name="Picture 2">
              <a:hlinkClick r:id="rId2"/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67925" y="4333724"/>
              <a:ext cx="3024000" cy="1139250"/>
            </a:xfrm>
            <a:prstGeom prst="rect">
              <a:avLst/>
            </a:prstGeom>
            <a:noFill/>
            <a:ln w="317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  <p:pic>
          <p:nvPicPr>
            <p:cNvPr id="14343" name="Picture 3" descr="C:\Users\chwa\Desktop\video.png">
              <a:hlinkClick r:id="rId2"/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27833" y="4845114"/>
              <a:ext cx="504000" cy="504000"/>
            </a:xfrm>
            <a:prstGeom prst="rect">
              <a:avLst/>
            </a:prstGeom>
            <a:noFill/>
            <a:ln w="317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4341" name="文字方塊 6"/>
          <p:cNvSpPr txBox="1">
            <a:spLocks noChangeArrowheads="1"/>
          </p:cNvSpPr>
          <p:nvPr/>
        </p:nvSpPr>
        <p:spPr bwMode="auto">
          <a:xfrm>
            <a:off x="4089401" y="6138864"/>
            <a:ext cx="4454525" cy="339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TW" altLang="en-US" sz="1600">
                <a:latin typeface="標楷體" panose="03000509000000000000" pitchFamily="65" charset="-120"/>
                <a:ea typeface="標楷體" panose="03000509000000000000" pitchFamily="65" charset="-120"/>
              </a:rPr>
              <a:t>參考</a:t>
            </a:r>
            <a:r>
              <a:rPr lang="en-US" altLang="zh-TW" sz="1600">
                <a:latin typeface="標楷體" panose="03000509000000000000" pitchFamily="65" charset="-120"/>
                <a:ea typeface="標楷體" panose="03000509000000000000" pitchFamily="65" charset="-120"/>
              </a:rPr>
              <a:t>: </a:t>
            </a:r>
            <a:r>
              <a:rPr lang="zh-TW" altLang="en-US" sz="1600">
                <a:latin typeface="標楷體" panose="03000509000000000000" pitchFamily="65" charset="-120"/>
                <a:ea typeface="標楷體" panose="03000509000000000000" pitchFamily="65" charset="-120"/>
              </a:rPr>
              <a:t>全華人工智慧</a:t>
            </a:r>
            <a:r>
              <a:rPr lang="en-US" altLang="zh-TW" sz="1600">
                <a:latin typeface="標楷體" panose="03000509000000000000" pitchFamily="65" charset="-120"/>
                <a:ea typeface="標楷體" panose="03000509000000000000" pitchFamily="65" charset="-120"/>
              </a:rPr>
              <a:t>06417-01(</a:t>
            </a:r>
            <a:r>
              <a:rPr lang="zh-TW" altLang="en-US" sz="1600">
                <a:latin typeface="標楷體" panose="03000509000000000000" pitchFamily="65" charset="-120"/>
                <a:ea typeface="標楷體" panose="03000509000000000000" pitchFamily="65" charset="-120"/>
              </a:rPr>
              <a:t>張志勇等</a:t>
            </a:r>
            <a:r>
              <a:rPr lang="en-US" altLang="zh-TW" sz="1600">
                <a:latin typeface="標楷體" panose="03000509000000000000" pitchFamily="65" charset="-120"/>
                <a:ea typeface="標楷體" panose="03000509000000000000" pitchFamily="65" charset="-120"/>
              </a:rPr>
              <a:t>5</a:t>
            </a:r>
            <a:r>
              <a:rPr lang="zh-TW" altLang="en-US" sz="1600">
                <a:latin typeface="標楷體" panose="03000509000000000000" pitchFamily="65" charset="-120"/>
                <a:ea typeface="標楷體" panose="03000509000000000000" pitchFamily="65" charset="-120"/>
              </a:rPr>
              <a:t>人著</a:t>
            </a:r>
            <a:r>
              <a:rPr lang="en-US" altLang="zh-TW" sz="160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68991225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smtClean="0">
              <a:ea typeface="新細明體" panose="02020500000000000000" pitchFamily="18" charset="-120"/>
            </a:endParaRPr>
          </a:p>
        </p:txBody>
      </p:sp>
      <p:sp>
        <p:nvSpPr>
          <p:cNvPr id="1536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mtClean="0">
                <a:ea typeface="新細明體" panose="02020500000000000000" pitchFamily="18" charset="-120"/>
              </a:rPr>
              <a:t>Google </a:t>
            </a:r>
            <a:r>
              <a:rPr lang="zh-TW" altLang="en-US" smtClean="0">
                <a:ea typeface="新細明體" panose="02020500000000000000" pitchFamily="18" charset="-120"/>
              </a:rPr>
              <a:t>推出的自動駕駛車</a:t>
            </a:r>
            <a:endParaRPr lang="en-US" altLang="zh-TW" smtClean="0">
              <a:ea typeface="新細明體" panose="02020500000000000000" pitchFamily="18" charset="-120"/>
            </a:endParaRPr>
          </a:p>
          <a:p>
            <a:pPr lvl="1"/>
            <a:r>
              <a:rPr lang="en-US" altLang="zh-TW" smtClean="0">
                <a:ea typeface="新細明體" panose="02020500000000000000" pitchFamily="18" charset="-120"/>
              </a:rPr>
              <a:t>Google </a:t>
            </a:r>
            <a:r>
              <a:rPr lang="zh-TW" altLang="en-US" smtClean="0">
                <a:ea typeface="新細明體" panose="02020500000000000000" pitchFamily="18" charset="-120"/>
              </a:rPr>
              <a:t>自駕公司 </a:t>
            </a:r>
            <a:r>
              <a:rPr lang="en-US" altLang="zh-TW" smtClean="0">
                <a:ea typeface="新細明體" panose="02020500000000000000" pitchFamily="18" charset="-120"/>
              </a:rPr>
              <a:t>Waymo </a:t>
            </a:r>
            <a:r>
              <a:rPr lang="zh-TW" altLang="en-US" smtClean="0">
                <a:ea typeface="新細明體" panose="02020500000000000000" pitchFamily="18" charset="-120"/>
              </a:rPr>
              <a:t>執行長：送自動駕駛的車上路，比送火箭登天還難！</a:t>
            </a:r>
            <a:endParaRPr lang="en-US" altLang="zh-TW" smtClean="0">
              <a:ea typeface="新細明體" panose="02020500000000000000" pitchFamily="18" charset="-120"/>
            </a:endParaRPr>
          </a:p>
          <a:p>
            <a:pPr lvl="1"/>
            <a:r>
              <a:rPr lang="en-US" altLang="zh-TW" smtClean="0">
                <a:ea typeface="新細明體" panose="02020500000000000000" pitchFamily="18" charset="-120"/>
                <a:hlinkClick r:id="rId2"/>
              </a:rPr>
              <a:t>https://www.inside.com.tw/article/22145-waymo-ceo-launching-a-self-driving-car-is-harder-than-launching-a-rocket</a:t>
            </a:r>
            <a:endParaRPr lang="en-US" altLang="zh-TW" smtClean="0">
              <a:ea typeface="新細明體" panose="02020500000000000000" pitchFamily="18" charset="-120"/>
            </a:endParaRPr>
          </a:p>
          <a:p>
            <a:pPr marL="914400" lvl="2" indent="0">
              <a:buNone/>
            </a:pPr>
            <a:endParaRPr lang="zh-TW" altLang="en-US" smtClean="0"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6263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333897" y="4390506"/>
            <a:ext cx="8014435" cy="668646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r>
              <a:rPr lang="en-US" altLang="zh-TW" sz="32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Thank you for your time and </a:t>
            </a:r>
            <a:r>
              <a:rPr lang="en-US" altLang="zh-TW" sz="3200" dirty="0" smtClean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attention.</a:t>
            </a:r>
            <a:endParaRPr lang="zh-TW" altLang="en-US" sz="3200" dirty="0">
              <a:solidFill>
                <a:schemeClr val="bg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071534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1135</Words>
  <Application>Microsoft Office PowerPoint</Application>
  <PresentationFormat>寬螢幕</PresentationFormat>
  <Paragraphs>76</Paragraphs>
  <Slides>19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19</vt:i4>
      </vt:variant>
    </vt:vector>
  </HeadingPairs>
  <TitlesOfParts>
    <vt:vector size="28" baseType="lpstr">
      <vt:lpstr>新細明體</vt:lpstr>
      <vt:lpstr>標楷體</vt:lpstr>
      <vt:lpstr>Arial</vt:lpstr>
      <vt:lpstr>Calibri</vt:lpstr>
      <vt:lpstr>Calibri Light</vt:lpstr>
      <vt:lpstr>Times New Roman</vt:lpstr>
      <vt:lpstr>Office 佈景主題</vt:lpstr>
      <vt:lpstr>自訂設計</vt:lpstr>
      <vt:lpstr>1_自訂設計</vt:lpstr>
      <vt:lpstr>PowerPoint 簡報</vt:lpstr>
      <vt:lpstr>人工智慧概論</vt:lpstr>
      <vt:lpstr>Relationship between AI,ML,DL</vt:lpstr>
      <vt:lpstr>課程目標</vt:lpstr>
      <vt:lpstr>1.人工智慧定義(Definitions)</vt:lpstr>
      <vt:lpstr>弱人工智慧/強人工智慧</vt:lpstr>
      <vt:lpstr>圖靈測試 (Turing Test)</vt:lpstr>
      <vt:lpstr>「圖靈測試」已過時? AI 應追求新的衡量標準</vt:lpstr>
      <vt:lpstr>誕生期</vt:lpstr>
      <vt:lpstr>2.人工智慧的發展</vt:lpstr>
      <vt:lpstr>1956 正式定義為一個新學科</vt:lpstr>
      <vt:lpstr>Milestones in the Development of Artificial Intelligence</vt:lpstr>
      <vt:lpstr>PowerPoint 簡報</vt:lpstr>
      <vt:lpstr>重生期 </vt:lpstr>
      <vt:lpstr>AlphaGo</vt:lpstr>
      <vt:lpstr>為了提供較佳的資訊搜尋服務</vt:lpstr>
      <vt:lpstr>中央研究所孔祥重院士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user</cp:lastModifiedBy>
  <cp:revision>26</cp:revision>
  <dcterms:created xsi:type="dcterms:W3CDTF">2024-08-28T03:49:50Z</dcterms:created>
  <dcterms:modified xsi:type="dcterms:W3CDTF">2025-09-01T08:03:42Z</dcterms:modified>
</cp:coreProperties>
</file>