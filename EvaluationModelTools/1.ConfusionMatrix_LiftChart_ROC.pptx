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4" r:id="rId2"/>
  </p:sldMasterIdLst>
  <p:sldIdLst>
    <p:sldId id="257" r:id="rId3"/>
    <p:sldId id="258" r:id="rId4"/>
    <p:sldId id="267" r:id="rId5"/>
    <p:sldId id="270" r:id="rId6"/>
    <p:sldId id="271" r:id="rId7"/>
    <p:sldId id="269" r:id="rId8"/>
    <p:sldId id="278" r:id="rId9"/>
    <p:sldId id="272" r:id="rId10"/>
    <p:sldId id="287" r:id="rId11"/>
    <p:sldId id="294" r:id="rId12"/>
    <p:sldId id="275" r:id="rId13"/>
    <p:sldId id="273" r:id="rId14"/>
    <p:sldId id="280" r:id="rId15"/>
    <p:sldId id="277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9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E91E-327E-4E20-800A-13107E1D90F2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5CAB-02DB-488B-A5D1-1CF437BFD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9412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E91E-327E-4E20-800A-13107E1D90F2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5CAB-02DB-488B-A5D1-1CF437BFD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298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E91E-327E-4E20-800A-13107E1D90F2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5CAB-02DB-488B-A5D1-1CF437BFD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504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E91E-327E-4E20-800A-13107E1D90F2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5CAB-02DB-488B-A5D1-1CF437BFD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9349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E91E-327E-4E20-800A-13107E1D90F2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5CAB-02DB-488B-A5D1-1CF437BFD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7688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E91E-327E-4E20-800A-13107E1D90F2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5CAB-02DB-488B-A5D1-1CF437BFD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0507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E91E-327E-4E20-800A-13107E1D90F2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5CAB-02DB-488B-A5D1-1CF437BFD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089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E91E-327E-4E20-800A-13107E1D90F2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5CAB-02DB-488B-A5D1-1CF437BFD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804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E91E-327E-4E20-800A-13107E1D90F2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5CAB-02DB-488B-A5D1-1CF437BFD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720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E91E-327E-4E20-800A-13107E1D90F2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5CAB-02DB-488B-A5D1-1CF437BFD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8335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E91E-327E-4E20-800A-13107E1D90F2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5CAB-02DB-488B-A5D1-1CF437BFD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6941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書名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8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名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9"/>
          <p:cNvSpPr>
            <a:spLocks noGrp="1"/>
          </p:cNvSpPr>
          <p:nvPr>
            <p:ph type="body" sz="quarter" idx="17"/>
          </p:nvPr>
        </p:nvSpPr>
        <p:spPr>
          <a:xfrm>
            <a:off x="1142966" y="3645024"/>
            <a:ext cx="10763325" cy="1800200"/>
          </a:xfrm>
          <a:noFill/>
          <a:ln w="12700" cap="rnd">
            <a:noFill/>
            <a:round/>
          </a:ln>
          <a:effectLst/>
        </p:spPr>
        <p:txBody>
          <a:bodyPr lIns="0" tIns="0" rIns="0" bIns="0" numCol="2" anchor="ctr" anchorCtr="0">
            <a:noAutofit/>
          </a:bodyPr>
          <a:lstStyle>
            <a:lvl1pPr>
              <a:lnSpc>
                <a:spcPts val="2400"/>
              </a:lnSpc>
              <a:spcBef>
                <a:spcPts val="500"/>
              </a:spcBef>
              <a:defRPr kumimoji="0" lang="zh-TW" altLang="en-US" sz="2000" b="1" u="none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+mj-ea"/>
                <a:cs typeface="+mn-cs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/>
          </a:p>
        </p:txBody>
      </p:sp>
      <p:sp>
        <p:nvSpPr>
          <p:cNvPr id="15" name="文字版面配置區 13"/>
          <p:cNvSpPr>
            <a:spLocks noGrp="1"/>
          </p:cNvSpPr>
          <p:nvPr>
            <p:ph type="body" sz="quarter" idx="15" hasCustomPrompt="1"/>
          </p:nvPr>
        </p:nvSpPr>
        <p:spPr>
          <a:xfrm>
            <a:off x="1428717" y="2276872"/>
            <a:ext cx="10382323" cy="1152128"/>
          </a:xfrm>
          <a:effectLst/>
        </p:spPr>
        <p:txBody>
          <a:bodyPr anchor="ctr" anchorCtr="0">
            <a:noAutofit/>
          </a:bodyPr>
          <a:lstStyle>
            <a:lvl1pPr algn="l">
              <a:lnSpc>
                <a:spcPts val="4800"/>
              </a:lnSpc>
              <a:spcBef>
                <a:spcPts val="0"/>
              </a:spcBef>
              <a:defRPr sz="4400" b="1" u="none" cap="none" spc="0" baseline="0">
                <a:ln w="15875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defRPr>
            </a:lvl1pPr>
          </a:lstStyle>
          <a:p>
            <a:pPr lvl="0"/>
            <a:r>
              <a:rPr lang="zh-TW" altLang="en-US" dirty="0" smtClean="0"/>
              <a:t>按一以輯母片文字樣式</a:t>
            </a:r>
          </a:p>
        </p:txBody>
      </p:sp>
      <p:sp>
        <p:nvSpPr>
          <p:cNvPr id="11" name="矩形 10"/>
          <p:cNvSpPr/>
          <p:nvPr userDrawn="1"/>
        </p:nvSpPr>
        <p:spPr>
          <a:xfrm flipV="1">
            <a:off x="95293" y="2056288"/>
            <a:ext cx="12000000" cy="380160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7" name="矩形 16"/>
          <p:cNvSpPr/>
          <p:nvPr userDrawn="1"/>
        </p:nvSpPr>
        <p:spPr>
          <a:xfrm flipV="1">
            <a:off x="1007435" y="1768288"/>
            <a:ext cx="3143272" cy="28800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4" name="文字版面配置區 13"/>
          <p:cNvSpPr>
            <a:spLocks noGrp="1"/>
          </p:cNvSpPr>
          <p:nvPr>
            <p:ph type="body" sz="quarter" idx="14"/>
          </p:nvPr>
        </p:nvSpPr>
        <p:spPr>
          <a:xfrm>
            <a:off x="1402931" y="1268760"/>
            <a:ext cx="2400267" cy="863526"/>
          </a:xfrm>
        </p:spPr>
        <p:txBody>
          <a:bodyPr anchor="ctr" anchorCtr="0">
            <a:noAutofit/>
          </a:bodyPr>
          <a:lstStyle>
            <a:lvl1pPr>
              <a:lnSpc>
                <a:spcPts val="4800"/>
              </a:lnSpc>
              <a:spcBef>
                <a:spcPts val="0"/>
              </a:spcBef>
              <a:defRPr sz="10000" b="1" u="none" cap="none" spc="0" baseline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defRPr>
            </a:lvl1pPr>
          </a:lstStyle>
          <a:p>
            <a:pPr lvl="0"/>
            <a:r>
              <a:rPr lang="zh-TW" altLang="en-US" dirty="0" smtClean="0"/>
              <a:t>按</a:t>
            </a:r>
          </a:p>
        </p:txBody>
      </p:sp>
    </p:spTree>
    <p:extLst>
      <p:ext uri="{BB962C8B-B14F-4D97-AF65-F5344CB8AC3E}">
        <p14:creationId xmlns:p14="http://schemas.microsoft.com/office/powerpoint/2010/main" val="49596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X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575999" y="1364512"/>
            <a:ext cx="11040000" cy="5160832"/>
          </a:xfrm>
        </p:spPr>
        <p:txBody>
          <a:bodyPr/>
          <a:lstStyle>
            <a:lvl1pPr>
              <a:defRPr sz="2800"/>
            </a:lvl1pPr>
            <a:lvl2pPr>
              <a:spcBef>
                <a:spcPts val="600"/>
              </a:spcBef>
              <a:defRPr kumimoji="0" lang="zh-TW" altLang="en-US" sz="24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0" indent="0">
              <a:spcBef>
                <a:spcPts val="600"/>
              </a:spcBef>
              <a:spcAft>
                <a:spcPts val="0"/>
              </a:spcAft>
              <a:defRPr kumimoji="0" lang="zh-TW" altLang="en-US" sz="2000" b="1" u="dottedHeavy" kern="1200" baseline="0" dirty="0" smtClean="0">
                <a:solidFill>
                  <a:srgbClr val="C67A48"/>
                </a:solidFill>
                <a:latin typeface="+mj-ea"/>
                <a:ea typeface="+mj-ea"/>
                <a:cs typeface="+mn-cs"/>
              </a:defRPr>
            </a:lvl3pPr>
            <a:lvl4pPr>
              <a:lnSpc>
                <a:spcPts val="2800"/>
              </a:lnSpc>
              <a:spcBef>
                <a:spcPts val="600"/>
              </a:spcBef>
              <a:spcAft>
                <a:spcPts val="0"/>
              </a:spcAft>
              <a:defRPr/>
            </a:lvl4pPr>
            <a:lvl5pPr>
              <a:lnSpc>
                <a:spcPts val="2800"/>
              </a:lnSpc>
              <a:defRPr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 smtClean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1049035" y="6160558"/>
            <a:ext cx="772165" cy="652819"/>
            <a:chOff x="8286776" y="6160557"/>
            <a:chExt cx="579124" cy="652819"/>
          </a:xfrm>
        </p:grpSpPr>
        <p:sp>
          <p:nvSpPr>
            <p:cNvPr id="4" name="橢圓形圖說文字 3"/>
            <p:cNvSpPr/>
            <p:nvPr/>
          </p:nvSpPr>
          <p:spPr>
            <a:xfrm flipH="1">
              <a:off x="8286776" y="6160557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solidFill>
              <a:schemeClr val="tx1">
                <a:lumMod val="85000"/>
                <a:lumOff val="15000"/>
                <a:alpha val="9098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D14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6" name="文字方塊 5">
              <a:hlinkClick r:id="rId2" action="ppaction://hlinksldjump"/>
            </p:cNvPr>
            <p:cNvSpPr txBox="1"/>
            <p:nvPr/>
          </p:nvSpPr>
          <p:spPr>
            <a:xfrm>
              <a:off x="8316416" y="6167045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9BBB59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回</a:t>
              </a:r>
              <a:endParaRPr kumimoji="0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BBB59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1" i="0" u="none" strike="noStrike" kern="1200" cap="none" spc="0" normalizeH="0" baseline="20000" noProof="0" dirty="0" smtClean="0">
                  <a:ln>
                    <a:noFill/>
                  </a:ln>
                  <a:solidFill>
                    <a:srgbClr val="9BBB59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首頁</a:t>
              </a:r>
              <a:endParaRPr kumimoji="0" lang="zh-TW" altLang="en-US" sz="1800" b="1" i="0" u="none" strike="noStrike" kern="1200" cap="none" spc="0" normalizeH="0" baseline="20000" noProof="0" dirty="0">
                <a:ln>
                  <a:noFill/>
                </a:ln>
                <a:solidFill>
                  <a:srgbClr val="9BBB59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8" name="標題版面配置區 21"/>
          <p:cNvSpPr>
            <a:spLocks noGrp="1"/>
          </p:cNvSpPr>
          <p:nvPr>
            <p:ph type="title"/>
          </p:nvPr>
        </p:nvSpPr>
        <p:spPr>
          <a:xfrm>
            <a:off x="563915" y="764704"/>
            <a:ext cx="11100704" cy="576064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sz="2800"/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5764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575999" y="741600"/>
            <a:ext cx="11040000" cy="5760000"/>
          </a:xfrm>
        </p:spPr>
        <p:txBody>
          <a:bodyPr/>
          <a:lstStyle>
            <a:lvl1pPr>
              <a:defRPr sz="2800"/>
            </a:lvl1pPr>
            <a:lvl2pPr>
              <a:spcBef>
                <a:spcPts val="600"/>
              </a:spcBef>
              <a:defRPr kumimoji="0" lang="zh-TW" altLang="en-US" sz="24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0" indent="0">
              <a:spcBef>
                <a:spcPts val="600"/>
              </a:spcBef>
              <a:spcAft>
                <a:spcPts val="0"/>
              </a:spcAft>
              <a:defRPr kumimoji="0" lang="zh-TW" altLang="en-US" sz="2000" b="1" u="dottedHeavy" kern="1200" baseline="0" dirty="0" smtClean="0">
                <a:solidFill>
                  <a:srgbClr val="C67A48"/>
                </a:solidFill>
                <a:latin typeface="+mj-ea"/>
                <a:ea typeface="+mj-ea"/>
                <a:cs typeface="+mn-cs"/>
              </a:defRPr>
            </a:lvl3pPr>
            <a:lvl4pPr>
              <a:lnSpc>
                <a:spcPts val="2800"/>
              </a:lnSpc>
              <a:spcBef>
                <a:spcPts val="600"/>
              </a:spcBef>
              <a:spcAft>
                <a:spcPts val="0"/>
              </a:spcAft>
              <a:defRPr/>
            </a:lvl4pPr>
            <a:lvl5pPr>
              <a:lnSpc>
                <a:spcPts val="2800"/>
              </a:lnSpc>
              <a:defRPr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 smtClean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692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575999" y="741600"/>
            <a:ext cx="11040000" cy="5760000"/>
          </a:xfrm>
        </p:spPr>
        <p:txBody>
          <a:bodyPr/>
          <a:lstStyle>
            <a:lvl2pPr>
              <a:defRPr kumimoji="0" lang="zh-TW" altLang="en-US" sz="28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0" indent="0">
              <a:defRPr kumimoji="0" lang="zh-TW" altLang="en-US" sz="2500" b="1" u="dottedHeavy" kern="1200" baseline="0" dirty="0" smtClean="0">
                <a:solidFill>
                  <a:srgbClr val="C67A48"/>
                </a:solidFill>
                <a:latin typeface="+mj-ea"/>
                <a:ea typeface="+mj-ea"/>
                <a:cs typeface="+mn-cs"/>
              </a:defRPr>
            </a:lvl3pPr>
            <a:lvl4pPr>
              <a:spcAft>
                <a:spcPts val="200"/>
              </a:spcAft>
              <a:defRPr/>
            </a:lvl4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 smtClean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1049035" y="6160558"/>
            <a:ext cx="772165" cy="652819"/>
            <a:chOff x="8286776" y="6160557"/>
            <a:chExt cx="579124" cy="652819"/>
          </a:xfrm>
        </p:grpSpPr>
        <p:sp>
          <p:nvSpPr>
            <p:cNvPr id="4" name="橢圓形圖說文字 3"/>
            <p:cNvSpPr/>
            <p:nvPr/>
          </p:nvSpPr>
          <p:spPr>
            <a:xfrm flipH="1">
              <a:off x="8286776" y="6160557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solidFill>
              <a:srgbClr val="786CAE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D14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6" name="文字方塊 5">
              <a:hlinkClick r:id="rId2" action="ppaction://hlinksldjump"/>
            </p:cNvPr>
            <p:cNvSpPr txBox="1"/>
            <p:nvPr/>
          </p:nvSpPr>
          <p:spPr>
            <a:xfrm>
              <a:off x="8327600" y="6167045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9BBB59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回</a:t>
              </a:r>
              <a:endParaRPr kumimoji="0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BBB59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1" i="0" u="none" strike="noStrike" kern="1200" cap="none" spc="0" normalizeH="0" baseline="20000" noProof="0" dirty="0" smtClean="0">
                  <a:ln>
                    <a:noFill/>
                  </a:ln>
                  <a:solidFill>
                    <a:srgbClr val="9BBB59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首頁</a:t>
              </a:r>
              <a:endParaRPr kumimoji="0" lang="zh-TW" altLang="en-US" sz="1800" b="1" i="0" u="none" strike="noStrike" kern="1200" cap="none" spc="0" normalizeH="0" baseline="20000" noProof="0" dirty="0">
                <a:ln>
                  <a:noFill/>
                </a:ln>
                <a:solidFill>
                  <a:srgbClr val="9BBB59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242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76000" y="1100834"/>
            <a:ext cx="11040000" cy="5400000"/>
          </a:xfrm>
        </p:spPr>
        <p:txBody>
          <a:bodyPr/>
          <a:lstStyle>
            <a:lvl2pPr>
              <a:defRPr kumimoji="0" lang="zh-TW" altLang="en-US" sz="28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>
              <a:defRPr>
                <a:solidFill>
                  <a:srgbClr val="C67A48"/>
                </a:solidFill>
              </a:defRPr>
            </a:lvl3pPr>
            <a:lvl4pPr>
              <a:spcAft>
                <a:spcPts val="200"/>
              </a:spcAft>
              <a:defRPr/>
            </a:lvl4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861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文字_雙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75999" y="648000"/>
            <a:ext cx="5423991" cy="576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1"/>
          </p:nvPr>
        </p:nvSpPr>
        <p:spPr>
          <a:xfrm>
            <a:off x="6096000" y="648000"/>
            <a:ext cx="5281083" cy="576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604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_雙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76000" y="1007999"/>
            <a:ext cx="5423989" cy="540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1"/>
          </p:nvPr>
        </p:nvSpPr>
        <p:spPr>
          <a:xfrm>
            <a:off x="6096000" y="1008000"/>
            <a:ext cx="5280000" cy="540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507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範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719667" y="1268072"/>
            <a:ext cx="10752667" cy="1728880"/>
          </a:xfrm>
          <a:ln w="19050" cmpd="sng">
            <a:gradFill>
              <a:gsLst>
                <a:gs pos="0">
                  <a:schemeClr val="bg1"/>
                </a:gs>
                <a:gs pos="68000">
                  <a:srgbClr val="EB5405"/>
                </a:gs>
                <a:gs pos="100000">
                  <a:srgbClr val="EB5405"/>
                </a:gs>
              </a:gsLst>
              <a:lin ang="4200000" scaled="0"/>
            </a:gradFill>
          </a:ln>
        </p:spPr>
        <p:txBody>
          <a:bodyPr wrap="square" lIns="252000" tIns="360000" rIns="180000" bIns="72000">
            <a:noAutofit/>
          </a:bodyPr>
          <a:lstStyle>
            <a:lvl1pPr>
              <a:lnSpc>
                <a:spcPts val="2400"/>
              </a:lnSpc>
              <a:spcBef>
                <a:spcPts val="600"/>
              </a:spcBef>
              <a:defRPr sz="1800" b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6" name="文字版面配置區 8"/>
          <p:cNvSpPr>
            <a:spLocks noGrp="1"/>
          </p:cNvSpPr>
          <p:nvPr>
            <p:ph type="body" sz="quarter" idx="12"/>
          </p:nvPr>
        </p:nvSpPr>
        <p:spPr>
          <a:xfrm>
            <a:off x="623392" y="987971"/>
            <a:ext cx="4420350" cy="488201"/>
          </a:xfrm>
          <a:gradFill flip="none" rotWithShape="1">
            <a:gsLst>
              <a:gs pos="0">
                <a:schemeClr val="bg1"/>
              </a:gs>
              <a:gs pos="50000">
                <a:srgbClr val="EB5405"/>
              </a:gs>
              <a:gs pos="100000">
                <a:schemeClr val="accent6"/>
              </a:gs>
            </a:gsLst>
            <a:lin ang="14400000" scaled="0"/>
            <a:tileRect/>
          </a:gradFill>
          <a:ln w="1905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wrap="none" lIns="180000" tIns="72000" rIns="5400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u="none" baseline="0">
                <a:solidFill>
                  <a:schemeClr val="bg1"/>
                </a:solidFill>
                <a:latin typeface="Arial Black" pitchFamily="34" charset="0"/>
                <a:ea typeface="+mj-ea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2192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719667" y="1484785"/>
            <a:ext cx="10752667" cy="3226726"/>
          </a:xfrm>
          <a:ln w="19050" cmpd="sng">
            <a:gradFill>
              <a:gsLst>
                <a:gs pos="0">
                  <a:schemeClr val="bg1"/>
                </a:gs>
                <a:gs pos="68000">
                  <a:srgbClr val="BE2856"/>
                </a:gs>
                <a:gs pos="100000">
                  <a:srgbClr val="3D3B5F"/>
                </a:gs>
              </a:gsLst>
              <a:lin ang="4200000" scaled="0"/>
            </a:gradFill>
          </a:ln>
        </p:spPr>
        <p:txBody>
          <a:bodyPr lIns="252000" tIns="360000" rIns="180000" bIns="72000">
            <a:spAutoFit/>
          </a:bodyPr>
          <a:lstStyle>
            <a:lvl1pPr>
              <a:lnSpc>
                <a:spcPts val="2400"/>
              </a:lnSpc>
              <a:defRPr sz="2200" b="0">
                <a:solidFill>
                  <a:schemeClr val="tx1"/>
                </a:solidFill>
              </a:defRPr>
            </a:lvl1pPr>
            <a:lvl2pPr>
              <a:defRPr>
                <a:solidFill>
                  <a:srgbClr val="8FC320"/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  <a:lvl5pPr>
              <a:buClr>
                <a:srgbClr val="B5D14F"/>
              </a:buClr>
              <a:buFont typeface="Wingdings" pitchFamily="2" charset="2"/>
              <a:buChar char="n"/>
              <a:defRPr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en-US" altLang="zh-TW" dirty="0" smtClean="0"/>
          </a:p>
          <a:p>
            <a:pPr lvl="4"/>
            <a:endParaRPr lang="zh-TW" altLang="en-US" dirty="0"/>
          </a:p>
        </p:txBody>
      </p:sp>
      <p:sp>
        <p:nvSpPr>
          <p:cNvPr id="6" name="文字版面配置區 8"/>
          <p:cNvSpPr>
            <a:spLocks noGrp="1"/>
          </p:cNvSpPr>
          <p:nvPr>
            <p:ph type="body" sz="quarter" idx="12"/>
          </p:nvPr>
        </p:nvSpPr>
        <p:spPr>
          <a:xfrm>
            <a:off x="623392" y="1196753"/>
            <a:ext cx="6240693" cy="504056"/>
          </a:xfrm>
          <a:gradFill flip="none" rotWithShape="1">
            <a:gsLst>
              <a:gs pos="0">
                <a:schemeClr val="bg1"/>
              </a:gs>
              <a:gs pos="50000">
                <a:srgbClr val="BE2856"/>
              </a:gs>
              <a:gs pos="100000">
                <a:srgbClr val="3D3B5F"/>
              </a:gs>
            </a:gsLst>
            <a:lin ang="14400000" scaled="0"/>
            <a:tileRect/>
          </a:gra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lIns="180000" tIns="72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i="0" u="none" baseline="0">
                <a:solidFill>
                  <a:schemeClr val="bg1"/>
                </a:solidFill>
                <a:latin typeface="Arial Black" pitchFamily="34" charset="0"/>
                <a:ea typeface="+mj-ea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grpSp>
        <p:nvGrpSpPr>
          <p:cNvPr id="17" name="群組 16"/>
          <p:cNvGrpSpPr/>
          <p:nvPr userDrawn="1"/>
        </p:nvGrpSpPr>
        <p:grpSpPr>
          <a:xfrm>
            <a:off x="856549" y="6200930"/>
            <a:ext cx="1399024" cy="503533"/>
            <a:chOff x="899592" y="6237835"/>
            <a:chExt cx="1049268" cy="503533"/>
          </a:xfrm>
        </p:grpSpPr>
        <p:sp>
          <p:nvSpPr>
            <p:cNvPr id="18" name="弧形向右箭號 17"/>
            <p:cNvSpPr/>
            <p:nvPr/>
          </p:nvSpPr>
          <p:spPr>
            <a:xfrm rot="612716">
              <a:off x="899592" y="6237835"/>
              <a:ext cx="440592" cy="503533"/>
            </a:xfrm>
            <a:prstGeom prst="curvedRightArrow">
              <a:avLst/>
            </a:prstGeom>
            <a:gradFill>
              <a:gsLst>
                <a:gs pos="0">
                  <a:schemeClr val="bg1"/>
                </a:gs>
                <a:gs pos="50000">
                  <a:srgbClr val="BE2856"/>
                </a:gs>
                <a:gs pos="100000">
                  <a:srgbClr val="3D3B5F"/>
                </a:gs>
              </a:gsLst>
              <a:lin ang="3600000" scaled="0"/>
            </a:gradFill>
            <a:ln w="952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940748" y="6304512"/>
              <a:ext cx="1008112" cy="30777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D3B5F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續下頁</a:t>
              </a:r>
              <a:endPara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D3B5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</p:grpSp>
      <p:cxnSp>
        <p:nvCxnSpPr>
          <p:cNvPr id="8" name="直線單箭頭接點 7"/>
          <p:cNvCxnSpPr/>
          <p:nvPr userDrawn="1"/>
        </p:nvCxnSpPr>
        <p:spPr>
          <a:xfrm>
            <a:off x="2639616" y="6021288"/>
            <a:ext cx="480053" cy="648072"/>
          </a:xfrm>
          <a:prstGeom prst="straightConnector1">
            <a:avLst/>
          </a:prstGeom>
          <a:ln>
            <a:solidFill>
              <a:srgbClr val="BE2856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 userDrawn="1"/>
        </p:nvCxnSpPr>
        <p:spPr>
          <a:xfrm>
            <a:off x="3503712" y="6237312"/>
            <a:ext cx="2976331" cy="0"/>
          </a:xfrm>
          <a:prstGeom prst="line">
            <a:avLst/>
          </a:prstGeom>
          <a:ln w="38100" cmpd="sng">
            <a:solidFill>
              <a:srgbClr val="BE28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7056107" y="5949280"/>
            <a:ext cx="480053" cy="432048"/>
          </a:xfrm>
          <a:prstGeom prst="rect">
            <a:avLst/>
          </a:prstGeom>
          <a:solidFill>
            <a:srgbClr val="4679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7824192" y="5949280"/>
            <a:ext cx="480053" cy="432048"/>
          </a:xfrm>
          <a:prstGeom prst="rect">
            <a:avLst/>
          </a:prstGeom>
          <a:solidFill>
            <a:srgbClr val="8F3B8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16" name="群組 15"/>
          <p:cNvGrpSpPr/>
          <p:nvPr userDrawn="1"/>
        </p:nvGrpSpPr>
        <p:grpSpPr>
          <a:xfrm>
            <a:off x="8976320" y="5605201"/>
            <a:ext cx="772165" cy="646331"/>
            <a:chOff x="6732240" y="5605200"/>
            <a:chExt cx="579124" cy="646331"/>
          </a:xfrm>
          <a:solidFill>
            <a:srgbClr val="8FC320"/>
          </a:solidFill>
        </p:grpSpPr>
        <p:sp>
          <p:nvSpPr>
            <p:cNvPr id="12" name="橢圓形圖說文字 11"/>
            <p:cNvSpPr/>
            <p:nvPr userDrawn="1"/>
          </p:nvSpPr>
          <p:spPr>
            <a:xfrm flipH="1">
              <a:off x="6732240" y="5622113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D14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3" name="文字方塊 12"/>
            <p:cNvSpPr txBox="1"/>
            <p:nvPr userDrawn="1"/>
          </p:nvSpPr>
          <p:spPr>
            <a:xfrm>
              <a:off x="6778800" y="5605200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EECE1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回</a:t>
              </a:r>
              <a:endParaRPr kumimoji="0" lang="en-US" altLang="zh-TW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1" i="0" u="none" strike="noStrike" kern="1200" cap="none" spc="0" normalizeH="0" baseline="20000" noProof="0" dirty="0" smtClean="0">
                  <a:ln>
                    <a:noFill/>
                  </a:ln>
                  <a:solidFill>
                    <a:srgbClr val="EEECE1"/>
                  </a:solidFill>
                  <a:effectLst/>
                  <a:uLnTx/>
                  <a:uFillTx/>
                  <a:latin typeface="Arial"/>
                  <a:ea typeface="微軟正黑體" panose="020B0604030504040204" pitchFamily="34" charset="-120"/>
                  <a:cs typeface="+mn-cs"/>
                </a:rPr>
                <a:t>首頁</a:t>
              </a:r>
              <a:endParaRPr kumimoji="0" lang="zh-TW" altLang="en-US" sz="1800" b="1" i="0" u="none" strike="noStrike" kern="1200" cap="none" spc="0" normalizeH="0" baseline="2000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</p:grpSp>
      <p:sp>
        <p:nvSpPr>
          <p:cNvPr id="20" name="文字版面配置區 4"/>
          <p:cNvSpPr>
            <a:spLocks noGrp="1"/>
          </p:cNvSpPr>
          <p:nvPr>
            <p:ph type="body" sz="quarter" idx="10"/>
          </p:nvPr>
        </p:nvSpPr>
        <p:spPr>
          <a:xfrm>
            <a:off x="10224459" y="6021288"/>
            <a:ext cx="1665600" cy="468000"/>
          </a:xfrm>
          <a:gradFill>
            <a:gsLst>
              <a:gs pos="0">
                <a:schemeClr val="bg1"/>
              </a:gs>
              <a:gs pos="50000">
                <a:srgbClr val="BE2856"/>
              </a:gs>
              <a:gs pos="100000">
                <a:srgbClr val="3D3B5F"/>
              </a:gs>
            </a:gsLst>
            <a:lin ang="3600000" scaled="0"/>
          </a:gradFill>
          <a:ln>
            <a:solidFill>
              <a:schemeClr val="bg1"/>
            </a:solidFill>
          </a:ln>
          <a:effectLst>
            <a:outerShdw blurRad="25400" dist="12700" dir="13500000" algn="br" rotWithShape="0">
              <a:prstClr val="black">
                <a:alpha val="40000"/>
              </a:prstClr>
            </a:outerShdw>
          </a:effectLst>
        </p:spPr>
        <p:txBody>
          <a:bodyPr lIns="90000" tIns="0">
            <a:noAutofit/>
          </a:bodyPr>
          <a:lstStyle>
            <a:lvl1pPr algn="r"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 dirty="0" smtClean="0"/>
              <a:t>按一下以編輯母片文字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4273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3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CE91E-327E-4E20-800A-13107E1D90F2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65CAB-02DB-488B-A5D1-1CF437BFD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05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812800" y="836712"/>
            <a:ext cx="10871200" cy="57606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816864" y="1484784"/>
            <a:ext cx="10871200" cy="452628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  <a:endParaRPr kumimoji="0" lang="en-US" altLang="zh-TW" dirty="0" smtClean="0"/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altLang="zh-TW" dirty="0" smtClean="0"/>
          </a:p>
          <a:p>
            <a:pPr lvl="5" eaLnBrk="1" latinLnBrk="0" hangingPunct="1"/>
            <a:endParaRPr kumimoji="0" lang="en-US" altLang="zh-TW" dirty="0" smtClean="0"/>
          </a:p>
          <a:p>
            <a:pPr lvl="5" eaLnBrk="1" latinLnBrk="0" hangingPunct="1"/>
            <a:endParaRPr kumimoji="0" lang="en-US" altLang="zh-TW" dirty="0" smtClean="0"/>
          </a:p>
          <a:p>
            <a:pPr lvl="5" eaLnBrk="1" latinLnBrk="0" hangingPunct="1"/>
            <a:endParaRPr kumimoji="0" lang="en-US" altLang="zh-TW" dirty="0" smtClean="0"/>
          </a:p>
          <a:p>
            <a:pPr lvl="6" eaLnBrk="1" latinLnBrk="0" hangingPunct="1"/>
            <a:endParaRPr kumimoji="0" lang="en-US" altLang="zh-TW" dirty="0" smtClean="0"/>
          </a:p>
          <a:p>
            <a:pPr lvl="5" eaLnBrk="1" latinLnBrk="0" hangingPunct="1"/>
            <a:endParaRPr kumimoji="0" lang="en-US" altLang="zh-TW" dirty="0" smtClean="0"/>
          </a:p>
          <a:p>
            <a:pPr lvl="5" eaLnBrk="1" latinLnBrk="0" hangingPunct="1"/>
            <a:endParaRPr kumimoji="0"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704591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marL="216000" indent="-216000" algn="l" rtl="0" eaLnBrk="1" latinLnBrk="0" hangingPunct="1">
        <a:lnSpc>
          <a:spcPts val="3400"/>
        </a:lnSpc>
        <a:spcBef>
          <a:spcPct val="0"/>
        </a:spcBef>
        <a:buSzPct val="80000"/>
        <a:buFontTx/>
        <a:buNone/>
        <a:defRPr kumimoji="0" sz="3200" b="1" u="none" kern="1200" baseline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j-ea"/>
          <a:cs typeface="+mj-cs"/>
        </a:defRPr>
      </a:lvl1pPr>
    </p:titleStyle>
    <p:bodyStyle>
      <a:lvl1pPr marL="0" indent="0" algn="l" rtl="0" eaLnBrk="1" latinLnBrk="0" hangingPunct="1">
        <a:lnSpc>
          <a:spcPct val="150000"/>
        </a:lnSpc>
        <a:spcBef>
          <a:spcPts val="0"/>
        </a:spcBef>
        <a:buClr>
          <a:schemeClr val="accent3">
            <a:lumMod val="75000"/>
          </a:schemeClr>
        </a:buClr>
        <a:buSzPct val="100000"/>
        <a:buFontTx/>
        <a:buNone/>
        <a:defRPr kumimoji="0" sz="3200" b="1" u="none" kern="1200" baseline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j-ea"/>
          <a:cs typeface="+mn-cs"/>
        </a:defRPr>
      </a:lvl1pPr>
      <a:lvl2pPr marL="0" indent="0" algn="l" rtl="0" eaLnBrk="1" latinLnBrk="0" hangingPunct="1">
        <a:lnSpc>
          <a:spcPct val="100000"/>
        </a:lnSpc>
        <a:spcBef>
          <a:spcPts val="1200"/>
        </a:spcBef>
        <a:buClr>
          <a:schemeClr val="accent3">
            <a:lumMod val="75000"/>
          </a:schemeClr>
        </a:buClr>
        <a:buSzPct val="90000"/>
        <a:buFontTx/>
        <a:buNone/>
        <a:defRPr kumimoji="0" sz="2800" b="1" kern="1200">
          <a:solidFill>
            <a:srgbClr val="8FC320"/>
          </a:solidFill>
          <a:latin typeface="+mj-ea"/>
          <a:ea typeface="+mj-ea"/>
          <a:cs typeface="+mn-cs"/>
        </a:defRPr>
      </a:lvl2pPr>
      <a:lvl3pPr marL="360000" indent="-360000" algn="l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rgbClr val="AE2A7F"/>
        </a:buClr>
        <a:buSzPct val="90000"/>
        <a:buFontTx/>
        <a:buNone/>
        <a:defRPr kumimoji="0" sz="2500" b="1" u="dottedHeavy" kern="1200" baseline="0">
          <a:solidFill>
            <a:srgbClr val="C67A48"/>
          </a:solidFill>
          <a:latin typeface="+mj-ea"/>
          <a:ea typeface="+mj-ea"/>
          <a:cs typeface="+mn-cs"/>
        </a:defRPr>
      </a:lvl3pPr>
      <a:lvl4pPr marL="0" indent="0" algn="l" rtl="0" eaLnBrk="1" latinLnBrk="0" hangingPunct="1">
        <a:lnSpc>
          <a:spcPts val="2800"/>
        </a:lnSpc>
        <a:spcBef>
          <a:spcPts val="800"/>
        </a:spcBef>
        <a:spcAft>
          <a:spcPts val="0"/>
        </a:spcAft>
        <a:buClrTx/>
        <a:buSzPct val="100000"/>
        <a:buFont typeface="+mj-lt"/>
        <a:buNone/>
        <a:defRPr kumimoji="0"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360000" marR="0" indent="-342900" algn="l" defTabSz="914400" rtl="0" eaLnBrk="1" fontAlgn="auto" latinLnBrk="0" hangingPunct="1">
        <a:lnSpc>
          <a:spcPts val="2800"/>
        </a:lnSpc>
        <a:spcBef>
          <a:spcPts val="600"/>
        </a:spcBef>
        <a:spcAft>
          <a:spcPts val="0"/>
        </a:spcAft>
        <a:buClrTx/>
        <a:buSzPct val="100000"/>
        <a:buFont typeface="+mj-lt"/>
        <a:buAutoNum type="arabicPeriod"/>
        <a:tabLst/>
        <a:defRPr kumimoji="0" sz="1800" b="0" kern="1200">
          <a:solidFill>
            <a:schemeClr val="tx1"/>
          </a:solidFill>
          <a:latin typeface="+mj-ea"/>
          <a:ea typeface="+mj-ea"/>
          <a:cs typeface="+mn-cs"/>
        </a:defRPr>
      </a:lvl5pPr>
      <a:lvl6pPr marL="360000" indent="-342000" algn="l" rtl="0" eaLnBrk="1" latinLnBrk="0" hangingPunct="1">
        <a:lnSpc>
          <a:spcPct val="100000"/>
        </a:lnSpc>
        <a:spcBef>
          <a:spcPts val="600"/>
        </a:spcBef>
        <a:buClr>
          <a:srgbClr val="C67A48"/>
        </a:buClr>
        <a:buFont typeface="Wingdings" pitchFamily="2" charset="2"/>
        <a:buChar char="n"/>
        <a:defRPr kumimoji="0" sz="1800" kern="1200" baseline="0">
          <a:solidFill>
            <a:schemeClr val="tx1"/>
          </a:solidFill>
          <a:latin typeface="+mn-ea"/>
          <a:ea typeface="+mn-ea"/>
          <a:cs typeface="+mn-cs"/>
        </a:defRPr>
      </a:lvl6pPr>
      <a:lvl7pPr marL="936000" indent="-228600" algn="l" rtl="0" eaLnBrk="1" latinLnBrk="0" hangingPunct="1">
        <a:spcBef>
          <a:spcPts val="600"/>
        </a:spcBef>
        <a:buClrTx/>
        <a:buFont typeface="Wingdings" pitchFamily="2" charset="2"/>
        <a:buChar char="n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l73A59" TargetMode="External"/><Relationship Id="rId2" Type="http://schemas.openxmlformats.org/officeDocument/2006/relationships/hyperlink" Target="https://reurl.cc/o5lyq5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reurl.cc/ZyY34Q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367481" y="1869689"/>
            <a:ext cx="9457037" cy="2305050"/>
          </a:xfrm>
        </p:spPr>
        <p:txBody>
          <a:bodyPr anchor="ctr">
            <a:normAutofit/>
          </a:bodyPr>
          <a:lstStyle/>
          <a:p>
            <a:r>
              <a:rPr lang="en-US" altLang="zh-TW" sz="660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Evaluation Model Tools</a:t>
            </a:r>
            <a:endParaRPr lang="es-ES" altLang="zh-TW" sz="3600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51" name="Rectangle 29"/>
          <p:cNvSpPr>
            <a:spLocks noGrp="1" noChangeArrowheads="1"/>
          </p:cNvSpPr>
          <p:nvPr>
            <p:ph type="subTitle" idx="1"/>
          </p:nvPr>
        </p:nvSpPr>
        <p:spPr>
          <a:xfrm>
            <a:off x="2782888" y="5084763"/>
            <a:ext cx="6400800" cy="696912"/>
          </a:xfrm>
        </p:spPr>
        <p:txBody>
          <a:bodyPr/>
          <a:lstStyle/>
          <a:p>
            <a:pPr eaLnBrk="1" hangingPunct="1"/>
            <a:r>
              <a:rPr lang="en-US" altLang="zh-TW" sz="3200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Chih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Cheng Wu 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吳志成</a:t>
            </a:r>
            <a:endParaRPr lang="zh-TW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0058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95617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Topics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32321" y="1421179"/>
            <a:ext cx="10856495" cy="5143249"/>
          </a:xfrm>
        </p:spPr>
        <p:txBody>
          <a:bodyPr>
            <a:normAutofit/>
          </a:bodyPr>
          <a:lstStyle/>
          <a:p>
            <a:r>
              <a:rPr lang="en-US" altLang="zh-TW" sz="440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Evaluation Model Tools</a:t>
            </a:r>
          </a:p>
          <a:p>
            <a:r>
              <a:rPr lang="en-US" altLang="zh-TW" sz="40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A. Tool-1: Confusion Matrix</a:t>
            </a:r>
          </a:p>
          <a:p>
            <a:r>
              <a:rPr lang="en-US" altLang="zh-TW" sz="40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B. Tool-2: Lift Chart</a:t>
            </a:r>
          </a:p>
          <a:p>
            <a:r>
              <a:rPr lang="en-US" altLang="zh-TW" sz="40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C. Tool-3: </a:t>
            </a:r>
            <a:r>
              <a:rPr lang="en-US" altLang="zh-TW" sz="40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ROC Curve Drawing Principle</a:t>
            </a:r>
            <a:endParaRPr lang="zh-TW" altLang="en-US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9171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99699" y="172619"/>
            <a:ext cx="10515600" cy="1049789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A.Tool-1: Confusion Matrix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830" y="1380790"/>
            <a:ext cx="8846587" cy="52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83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97" y="119070"/>
            <a:ext cx="10942857" cy="6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98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945" y="288929"/>
            <a:ext cx="5799295" cy="456718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4" name="爆炸 1 3"/>
          <p:cNvSpPr/>
          <p:nvPr/>
        </p:nvSpPr>
        <p:spPr>
          <a:xfrm>
            <a:off x="380211" y="1573427"/>
            <a:ext cx="4366054" cy="2136803"/>
          </a:xfrm>
          <a:prstGeom prst="irregularSeal1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混淆矩陣 </a:t>
            </a:r>
            <a:r>
              <a:rPr lang="en-US" altLang="zh-TW" sz="20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Confusion Matrix</a:t>
            </a:r>
            <a:endParaRPr lang="zh-TW" altLang="en-US" sz="2000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56945" y="5528361"/>
            <a:ext cx="5972432" cy="112858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bg1"/>
                </a:solidFill>
                <a:latin typeface="+mn-ea"/>
              </a:rPr>
              <a:t>第一個字是猜對</a:t>
            </a:r>
            <a:r>
              <a:rPr lang="en-US" altLang="zh-TW" dirty="0">
                <a:solidFill>
                  <a:schemeClr val="bg1"/>
                </a:solidFill>
                <a:latin typeface="+mn-ea"/>
              </a:rPr>
              <a:t>T</a:t>
            </a:r>
            <a:r>
              <a:rPr lang="zh-TW" altLang="en-US" dirty="0">
                <a:solidFill>
                  <a:schemeClr val="bg1"/>
                </a:solidFill>
                <a:latin typeface="+mn-ea"/>
              </a:rPr>
              <a:t>或猜錯</a:t>
            </a:r>
            <a:r>
              <a:rPr lang="en-US" altLang="zh-TW" dirty="0">
                <a:solidFill>
                  <a:schemeClr val="bg1"/>
                </a:solidFill>
                <a:latin typeface="+mn-ea"/>
              </a:rPr>
              <a:t>F</a:t>
            </a:r>
          </a:p>
          <a:p>
            <a:pPr algn="ctr"/>
            <a:r>
              <a:rPr lang="zh-TW" altLang="en-US" dirty="0">
                <a:solidFill>
                  <a:schemeClr val="bg1"/>
                </a:solidFill>
                <a:latin typeface="+mn-ea"/>
              </a:rPr>
              <a:t>第二個字是猜的是</a:t>
            </a:r>
            <a:r>
              <a:rPr lang="en-US" altLang="zh-TW" dirty="0">
                <a:solidFill>
                  <a:schemeClr val="bg1"/>
                </a:solidFill>
                <a:latin typeface="+mn-ea"/>
              </a:rPr>
              <a:t>P</a:t>
            </a:r>
            <a:r>
              <a:rPr lang="zh-TW" altLang="en-US" dirty="0">
                <a:solidFill>
                  <a:schemeClr val="bg1"/>
                </a:solidFill>
                <a:latin typeface="+mn-ea"/>
              </a:rPr>
              <a:t>或</a:t>
            </a:r>
            <a:r>
              <a:rPr lang="en-US" altLang="zh-TW" dirty="0" smtClean="0">
                <a:solidFill>
                  <a:schemeClr val="bg1"/>
                </a:solidFill>
                <a:latin typeface="+mn-ea"/>
              </a:rPr>
              <a:t>N</a:t>
            </a:r>
            <a:endParaRPr lang="zh-TW" altLang="en-US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3550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>
          <a:xfrm>
            <a:off x="291326" y="569072"/>
            <a:ext cx="11639005" cy="6211290"/>
          </a:xfrm>
        </p:spPr>
        <p:txBody>
          <a:bodyPr/>
          <a:lstStyle/>
          <a:p>
            <a:pPr lvl="1"/>
            <a:r>
              <a:rPr lang="en-US" altLang="zh-TW" dirty="0"/>
              <a:t>9.2.4 </a:t>
            </a:r>
            <a:r>
              <a:rPr lang="zh-TW" altLang="en-US" dirty="0" smtClean="0"/>
              <a:t>混淆</a:t>
            </a:r>
            <a:r>
              <a:rPr lang="zh-TW" altLang="en-US" dirty="0"/>
              <a:t>矩陣 </a:t>
            </a:r>
            <a:r>
              <a:rPr lang="en-US" altLang="zh-TW" dirty="0" smtClean="0"/>
              <a:t>Confusion Matrix</a:t>
            </a:r>
          </a:p>
          <a:p>
            <a:pPr lvl="2"/>
            <a:r>
              <a:rPr lang="zh-TW" altLang="en-US" sz="1800" dirty="0" smtClean="0">
                <a:solidFill>
                  <a:schemeClr val="tx1"/>
                </a:solidFill>
              </a:rPr>
              <a:t>預測</a:t>
            </a:r>
            <a:r>
              <a:rPr lang="zh-TW" altLang="en-US" sz="1800" dirty="0">
                <a:solidFill>
                  <a:schemeClr val="tx1"/>
                </a:solidFill>
              </a:rPr>
              <a:t>值與目標值可能的組合情況有四種如下：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lvl="3"/>
            <a:r>
              <a:rPr lang="en-US" altLang="zh-TW" dirty="0"/>
              <a:t> </a:t>
            </a:r>
            <a:r>
              <a:rPr lang="en-US" altLang="zh-TW" dirty="0" smtClean="0"/>
              <a:t>      </a:t>
            </a:r>
            <a:r>
              <a:rPr lang="zh-TW" altLang="en-US" dirty="0" smtClean="0">
                <a:solidFill>
                  <a:srgbClr val="FF00FF"/>
                </a:solidFill>
              </a:rPr>
              <a:t>由</a:t>
            </a:r>
            <a:r>
              <a:rPr lang="en-US" altLang="zh-TW" dirty="0" smtClean="0">
                <a:solidFill>
                  <a:srgbClr val="FF00FF"/>
                </a:solidFill>
              </a:rPr>
              <a:t>TP</a:t>
            </a:r>
            <a:r>
              <a:rPr lang="zh-TW" altLang="en-US" dirty="0">
                <a:solidFill>
                  <a:srgbClr val="FF00FF"/>
                </a:solidFill>
              </a:rPr>
              <a:t>、</a:t>
            </a:r>
            <a:r>
              <a:rPr lang="en-US" altLang="zh-TW" dirty="0">
                <a:solidFill>
                  <a:srgbClr val="FF00FF"/>
                </a:solidFill>
              </a:rPr>
              <a:t>FP</a:t>
            </a:r>
            <a:r>
              <a:rPr lang="zh-TW" altLang="en-US" dirty="0">
                <a:solidFill>
                  <a:srgbClr val="FF00FF"/>
                </a:solidFill>
              </a:rPr>
              <a:t>、</a:t>
            </a:r>
            <a:r>
              <a:rPr lang="en-US" altLang="zh-TW" dirty="0">
                <a:solidFill>
                  <a:srgbClr val="FF00FF"/>
                </a:solidFill>
              </a:rPr>
              <a:t>FN</a:t>
            </a:r>
            <a:r>
              <a:rPr lang="zh-TW" altLang="en-US" dirty="0">
                <a:solidFill>
                  <a:srgbClr val="FF00FF"/>
                </a:solidFill>
              </a:rPr>
              <a:t>、</a:t>
            </a:r>
            <a:r>
              <a:rPr lang="en-US" altLang="zh-TW" dirty="0">
                <a:solidFill>
                  <a:srgbClr val="FF00FF"/>
                </a:solidFill>
              </a:rPr>
              <a:t>TN </a:t>
            </a:r>
            <a:r>
              <a:rPr lang="zh-TW" altLang="en-US" dirty="0">
                <a:solidFill>
                  <a:srgbClr val="FF00FF"/>
                </a:solidFill>
              </a:rPr>
              <a:t>組成的</a:t>
            </a:r>
            <a:r>
              <a:rPr lang="zh-TW" altLang="en-US" dirty="0" smtClean="0">
                <a:solidFill>
                  <a:srgbClr val="FF00FF"/>
                </a:solidFill>
              </a:rPr>
              <a:t>矩陣</a:t>
            </a:r>
            <a:endParaRPr lang="en-US" altLang="zh-TW" dirty="0" smtClean="0">
              <a:solidFill>
                <a:srgbClr val="FF00FF"/>
              </a:solidFill>
            </a:endParaRPr>
          </a:p>
          <a:p>
            <a:pPr lvl="3"/>
            <a:r>
              <a:rPr lang="en-US" altLang="zh-TW" dirty="0">
                <a:solidFill>
                  <a:srgbClr val="FF00FF"/>
                </a:solidFill>
              </a:rPr>
              <a:t> </a:t>
            </a:r>
            <a:r>
              <a:rPr lang="en-US" altLang="zh-TW" dirty="0" smtClean="0">
                <a:solidFill>
                  <a:srgbClr val="FF00FF"/>
                </a:solidFill>
              </a:rPr>
              <a:t>      (</a:t>
            </a:r>
            <a:r>
              <a:rPr lang="zh-TW" altLang="en-US" dirty="0" smtClean="0">
                <a:solidFill>
                  <a:srgbClr val="FF00FF"/>
                </a:solidFill>
              </a:rPr>
              <a:t>第一個字是猜對</a:t>
            </a:r>
            <a:r>
              <a:rPr lang="en-US" altLang="zh-TW" dirty="0" smtClean="0">
                <a:solidFill>
                  <a:srgbClr val="FF00FF"/>
                </a:solidFill>
              </a:rPr>
              <a:t>T</a:t>
            </a:r>
            <a:r>
              <a:rPr lang="zh-TW" altLang="en-US" dirty="0" smtClean="0">
                <a:solidFill>
                  <a:srgbClr val="FF00FF"/>
                </a:solidFill>
              </a:rPr>
              <a:t>或猜錯</a:t>
            </a:r>
            <a:r>
              <a:rPr lang="en-US" altLang="zh-TW" dirty="0" smtClean="0">
                <a:solidFill>
                  <a:srgbClr val="FF00FF"/>
                </a:solidFill>
              </a:rPr>
              <a:t>F/</a:t>
            </a:r>
            <a:r>
              <a:rPr lang="zh-TW" altLang="en-US" dirty="0" smtClean="0">
                <a:solidFill>
                  <a:srgbClr val="FF00FF"/>
                </a:solidFill>
              </a:rPr>
              <a:t>第二個字是猜的是</a:t>
            </a:r>
            <a:r>
              <a:rPr lang="en-US" altLang="zh-TW" dirty="0" smtClean="0">
                <a:solidFill>
                  <a:srgbClr val="FF00FF"/>
                </a:solidFill>
              </a:rPr>
              <a:t>P</a:t>
            </a:r>
            <a:r>
              <a:rPr lang="zh-TW" altLang="en-US" dirty="0" smtClean="0">
                <a:solidFill>
                  <a:srgbClr val="FF00FF"/>
                </a:solidFill>
              </a:rPr>
              <a:t>或</a:t>
            </a:r>
            <a:r>
              <a:rPr lang="en-US" altLang="zh-TW" dirty="0" smtClean="0">
                <a:solidFill>
                  <a:srgbClr val="FF00FF"/>
                </a:solidFill>
              </a:rPr>
              <a:t>N)</a:t>
            </a:r>
            <a:endParaRPr lang="zh-TW" altLang="en-US" dirty="0">
              <a:solidFill>
                <a:srgbClr val="FF00FF"/>
              </a:solidFill>
            </a:endParaRPr>
          </a:p>
          <a:p>
            <a:pPr lvl="3"/>
            <a:r>
              <a:rPr lang="en-US" altLang="zh-TW" dirty="0" smtClean="0"/>
              <a:t>1.</a:t>
            </a:r>
            <a:r>
              <a:rPr lang="zh-TW" altLang="en-US" dirty="0" smtClean="0"/>
              <a:t>精確率</a:t>
            </a:r>
            <a:r>
              <a:rPr lang="en-US" altLang="zh-TW" dirty="0" smtClean="0"/>
              <a:t> Precision</a:t>
            </a:r>
            <a:r>
              <a:rPr lang="zh-TW" altLang="en-US" dirty="0" smtClean="0"/>
              <a:t>公式</a:t>
            </a:r>
            <a:r>
              <a:rPr lang="zh-TW" altLang="en-US" dirty="0"/>
              <a:t>為</a:t>
            </a:r>
            <a:r>
              <a:rPr lang="zh-TW" altLang="en-US" dirty="0" smtClean="0"/>
              <a:t>：                                 </a:t>
            </a:r>
            <a:r>
              <a:rPr lang="zh-TW" altLang="en-US" dirty="0" smtClean="0">
                <a:solidFill>
                  <a:srgbClr val="0000FF"/>
                </a:solidFill>
              </a:rPr>
              <a:t>預測</a:t>
            </a:r>
            <a:r>
              <a:rPr lang="zh-TW" altLang="en-US" dirty="0">
                <a:solidFill>
                  <a:srgbClr val="0000FF"/>
                </a:solidFill>
              </a:rPr>
              <a:t>值為</a:t>
            </a:r>
            <a:r>
              <a:rPr lang="zh-TW" altLang="en-US" dirty="0" smtClean="0">
                <a:solidFill>
                  <a:srgbClr val="0000FF"/>
                </a:solidFill>
              </a:rPr>
              <a:t>正且正確者</a:t>
            </a:r>
            <a:r>
              <a:rPr lang="en-US" altLang="zh-TW" dirty="0" smtClean="0">
                <a:solidFill>
                  <a:srgbClr val="FF0000"/>
                </a:solidFill>
              </a:rPr>
              <a:t>/</a:t>
            </a:r>
            <a:r>
              <a:rPr lang="zh-TW" altLang="en-US" dirty="0">
                <a:solidFill>
                  <a:srgbClr val="FF0000"/>
                </a:solidFill>
              </a:rPr>
              <a:t>所有</a:t>
            </a:r>
            <a:r>
              <a:rPr lang="zh-TW" altLang="en-US" dirty="0" smtClean="0">
                <a:solidFill>
                  <a:srgbClr val="FF0000"/>
                </a:solidFill>
              </a:rPr>
              <a:t>預測值為正例者</a:t>
            </a:r>
            <a:r>
              <a:rPr lang="en-US" altLang="zh-TW" dirty="0" smtClean="0">
                <a:solidFill>
                  <a:srgbClr val="C00000"/>
                </a:solidFill>
              </a:rPr>
              <a:t>(</a:t>
            </a:r>
            <a:r>
              <a:rPr lang="zh-TW" altLang="en-US" dirty="0" smtClean="0">
                <a:solidFill>
                  <a:srgbClr val="C00000"/>
                </a:solidFill>
              </a:rPr>
              <a:t>說</a:t>
            </a:r>
            <a:r>
              <a:rPr lang="en-US" altLang="zh-TW" dirty="0" smtClean="0">
                <a:solidFill>
                  <a:srgbClr val="C00000"/>
                </a:solidFill>
              </a:rPr>
              <a:t>【</a:t>
            </a:r>
            <a:r>
              <a:rPr lang="zh-TW" altLang="en-US" dirty="0" smtClean="0">
                <a:solidFill>
                  <a:srgbClr val="C00000"/>
                </a:solidFill>
              </a:rPr>
              <a:t>是</a:t>
            </a:r>
            <a:r>
              <a:rPr lang="en-US" altLang="zh-TW" dirty="0">
                <a:solidFill>
                  <a:srgbClr val="C00000"/>
                </a:solidFill>
              </a:rPr>
              <a:t>】</a:t>
            </a:r>
            <a:r>
              <a:rPr lang="zh-TW" altLang="en-US" dirty="0" smtClean="0">
                <a:solidFill>
                  <a:srgbClr val="C00000"/>
                </a:solidFill>
              </a:rPr>
              <a:t>的精準率</a:t>
            </a:r>
            <a:r>
              <a:rPr lang="en-US" altLang="zh-TW" dirty="0" smtClean="0">
                <a:solidFill>
                  <a:srgbClr val="C00000"/>
                </a:solidFill>
              </a:rPr>
              <a:t>)</a:t>
            </a:r>
            <a:r>
              <a:rPr lang="en-US" altLang="zh-TW" dirty="0" smtClean="0"/>
              <a:t>	</a:t>
            </a:r>
          </a:p>
          <a:p>
            <a:pPr lvl="3"/>
            <a:endParaRPr lang="en-US" altLang="zh-TW" dirty="0" smtClean="0"/>
          </a:p>
          <a:p>
            <a:pPr lvl="3"/>
            <a:r>
              <a:rPr lang="en-US" altLang="zh-TW" dirty="0" smtClean="0"/>
              <a:t>2.</a:t>
            </a:r>
            <a:r>
              <a:rPr lang="zh-TW" altLang="en-US" dirty="0" smtClean="0"/>
              <a:t>準確度</a:t>
            </a:r>
            <a:r>
              <a:rPr lang="en-US" altLang="zh-TW" dirty="0" smtClean="0"/>
              <a:t>Accuracy </a:t>
            </a:r>
            <a:r>
              <a:rPr lang="zh-TW" altLang="en-US" dirty="0" smtClean="0"/>
              <a:t>公式</a:t>
            </a:r>
            <a:r>
              <a:rPr lang="zh-TW" altLang="en-US" dirty="0"/>
              <a:t>為</a:t>
            </a:r>
            <a:r>
              <a:rPr lang="zh-TW" altLang="en-US" dirty="0" smtClean="0"/>
              <a:t>：                                              </a:t>
            </a:r>
            <a:r>
              <a:rPr lang="zh-TW" altLang="en-US" dirty="0" smtClean="0">
                <a:solidFill>
                  <a:srgbClr val="0000FF"/>
                </a:solidFill>
              </a:rPr>
              <a:t>所有預測正確的</a:t>
            </a:r>
            <a:r>
              <a:rPr lang="en-US" altLang="zh-TW" dirty="0" smtClean="0">
                <a:solidFill>
                  <a:srgbClr val="FF0000"/>
                </a:solidFill>
              </a:rPr>
              <a:t>/</a:t>
            </a:r>
            <a:r>
              <a:rPr lang="zh-TW" altLang="en-US" dirty="0" smtClean="0">
                <a:solidFill>
                  <a:srgbClr val="FF0000"/>
                </a:solidFill>
              </a:rPr>
              <a:t>所有預測和 </a:t>
            </a:r>
            <a:r>
              <a:rPr lang="en-US" altLang="zh-TW" dirty="0" smtClean="0">
                <a:solidFill>
                  <a:srgbClr val="C00000"/>
                </a:solidFill>
              </a:rPr>
              <a:t>(</a:t>
            </a:r>
            <a:r>
              <a:rPr lang="zh-TW" altLang="en-US" dirty="0" smtClean="0">
                <a:solidFill>
                  <a:srgbClr val="C00000"/>
                </a:solidFill>
              </a:rPr>
              <a:t>猜了</a:t>
            </a:r>
            <a:r>
              <a:rPr lang="en-US" altLang="zh-TW" dirty="0" smtClean="0">
                <a:solidFill>
                  <a:srgbClr val="C00000"/>
                </a:solidFill>
              </a:rPr>
              <a:t>1</a:t>
            </a:r>
            <a:r>
              <a:rPr lang="zh-TW" altLang="en-US" dirty="0" smtClean="0">
                <a:solidFill>
                  <a:srgbClr val="C00000"/>
                </a:solidFill>
              </a:rPr>
              <a:t>萬次</a:t>
            </a:r>
            <a:r>
              <a:rPr lang="en-US" altLang="zh-TW" dirty="0" smtClean="0">
                <a:solidFill>
                  <a:srgbClr val="C00000"/>
                </a:solidFill>
              </a:rPr>
              <a:t>, </a:t>
            </a:r>
            <a:r>
              <a:rPr lang="zh-TW" altLang="en-US" dirty="0" smtClean="0">
                <a:solidFill>
                  <a:srgbClr val="C00000"/>
                </a:solidFill>
              </a:rPr>
              <a:t>猜對了幾次</a:t>
            </a:r>
            <a:r>
              <a:rPr lang="en-US" altLang="zh-TW" dirty="0" smtClean="0">
                <a:solidFill>
                  <a:srgbClr val="C00000"/>
                </a:solidFill>
              </a:rPr>
              <a:t>)</a:t>
            </a:r>
          </a:p>
          <a:p>
            <a:pPr lvl="3"/>
            <a:endParaRPr lang="en-US" altLang="zh-TW" dirty="0" smtClean="0">
              <a:solidFill>
                <a:srgbClr val="C00000"/>
              </a:solidFill>
            </a:endParaRPr>
          </a:p>
          <a:p>
            <a:pPr lvl="3"/>
            <a:r>
              <a:rPr lang="en-US" altLang="zh-TW" dirty="0" smtClean="0">
                <a:solidFill>
                  <a:srgbClr val="FF0000"/>
                </a:solidFill>
              </a:rPr>
              <a:t>3.</a:t>
            </a:r>
            <a:r>
              <a:rPr lang="zh-TW" altLang="en-US" b="1" dirty="0" smtClean="0"/>
              <a:t>真陽性</a:t>
            </a:r>
            <a:r>
              <a:rPr lang="zh-TW" altLang="en-US" b="1" dirty="0"/>
              <a:t>率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(True Positive Rate,</a:t>
            </a:r>
            <a:r>
              <a:rPr lang="en-US" altLang="zh-TW" dirty="0"/>
              <a:t> TPR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</a:t>
            </a:r>
            <a:r>
              <a:rPr lang="en-US" altLang="zh-TW" dirty="0"/>
              <a:t>TP/(TP+FN)</a:t>
            </a:r>
            <a:r>
              <a:rPr lang="zh-TW" altLang="en-US" dirty="0" smtClean="0"/>
              <a:t>，</a:t>
            </a:r>
            <a:r>
              <a:rPr lang="zh-TW" altLang="en-US" dirty="0" smtClean="0">
                <a:solidFill>
                  <a:srgbClr val="0000FF"/>
                </a:solidFill>
              </a:rPr>
              <a:t>被正確識別</a:t>
            </a:r>
            <a:r>
              <a:rPr lang="en-US" altLang="zh-TW" dirty="0" smtClean="0">
                <a:solidFill>
                  <a:srgbClr val="FF0000"/>
                </a:solidFill>
              </a:rPr>
              <a:t>/</a:t>
            </a:r>
            <a:r>
              <a:rPr lang="zh-TW" altLang="en-US" dirty="0" smtClean="0">
                <a:solidFill>
                  <a:srgbClr val="FF0000"/>
                </a:solidFill>
              </a:rPr>
              <a:t>所有實際為正樣本</a:t>
            </a:r>
            <a:r>
              <a:rPr lang="en-US" altLang="zh-TW" dirty="0" smtClean="0">
                <a:solidFill>
                  <a:srgbClr val="FF0000"/>
                </a:solidFill>
              </a:rPr>
              <a:t>;</a:t>
            </a:r>
            <a:r>
              <a:rPr lang="zh-TW" altLang="en-US" dirty="0"/>
              <a:t>被判斷為有</a:t>
            </a:r>
            <a:r>
              <a:rPr lang="zh-TW" altLang="en-US" dirty="0" smtClean="0"/>
              <a:t>生病</a:t>
            </a:r>
            <a:r>
              <a:rPr lang="en-US" altLang="zh-TW" dirty="0" smtClean="0"/>
              <a:t>/</a:t>
            </a:r>
            <a:r>
              <a:rPr lang="zh-TW" altLang="en-US" dirty="0" smtClean="0"/>
              <a:t>真正</a:t>
            </a:r>
            <a:r>
              <a:rPr lang="zh-TW" altLang="en-US" dirty="0"/>
              <a:t>有</a:t>
            </a:r>
            <a:r>
              <a:rPr lang="zh-TW" altLang="en-US" dirty="0" smtClean="0"/>
              <a:t>生病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3"/>
            <a:r>
              <a:rPr lang="en-US" altLang="zh-TW" dirty="0">
                <a:solidFill>
                  <a:srgbClr val="FF0000"/>
                </a:solidFill>
              </a:rPr>
              <a:t>	</a:t>
            </a:r>
            <a:r>
              <a:rPr lang="zh-TW" altLang="en-US" dirty="0"/>
              <a:t>召回率</a:t>
            </a:r>
            <a:r>
              <a:rPr lang="en-US" altLang="zh-TW" dirty="0" smtClean="0"/>
              <a:t>recall / </a:t>
            </a:r>
            <a:r>
              <a:rPr lang="zh-TW" altLang="en-US" dirty="0" smtClean="0"/>
              <a:t>靈敏度</a:t>
            </a:r>
            <a:r>
              <a:rPr lang="en-US" altLang="zh-TW" dirty="0" smtClean="0"/>
              <a:t> Sensitivity</a:t>
            </a:r>
          </a:p>
          <a:p>
            <a:pPr lvl="3"/>
            <a:r>
              <a:rPr lang="en-US" altLang="zh-TW" dirty="0" smtClean="0">
                <a:solidFill>
                  <a:srgbClr val="FF0000"/>
                </a:solidFill>
              </a:rPr>
              <a:t>4A. </a:t>
            </a:r>
            <a:r>
              <a:rPr lang="zh-TW" altLang="en-US" b="1" dirty="0" smtClean="0"/>
              <a:t>偽</a:t>
            </a:r>
            <a:r>
              <a:rPr lang="zh-TW" altLang="en-US" b="1" dirty="0"/>
              <a:t>陽性</a:t>
            </a:r>
            <a:r>
              <a:rPr lang="zh-TW" altLang="en-US" b="1" dirty="0" smtClean="0"/>
              <a:t>率 </a:t>
            </a:r>
            <a:r>
              <a:rPr lang="en-US" altLang="zh-TW" dirty="0" smtClean="0"/>
              <a:t>(False Positive Rate, FPR) : FP/(</a:t>
            </a:r>
            <a:r>
              <a:rPr lang="en-US" altLang="zh-TW" dirty="0"/>
              <a:t>TN+FP)</a:t>
            </a:r>
            <a:r>
              <a:rPr lang="zh-TW" altLang="en-US" dirty="0" smtClean="0"/>
              <a:t>，</a:t>
            </a:r>
            <a:r>
              <a:rPr lang="zh-TW" altLang="en-US" dirty="0" smtClean="0">
                <a:solidFill>
                  <a:srgbClr val="0000FF"/>
                </a:solidFill>
              </a:rPr>
              <a:t>被識別錯誤的</a:t>
            </a:r>
            <a:r>
              <a:rPr lang="en-US" altLang="zh-TW" dirty="0" smtClean="0">
                <a:solidFill>
                  <a:srgbClr val="FF0000"/>
                </a:solidFill>
              </a:rPr>
              <a:t>/</a:t>
            </a:r>
            <a:r>
              <a:rPr lang="zh-TW" altLang="en-US" dirty="0" smtClean="0">
                <a:solidFill>
                  <a:srgbClr val="FF0000"/>
                </a:solidFill>
              </a:rPr>
              <a:t>所有</a:t>
            </a:r>
            <a:r>
              <a:rPr lang="zh-TW" altLang="en-US" dirty="0">
                <a:solidFill>
                  <a:srgbClr val="FF0000"/>
                </a:solidFill>
              </a:rPr>
              <a:t>實際為</a:t>
            </a:r>
            <a:r>
              <a:rPr lang="zh-TW" altLang="en-US" dirty="0" smtClean="0">
                <a:solidFill>
                  <a:srgbClr val="FF0000"/>
                </a:solidFill>
              </a:rPr>
              <a:t>負樣本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3"/>
            <a:r>
              <a:rPr lang="en-US" altLang="zh-TW" dirty="0" smtClean="0"/>
              <a:t>4B.</a:t>
            </a:r>
            <a:r>
              <a:rPr lang="zh-TW" altLang="en-US" dirty="0"/>
              <a:t>特異度</a:t>
            </a:r>
            <a:r>
              <a:rPr lang="en-US" altLang="zh-TW" dirty="0"/>
              <a:t>(</a:t>
            </a:r>
            <a:r>
              <a:rPr lang="en-US" altLang="zh-TW" dirty="0" err="1"/>
              <a:t>Sepecificity</a:t>
            </a:r>
            <a:r>
              <a:rPr lang="en-US" altLang="zh-TW" dirty="0"/>
              <a:t>)</a:t>
            </a:r>
            <a:r>
              <a:rPr lang="en-US" altLang="zh-TW" dirty="0" smtClean="0"/>
              <a:t> :  TN/(TN+FP)</a:t>
            </a:r>
            <a:r>
              <a:rPr lang="zh-TW" altLang="en-US" dirty="0" smtClean="0"/>
              <a:t>，</a:t>
            </a:r>
            <a:r>
              <a:rPr lang="zh-TW" altLang="en-US" dirty="0" smtClean="0">
                <a:solidFill>
                  <a:srgbClr val="0000FF"/>
                </a:solidFill>
              </a:rPr>
              <a:t>被</a:t>
            </a:r>
            <a:r>
              <a:rPr lang="zh-TW" altLang="en-US" dirty="0">
                <a:solidFill>
                  <a:srgbClr val="0000FF"/>
                </a:solidFill>
              </a:rPr>
              <a:t>正確識別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zh-TW" altLang="en-US" dirty="0">
                <a:solidFill>
                  <a:srgbClr val="FF0000"/>
                </a:solidFill>
              </a:rPr>
              <a:t>所有實際為負</a:t>
            </a:r>
            <a:r>
              <a:rPr lang="zh-TW" altLang="en-US" dirty="0" smtClean="0">
                <a:solidFill>
                  <a:srgbClr val="FF0000"/>
                </a:solidFill>
              </a:rPr>
              <a:t>樣本</a:t>
            </a:r>
            <a:r>
              <a:rPr lang="en-US" altLang="zh-TW" dirty="0" smtClean="0">
                <a:solidFill>
                  <a:srgbClr val="FF0000"/>
                </a:solidFill>
              </a:rPr>
              <a:t>;</a:t>
            </a:r>
            <a:r>
              <a:rPr lang="zh-TW" altLang="en-US" dirty="0" smtClean="0"/>
              <a:t>被判斷為未生病者</a:t>
            </a:r>
            <a:r>
              <a:rPr lang="en-US" altLang="zh-TW" dirty="0" smtClean="0"/>
              <a:t>/</a:t>
            </a:r>
            <a:r>
              <a:rPr lang="zh-TW" altLang="en-US" dirty="0" smtClean="0"/>
              <a:t>實際未生病的人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3"/>
            <a:endParaRPr lang="en-US" altLang="zh-TW" dirty="0" smtClean="0"/>
          </a:p>
          <a:p>
            <a:pPr lvl="3"/>
            <a:r>
              <a:rPr lang="en-US" altLang="zh-TW" dirty="0" smtClean="0">
                <a:solidFill>
                  <a:srgbClr val="FF0000"/>
                </a:solidFill>
              </a:rPr>
              <a:t>5</a:t>
            </a:r>
            <a:r>
              <a:rPr lang="en-US" altLang="zh-TW" dirty="0" smtClean="0"/>
              <a:t>.F-Score</a:t>
            </a:r>
            <a:r>
              <a:rPr lang="zh-TW" altLang="en-US" dirty="0"/>
              <a:t>，</a:t>
            </a:r>
            <a:r>
              <a:rPr lang="zh-TW" altLang="en-US" dirty="0" smtClean="0"/>
              <a:t>是</a:t>
            </a:r>
            <a:r>
              <a:rPr lang="en-US" altLang="zh-TW" dirty="0" smtClean="0"/>
              <a:t>(</a:t>
            </a:r>
            <a:r>
              <a:rPr lang="zh-TW" altLang="en-US" dirty="0"/>
              <a:t>精確</a:t>
            </a:r>
            <a:r>
              <a:rPr lang="zh-TW" altLang="en-US" dirty="0" smtClean="0"/>
              <a:t>率</a:t>
            </a:r>
            <a:r>
              <a:rPr lang="en-US" altLang="zh-TW" dirty="0" smtClean="0"/>
              <a:t>+</a:t>
            </a:r>
            <a:r>
              <a:rPr lang="zh-TW" altLang="en-US" dirty="0" smtClean="0"/>
              <a:t>召回率</a:t>
            </a:r>
            <a:r>
              <a:rPr lang="en-US" altLang="zh-TW" dirty="0" smtClean="0"/>
              <a:t>)</a:t>
            </a:r>
            <a:r>
              <a:rPr lang="zh-TW" altLang="en-US" dirty="0" smtClean="0"/>
              <a:t>的平均，</a:t>
            </a:r>
            <a:r>
              <a:rPr lang="zh-TW" altLang="en-US" dirty="0"/>
              <a:t>用於綜合反映整體的指標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3"/>
            <a:r>
              <a:rPr lang="en-US" altLang="zh-TW" dirty="0"/>
              <a:t>	</a:t>
            </a:r>
            <a:r>
              <a:rPr lang="en-US" altLang="zh-TW" sz="1600" i="1" u="sng" dirty="0"/>
              <a:t>F-score</a:t>
            </a:r>
            <a:r>
              <a:rPr lang="zh-TW" altLang="en-US" sz="1600" i="1" u="sng" dirty="0"/>
              <a:t>的</a:t>
            </a:r>
            <a:r>
              <a:rPr lang="en-US" altLang="zh-TW" sz="1600" i="1" u="sng" dirty="0"/>
              <a:t>recall</a:t>
            </a:r>
            <a:r>
              <a:rPr lang="zh-TW" altLang="en-US" sz="1600" i="1" u="sng" dirty="0"/>
              <a:t>和</a:t>
            </a:r>
            <a:r>
              <a:rPr lang="en-US" altLang="zh-TW" sz="1600" i="1" u="sng" dirty="0"/>
              <a:t>precision</a:t>
            </a:r>
            <a:r>
              <a:rPr lang="zh-TW" altLang="en-US" sz="1600" i="1" u="sng" dirty="0"/>
              <a:t>之間存在著</a:t>
            </a:r>
            <a:r>
              <a:rPr lang="zh-TW" altLang="en-US" sz="1600" b="1" i="1" u="sng" dirty="0"/>
              <a:t>權衡</a:t>
            </a:r>
            <a:r>
              <a:rPr lang="zh-TW" altLang="en-US" sz="1600" i="1" u="sng" dirty="0"/>
              <a:t>的關係，可通過 </a:t>
            </a:r>
            <a:r>
              <a:rPr lang="el-GR" altLang="zh-TW" sz="1600" i="1" u="sng" dirty="0"/>
              <a:t>β </a:t>
            </a:r>
            <a:r>
              <a:rPr lang="zh-TW" altLang="en-US" sz="1600" i="1" u="sng" dirty="0"/>
              <a:t>調整更重視的部份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827" y="655336"/>
            <a:ext cx="5733382" cy="1433346"/>
          </a:xfrm>
          <a:prstGeom prst="rect">
            <a:avLst/>
          </a:prstGeom>
          <a:solidFill>
            <a:srgbClr val="FFC000"/>
          </a:solidFill>
          <a:ln w="25400">
            <a:solidFill>
              <a:srgbClr val="FF0000"/>
            </a:solidFill>
            <a:miter lim="800000"/>
            <a:headEnd/>
            <a:tailEnd/>
          </a:ln>
          <a:ex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595" y="2261693"/>
            <a:ext cx="1285875" cy="5334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436" y="2984090"/>
            <a:ext cx="2286000" cy="5524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019" y="6119866"/>
            <a:ext cx="2516336" cy="5032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0802" y="6076454"/>
            <a:ext cx="1751081" cy="54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54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17" y="1505776"/>
            <a:ext cx="6637234" cy="482942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596591" y="95618"/>
            <a:ext cx="10805336" cy="109791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B.Tool-2: Lift Chart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139" y="1505776"/>
            <a:ext cx="5278817" cy="1766813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771" y="4745255"/>
            <a:ext cx="5288152" cy="158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4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6102" y="149465"/>
            <a:ext cx="10805336" cy="963344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C.Tool-3: ROC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Curve Drawing Principle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6102" y="1112809"/>
            <a:ext cx="10515600" cy="4351338"/>
          </a:xfrm>
        </p:spPr>
        <p:txBody>
          <a:bodyPr/>
          <a:lstStyle/>
          <a:p>
            <a:r>
              <a:rPr lang="en-US" altLang="zh-TW" dirty="0">
                <a:hlinkClick r:id="rId2"/>
              </a:rPr>
              <a:t>https://</a:t>
            </a:r>
            <a:r>
              <a:rPr lang="en-US" altLang="zh-TW" dirty="0" smtClean="0">
                <a:hlinkClick r:id="rId2"/>
              </a:rPr>
              <a:t>reurl.cc/o5lyq5</a:t>
            </a:r>
            <a:r>
              <a:rPr lang="en-US" altLang="zh-TW" dirty="0" smtClean="0"/>
              <a:t>   &amp;    </a:t>
            </a:r>
            <a:r>
              <a:rPr lang="en-US" altLang="zh-TW" dirty="0" smtClean="0">
                <a:hlinkClick r:id="rId3"/>
              </a:rPr>
              <a:t>https</a:t>
            </a:r>
            <a:r>
              <a:rPr lang="en-US" altLang="zh-TW" dirty="0">
                <a:hlinkClick r:id="rId3"/>
              </a:rPr>
              <a:t>://</a:t>
            </a:r>
            <a:r>
              <a:rPr lang="en-US" altLang="zh-TW" dirty="0" smtClean="0">
                <a:hlinkClick r:id="rId3"/>
              </a:rPr>
              <a:t>reurl.cc/l73A59</a:t>
            </a:r>
            <a:r>
              <a:rPr lang="en-US" altLang="zh-TW" dirty="0"/>
              <a:t> &amp; </a:t>
            </a:r>
            <a:r>
              <a:rPr lang="en-US" altLang="zh-TW" dirty="0">
                <a:solidFill>
                  <a:srgbClr val="FF0000"/>
                </a:solidFill>
                <a:hlinkClick r:id="rId4"/>
              </a:rPr>
              <a:t>https://reurl.cc/ZyY34Q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r>
              <a:rPr lang="zh-TW" altLang="en-US" dirty="0" smtClean="0"/>
              <a:t>搜尋</a:t>
            </a:r>
            <a:r>
              <a:rPr lang="en-US" altLang="zh-TW" dirty="0" smtClean="0"/>
              <a:t>: </a:t>
            </a:r>
            <a:r>
              <a:rPr lang="zh-TW" altLang="en-US" sz="1600" dirty="0" smtClean="0"/>
              <a:t>隨著</a:t>
            </a:r>
            <a:r>
              <a:rPr lang="zh-TW" altLang="en-US" sz="1600" dirty="0">
                <a:solidFill>
                  <a:srgbClr val="FF0000"/>
                </a:solidFill>
              </a:rPr>
              <a:t>閾值調低</a:t>
            </a:r>
            <a:r>
              <a:rPr lang="zh-TW" altLang="en-US" sz="1600" dirty="0"/>
              <a:t>，</a:t>
            </a:r>
            <a:r>
              <a:rPr lang="en-US" altLang="zh-TW" sz="1600" dirty="0"/>
              <a:t>ROC</a:t>
            </a:r>
            <a:r>
              <a:rPr lang="zh-TW" altLang="en-US" sz="1600" dirty="0"/>
              <a:t>點 往右上（或右／或上）移動，或不動；但絕不會往左下</a:t>
            </a:r>
            <a:r>
              <a:rPr lang="en-US" altLang="zh-TW" sz="1600" dirty="0"/>
              <a:t>(</a:t>
            </a:r>
            <a:r>
              <a:rPr lang="zh-TW" altLang="en-US" sz="1600" dirty="0"/>
              <a:t>或左／或下</a:t>
            </a:r>
            <a:r>
              <a:rPr lang="en-US" altLang="zh-TW" sz="1600" dirty="0"/>
              <a:t>)</a:t>
            </a:r>
            <a:r>
              <a:rPr lang="zh-TW" altLang="en-US" sz="1600" dirty="0" smtClean="0"/>
              <a:t>移動</a:t>
            </a:r>
            <a:endParaRPr lang="en-US" altLang="zh-TW" sz="1600" dirty="0" smtClean="0"/>
          </a:p>
          <a:p>
            <a:pPr lvl="1"/>
            <a:r>
              <a:rPr lang="zh-TW" altLang="en-US" sz="1600" dirty="0" smtClean="0">
                <a:solidFill>
                  <a:srgbClr val="FF0000"/>
                </a:solidFill>
              </a:rPr>
              <a:t>門檻值</a:t>
            </a:r>
            <a:r>
              <a:rPr lang="zh-TW" altLang="en-US" sz="1600" dirty="0" smtClean="0"/>
              <a:t>可依真陽性率及偽陽性率</a:t>
            </a:r>
            <a:r>
              <a:rPr lang="zh-TW" altLang="en-US" sz="1600" dirty="0"/>
              <a:t>來</a:t>
            </a:r>
            <a:r>
              <a:rPr lang="zh-TW" altLang="en-US" sz="1600" dirty="0" smtClean="0"/>
              <a:t>決定</a:t>
            </a:r>
            <a:endParaRPr lang="zh-TW" altLang="en-US" sz="1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991" y="2787654"/>
            <a:ext cx="6021935" cy="396683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5" name="矩形 4"/>
          <p:cNvSpPr/>
          <p:nvPr/>
        </p:nvSpPr>
        <p:spPr>
          <a:xfrm>
            <a:off x="2435918" y="6461186"/>
            <a:ext cx="1621766" cy="29329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/>
              <a:t>偽</a:t>
            </a:r>
            <a:r>
              <a:rPr lang="zh-TW" altLang="en-US" b="1" dirty="0" smtClean="0"/>
              <a:t>陽性率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626102" y="3929373"/>
            <a:ext cx="453265" cy="168339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/>
              <a:t>真陽性率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7609" y="2492678"/>
            <a:ext cx="5051029" cy="426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53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9177" y="365125"/>
            <a:ext cx="11034623" cy="1325563"/>
          </a:xfrm>
          <a:solidFill>
            <a:schemeClr val="accent1"/>
          </a:solidFill>
        </p:spPr>
        <p:txBody>
          <a:bodyPr/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決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策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門檻對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『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真陽率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』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『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假陽率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』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影響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020025" y="3176336"/>
            <a:ext cx="4596442" cy="2493757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我們從二分類的分配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角度來看，如果調整決策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門檻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Threshold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則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TP(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真陽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FP(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假陽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會随之變化。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7" y="2025953"/>
            <a:ext cx="6634820" cy="462510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16771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08855" y="259248"/>
            <a:ext cx="9569379" cy="847658"/>
          </a:xfrm>
          <a:solidFill>
            <a:srgbClr val="00B0F0"/>
          </a:solidFill>
        </p:spPr>
        <p:txBody>
          <a:bodyPr/>
          <a:lstStyle/>
          <a:p>
            <a:pPr algn="ctr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ROC &amp; AUC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Area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Under the Curve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855" y="1417859"/>
            <a:ext cx="9569379" cy="5262074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3" name="矩形 2"/>
          <p:cNvSpPr/>
          <p:nvPr/>
        </p:nvSpPr>
        <p:spPr>
          <a:xfrm>
            <a:off x="4891177" y="1587261"/>
            <a:ext cx="2070340" cy="149237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3.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真陽性</a:t>
            </a:r>
            <a:r>
              <a:rPr kumimoji="0" lang="zh-TW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率 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TPR</a:t>
            </a:r>
            <a:r>
              <a:rPr kumimoji="0" lang="zh-TW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：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TP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/(TP+FN)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，被正確識別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/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所有實際為正樣本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被判斷為有生病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/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真正有</a:t>
            </a:r>
            <a:r>
              <a:rPr kumimoji="0" lang="zh-TW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生病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/</a:t>
            </a:r>
            <a:r>
              <a:rPr kumimoji="0" lang="zh-TW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靈敏度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sensitivity</a:t>
            </a:r>
            <a:endParaRPr kumimoji="0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39660" y="5615796"/>
            <a:ext cx="2070340" cy="10296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4A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 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偽陽性率 </a:t>
            </a:r>
            <a:r>
              <a:rPr kumimoji="0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FPR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: 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FP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/(TN+FP)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，被識別錯誤的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/</a:t>
            </a:r>
            <a:r>
              <a: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所有實際為負樣本</a:t>
            </a:r>
          </a:p>
        </p:txBody>
      </p:sp>
      <p:sp>
        <p:nvSpPr>
          <p:cNvPr id="4" name="直線圖說文字 1 (無框線) 3"/>
          <p:cNvSpPr/>
          <p:nvPr/>
        </p:nvSpPr>
        <p:spPr>
          <a:xfrm flipH="1">
            <a:off x="9711891" y="6159259"/>
            <a:ext cx="950358" cy="486168"/>
          </a:xfrm>
          <a:prstGeom prst="callout1">
            <a:avLst>
              <a:gd name="adj1" fmla="val 2912"/>
              <a:gd name="adj2" fmla="val 1795"/>
              <a:gd name="adj3" fmla="val -114369"/>
              <a:gd name="adj4" fmla="val 51342"/>
            </a:avLst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門檻</a:t>
            </a:r>
            <a:r>
              <a:rPr kumimoji="0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=0.001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8" name="直線圖說文字 1 (無框線) 7"/>
          <p:cNvSpPr/>
          <p:nvPr/>
        </p:nvSpPr>
        <p:spPr>
          <a:xfrm flipH="1">
            <a:off x="7666704" y="6100643"/>
            <a:ext cx="950358" cy="486168"/>
          </a:xfrm>
          <a:prstGeom prst="callout1">
            <a:avLst>
              <a:gd name="adj1" fmla="val 2912"/>
              <a:gd name="adj2" fmla="val 96999"/>
              <a:gd name="adj3" fmla="val -98531"/>
              <a:gd name="adj4" fmla="val 109072"/>
            </a:avLst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門檻</a:t>
            </a:r>
            <a:r>
              <a:rPr kumimoji="0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=0.999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39453" y="1694046"/>
            <a:ext cx="1607419" cy="741146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614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182246"/>
            <a:ext cx="10515600" cy="1117166"/>
          </a:xfrm>
          <a:solidFill>
            <a:srgbClr val="00B0F0"/>
          </a:solidFill>
        </p:spPr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模型預測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輸出值的分佈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47533" y="1681163"/>
            <a:ext cx="5157787" cy="823912"/>
          </a:xfrm>
          <a:solidFill>
            <a:srgbClr val="FFC000"/>
          </a:solidFill>
        </p:spPr>
        <p:txBody>
          <a:bodyPr>
            <a:normAutofit lnSpcReduction="10000"/>
          </a:bodyPr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實際分類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為「真」的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樣本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其預測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TP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的值分布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2012" y="3020142"/>
            <a:ext cx="5895563" cy="303414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2" name="文字版面配置區 11"/>
          <p:cNvSpPr>
            <a:spLocks noGrp="1"/>
          </p:cNvSpPr>
          <p:nvPr>
            <p:ph type="body" sz="quarter" idx="3"/>
          </p:nvPr>
        </p:nvSpPr>
        <p:spPr>
          <a:xfrm>
            <a:off x="6172200" y="1681162"/>
            <a:ext cx="5183188" cy="2159317"/>
          </a:xfrm>
          <a:ln>
            <a:solidFill>
              <a:srgbClr val="FF0000"/>
            </a:solidFill>
          </a:ln>
        </p:spPr>
        <p:txBody>
          <a:bodyPr anchor="t"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真陽性率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TP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/(TP+FN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偽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陽性率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(TN+FP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的分母與門檻值都無關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6172200" y="4292867"/>
            <a:ext cx="5183188" cy="1896796"/>
          </a:xfrm>
          <a:ln>
            <a:solidFill>
              <a:srgbClr val="FF0000"/>
            </a:solidFill>
          </a:ln>
        </p:spPr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門檻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值設愈大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TP</a:t>
            </a:r>
            <a:r>
              <a:rPr lang="zh-TW" altLang="en-US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FP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會愈小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門檻值設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愈小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TP</a:t>
            </a:r>
            <a:r>
              <a:rPr lang="zh-TW" altLang="en-US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FP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會愈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大</a:t>
            </a: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7820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7825" y="191871"/>
            <a:ext cx="10515600" cy="1069038"/>
          </a:xfrm>
          <a:solidFill>
            <a:srgbClr val="00B0F0"/>
          </a:solidFill>
        </p:spPr>
        <p:txBody>
          <a:bodyPr/>
          <a:lstStyle/>
          <a:p>
            <a:pPr algn="ctr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ROC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曲線下面積的判斷標準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9" y="2100428"/>
            <a:ext cx="12104762" cy="2657143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857676" y="5419024"/>
            <a:ext cx="9018871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roc</a:t>
            </a:r>
            <a:r>
              <a:rPr lang="zh-TW" altLang="en-US" dirty="0"/>
              <a:t>曲線下面積越大，表示新量表篩檢的準確度越高</a:t>
            </a:r>
          </a:p>
        </p:txBody>
      </p:sp>
    </p:spTree>
    <p:extLst>
      <p:ext uri="{BB962C8B-B14F-4D97-AF65-F5344CB8AC3E}">
        <p14:creationId xmlns:p14="http://schemas.microsoft.com/office/powerpoint/2010/main" val="2057809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182245"/>
            <a:ext cx="10515600" cy="1069039"/>
          </a:xfrm>
          <a:solidFill>
            <a:srgbClr val="00B0F0"/>
          </a:solidFill>
        </p:spPr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模型預測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輸出值的分佈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595712" y="1681163"/>
            <a:ext cx="5183188" cy="823912"/>
          </a:xfrm>
          <a:solidFill>
            <a:srgbClr val="FFC000"/>
          </a:solidFill>
        </p:spPr>
        <p:txBody>
          <a:bodyPr>
            <a:normAutofit lnSpcReduction="10000"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實際分類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為「偽」的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樣本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其預測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FP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值分布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1" name="內容版面配置區 10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72200" y="3005411"/>
            <a:ext cx="5888010" cy="304888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>
          <a:xfrm>
            <a:off x="839788" y="1681162"/>
            <a:ext cx="5157787" cy="1841683"/>
          </a:xfrm>
          <a:ln>
            <a:solidFill>
              <a:srgbClr val="FF0000"/>
            </a:solidFill>
          </a:ln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真陽性率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TP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/(TP+FN)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偽陽性率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(TN+FP)</a:t>
            </a:r>
          </a:p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的分母與門檻值都無關</a:t>
            </a:r>
          </a:p>
          <a:p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>
          <a:xfrm>
            <a:off x="839788" y="4283242"/>
            <a:ext cx="5157787" cy="1906421"/>
          </a:xfrm>
          <a:ln>
            <a:solidFill>
              <a:srgbClr val="FF0000"/>
            </a:solidFill>
          </a:ln>
        </p:spPr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門檻值設愈大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TN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FN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會愈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大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門檻值設愈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小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TN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FN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會愈小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3285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7398" y="172619"/>
            <a:ext cx="10669604" cy="1146041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門檻值的設定會影響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TP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FP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TN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ROC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曲線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10139" y="1858632"/>
            <a:ext cx="5509661" cy="455663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pic>
        <p:nvPicPr>
          <p:cNvPr id="6" name="內容版面配置區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58631"/>
            <a:ext cx="5802032" cy="453254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21994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2486</TotalTime>
  <Words>476</Words>
  <Application>Microsoft Office PowerPoint</Application>
  <PresentationFormat>寬螢幕</PresentationFormat>
  <Paragraphs>61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14</vt:i4>
      </vt:variant>
    </vt:vector>
  </HeadingPairs>
  <TitlesOfParts>
    <vt:vector size="25" baseType="lpstr">
      <vt:lpstr>微軟正黑體</vt:lpstr>
      <vt:lpstr>PMingLiU</vt:lpstr>
      <vt:lpstr>PMingLiU</vt:lpstr>
      <vt:lpstr>標楷體</vt:lpstr>
      <vt:lpstr>Arial</vt:lpstr>
      <vt:lpstr>Arial Black</vt:lpstr>
      <vt:lpstr>Calibri</vt:lpstr>
      <vt:lpstr>Calibri Light</vt:lpstr>
      <vt:lpstr>Wingdings</vt:lpstr>
      <vt:lpstr>Office 佈景主題</vt:lpstr>
      <vt:lpstr>Median</vt:lpstr>
      <vt:lpstr>Evaluation Model Tools</vt:lpstr>
      <vt:lpstr>Topics</vt:lpstr>
      <vt:lpstr>A.Tool-1: Confusion Matrix</vt:lpstr>
      <vt:lpstr>PowerPoint 簡報</vt:lpstr>
      <vt:lpstr>PowerPoint 簡報</vt:lpstr>
      <vt:lpstr>PowerPoint 簡報</vt:lpstr>
      <vt:lpstr>B.Tool-2: Lift Chart</vt:lpstr>
      <vt:lpstr>C.Tool-3: ROC Curve Drawing Principle</vt:lpstr>
      <vt:lpstr>決策門檻對『真陽率』與『假陽率』的影響</vt:lpstr>
      <vt:lpstr>ROC &amp; AUC（Area Under the Curve）</vt:lpstr>
      <vt:lpstr>模型預測-輸出值的分佈</vt:lpstr>
      <vt:lpstr>ROC曲線下面積的判斷標準</vt:lpstr>
      <vt:lpstr>模型預測-輸出值的分佈</vt:lpstr>
      <vt:lpstr>門檻值的設定會影響TP、FP、TN、FN及ROC曲線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其他</dc:title>
  <dc:creator>user</dc:creator>
  <cp:lastModifiedBy>hp</cp:lastModifiedBy>
  <cp:revision>170</cp:revision>
  <dcterms:created xsi:type="dcterms:W3CDTF">2023-09-28T04:34:28Z</dcterms:created>
  <dcterms:modified xsi:type="dcterms:W3CDTF">2025-12-25T15:34:20Z</dcterms:modified>
</cp:coreProperties>
</file>