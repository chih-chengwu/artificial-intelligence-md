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169BA-4A0C-42D0-920B-53CE557186C4}" type="datetimeFigureOut">
              <a:rPr lang="en-US" smtClean="0"/>
              <a:t>12/23/2023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A6506-0D03-40FC-B0D3-F30122CD1CF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3778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169BA-4A0C-42D0-920B-53CE557186C4}" type="datetimeFigureOut">
              <a:rPr lang="en-US" smtClean="0"/>
              <a:t>12/23/2023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A6506-0D03-40FC-B0D3-F30122CD1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794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169BA-4A0C-42D0-920B-53CE557186C4}" type="datetimeFigureOut">
              <a:rPr lang="en-US" smtClean="0"/>
              <a:t>12/23/2023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A6506-0D03-40FC-B0D3-F30122CD1CF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146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169BA-4A0C-42D0-920B-53CE557186C4}" type="datetimeFigureOut">
              <a:rPr lang="en-US" smtClean="0"/>
              <a:t>12/23/2023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A6506-0D03-40FC-B0D3-F30122CD1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801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169BA-4A0C-42D0-920B-53CE557186C4}" type="datetimeFigureOut">
              <a:rPr lang="en-US" smtClean="0"/>
              <a:t>12/23/2023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A6506-0D03-40FC-B0D3-F30122CD1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312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169BA-4A0C-42D0-920B-53CE557186C4}" type="datetimeFigureOut">
              <a:rPr lang="en-US" smtClean="0"/>
              <a:t>12/23/2023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A6506-0D03-40FC-B0D3-F30122CD1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438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169BA-4A0C-42D0-920B-53CE557186C4}" type="datetimeFigureOut">
              <a:rPr lang="en-US" smtClean="0"/>
              <a:t>12/23/2023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A6506-0D03-40FC-B0D3-F30122CD1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413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90169BA-4A0C-42D0-920B-53CE557186C4}" type="datetimeFigureOut">
              <a:rPr lang="en-US" smtClean="0"/>
              <a:t>12/23/2023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AFA6506-0D03-40FC-B0D3-F30122CD1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78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169BA-4A0C-42D0-920B-53CE557186C4}" type="datetimeFigureOut">
              <a:rPr lang="en-US" smtClean="0"/>
              <a:t>12/23/2023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A6506-0D03-40FC-B0D3-F30122CD1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989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169BA-4A0C-42D0-920B-53CE557186C4}" type="datetimeFigureOut">
              <a:rPr lang="en-US" smtClean="0"/>
              <a:t>12/23/2023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A6506-0D03-40FC-B0D3-F30122CD1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798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169BA-4A0C-42D0-920B-53CE557186C4}" type="datetimeFigureOut">
              <a:rPr lang="en-US" smtClean="0"/>
              <a:t>12/23/2023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A6506-0D03-40FC-B0D3-F30122CD1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722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90169BA-4A0C-42D0-920B-53CE557186C4}" type="datetimeFigureOut">
              <a:rPr lang="en-US" smtClean="0"/>
              <a:t>12/23/2023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AFA6506-0D03-40FC-B0D3-F30122CD1CF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8629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2FB7A-B3A8-4718-9C47-2F830A6A57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ROC</a:t>
            </a:r>
            <a:r>
              <a:rPr lang="zh-CN" altLang="en-US" dirty="0"/>
              <a:t>曲線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F62C8E-706C-4540-A55F-100D53EB5F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林淑嫻 </a:t>
            </a:r>
            <a:r>
              <a:rPr lang="en-US" altLang="zh-CN" dirty="0"/>
              <a:t>11263005 </a:t>
            </a:r>
            <a:r>
              <a:rPr lang="zh-CN" altLang="en-US" dirty="0"/>
              <a:t>資管碩一甲 </a:t>
            </a:r>
            <a:endParaRPr lang="en-US" altLang="zh-CN" dirty="0"/>
          </a:p>
          <a:p>
            <a:r>
              <a:rPr lang="en-US" dirty="0"/>
              <a:t>112-1 </a:t>
            </a:r>
            <a:r>
              <a:rPr lang="zh-CN" altLang="en-US" dirty="0"/>
              <a:t>人工智慧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060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5740C-087D-49B3-A4E3-7FB3A1D63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082" y="240336"/>
            <a:ext cx="11559849" cy="4023360"/>
          </a:xfrm>
          <a:solidFill>
            <a:schemeClr val="bg1"/>
          </a:solidFill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ROC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：</a:t>
            </a:r>
            <a:r>
              <a:rPr lang="en-US" i="0" dirty="0">
                <a:solidFill>
                  <a:srgbClr val="303233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Receiver operator characteristic</a:t>
            </a:r>
            <a:r>
              <a:rPr lang="zh-CN" altLang="en-US" i="0" dirty="0">
                <a:solidFill>
                  <a:srgbClr val="303233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，譯為</a:t>
            </a:r>
            <a:r>
              <a:rPr lang="zh-TW" altLang="en-US" i="0" dirty="0">
                <a:solidFill>
                  <a:srgbClr val="303233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接收操作特徵圖</a:t>
            </a:r>
            <a:endParaRPr lang="en-US" altLang="zh-TW" i="0" dirty="0">
              <a:solidFill>
                <a:srgbClr val="303233"/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303233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定義：</a:t>
            </a:r>
            <a:r>
              <a:rPr lang="zh-CN" altLang="en-US" i="0" dirty="0">
                <a:solidFill>
                  <a:srgbClr val="303233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在各種</a:t>
            </a:r>
            <a:r>
              <a:rPr lang="en-US" altLang="zh-CN" i="0" dirty="0">
                <a:solidFill>
                  <a:srgbClr val="303233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『</a:t>
            </a:r>
            <a:r>
              <a:rPr lang="zh-CN" altLang="en-US" i="0" dirty="0">
                <a:solidFill>
                  <a:srgbClr val="303233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決策門檻</a:t>
            </a:r>
            <a:r>
              <a:rPr lang="en-US" altLang="zh-CN" i="0" dirty="0">
                <a:solidFill>
                  <a:srgbClr val="303233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』</a:t>
            </a:r>
            <a:r>
              <a:rPr lang="zh-CN" altLang="en-US" i="0" dirty="0">
                <a:solidFill>
                  <a:srgbClr val="303233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（</a:t>
            </a:r>
            <a:r>
              <a:rPr lang="en-US" i="0" dirty="0">
                <a:solidFill>
                  <a:srgbClr val="303233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decision threshold）</a:t>
            </a:r>
            <a:r>
              <a:rPr lang="zh-CN" altLang="en-US" i="0" dirty="0">
                <a:solidFill>
                  <a:srgbClr val="303233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下，</a:t>
            </a:r>
            <a:endParaRPr lang="en-US" altLang="zh-CN" i="0" dirty="0">
              <a:solidFill>
                <a:srgbClr val="303233"/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i="0" dirty="0">
                <a:solidFill>
                  <a:srgbClr val="303233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	</a:t>
            </a:r>
            <a:r>
              <a:rPr lang="zh-CN" altLang="en-US" i="0" dirty="0">
                <a:solidFill>
                  <a:srgbClr val="303233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比較</a:t>
            </a:r>
            <a:r>
              <a:rPr lang="en-US" altLang="zh-CN" i="0" dirty="0">
                <a:solidFill>
                  <a:srgbClr val="303233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『</a:t>
            </a:r>
            <a:r>
              <a:rPr lang="zh-CN" altLang="en-US" i="0" dirty="0">
                <a:solidFill>
                  <a:srgbClr val="303233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真陽性率</a:t>
            </a:r>
            <a:r>
              <a:rPr lang="en-US" altLang="zh-CN" i="0" dirty="0">
                <a:solidFill>
                  <a:srgbClr val="303233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』</a:t>
            </a:r>
            <a:r>
              <a:rPr lang="zh-CN" altLang="en-US" i="0" dirty="0">
                <a:solidFill>
                  <a:srgbClr val="303233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（</a:t>
            </a:r>
            <a:r>
              <a:rPr lang="en-US" i="0" dirty="0">
                <a:solidFill>
                  <a:srgbClr val="303233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TPR）</a:t>
            </a:r>
            <a:r>
              <a:rPr lang="zh-CN" altLang="en-US" i="0" dirty="0">
                <a:solidFill>
                  <a:srgbClr val="303233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與</a:t>
            </a:r>
            <a:r>
              <a:rPr lang="en-US" altLang="zh-CN" i="0" dirty="0">
                <a:solidFill>
                  <a:srgbClr val="303233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『</a:t>
            </a:r>
            <a:r>
              <a:rPr lang="zh-CN" altLang="en-US" i="0" dirty="0">
                <a:solidFill>
                  <a:srgbClr val="303233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偽陽性率</a:t>
            </a:r>
            <a:r>
              <a:rPr lang="en-US" altLang="zh-CN" i="0" dirty="0">
                <a:solidFill>
                  <a:srgbClr val="303233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』</a:t>
            </a:r>
            <a:r>
              <a:rPr lang="zh-CN" altLang="en-US" i="0" dirty="0">
                <a:solidFill>
                  <a:srgbClr val="303233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（</a:t>
            </a:r>
            <a:r>
              <a:rPr lang="en-US" i="0" dirty="0">
                <a:solidFill>
                  <a:srgbClr val="303233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FPR）</a:t>
            </a:r>
            <a:r>
              <a:rPr lang="zh-CN" altLang="en-US" i="0" dirty="0">
                <a:solidFill>
                  <a:srgbClr val="303233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間的變化</a:t>
            </a:r>
            <a:endParaRPr lang="en-US" altLang="zh-CN" i="0" dirty="0">
              <a:solidFill>
                <a:srgbClr val="303233"/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0" indent="0">
              <a:buNone/>
            </a:pPr>
            <a:endParaRPr lang="en-US" dirty="0">
              <a:solidFill>
                <a:srgbClr val="303233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303233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真陽性率</a:t>
            </a:r>
            <a:r>
              <a:rPr lang="en-US" altLang="zh-CN" dirty="0">
                <a:solidFill>
                  <a:srgbClr val="303233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(True Positive Rate, TPR) = TP / TP+FN = TP / P</a:t>
            </a:r>
          </a:p>
          <a:p>
            <a:pPr marL="0" indent="0">
              <a:buNone/>
            </a:pPr>
            <a:r>
              <a:rPr lang="zh-CN" altLang="en-US" dirty="0">
                <a:solidFill>
                  <a:srgbClr val="303233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偽陽性率</a:t>
            </a:r>
            <a:r>
              <a:rPr lang="en-US" altLang="zh-CN" dirty="0">
                <a:solidFill>
                  <a:srgbClr val="303233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(False Positive Rate, FPR) = FP / TN+FP = FP / N</a:t>
            </a:r>
          </a:p>
          <a:p>
            <a:pPr marL="0" indent="0">
              <a:buNone/>
            </a:pPr>
            <a:endParaRPr lang="en-US" dirty="0">
              <a:solidFill>
                <a:srgbClr val="303233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303233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TPR: </a:t>
            </a:r>
            <a:r>
              <a:rPr lang="zh-CN" altLang="en-US" b="1" dirty="0">
                <a:solidFill>
                  <a:srgbClr val="303233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在所有實際為陽性的樣本中，被</a:t>
            </a:r>
            <a:r>
              <a:rPr lang="zh-CN" altLang="en-US" b="1" dirty="0">
                <a:solidFill>
                  <a:srgbClr val="00206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正確地</a:t>
            </a:r>
            <a:r>
              <a:rPr lang="zh-CN" altLang="en-US" b="1" dirty="0">
                <a:solidFill>
                  <a:srgbClr val="303233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判斷為陽性之比率</a:t>
            </a:r>
            <a:endParaRPr lang="en-US" b="1" dirty="0">
              <a:solidFill>
                <a:srgbClr val="303233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303233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FPR: </a:t>
            </a:r>
            <a:r>
              <a:rPr lang="zh-CN" altLang="en-US" b="1" dirty="0">
                <a:solidFill>
                  <a:srgbClr val="303233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在所有實際為陰性的樣本中，被</a:t>
            </a:r>
            <a:r>
              <a:rPr lang="zh-CN" altLang="en-US" b="1" dirty="0">
                <a:solidFill>
                  <a:srgbClr val="FF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錯誤地</a:t>
            </a:r>
            <a:r>
              <a:rPr lang="zh-CN" altLang="en-US" b="1" dirty="0">
                <a:solidFill>
                  <a:srgbClr val="303233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判斷為陽性之比率</a:t>
            </a:r>
            <a:endParaRPr lang="en-US" b="1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6BD7876-8FF7-47A0-90AF-9ED4798F4CD9}"/>
              </a:ext>
            </a:extLst>
          </p:cNvPr>
          <p:cNvCxnSpPr/>
          <p:nvPr/>
        </p:nvCxnSpPr>
        <p:spPr>
          <a:xfrm flipV="1">
            <a:off x="8207951" y="2434694"/>
            <a:ext cx="0" cy="20929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93D60A5-6405-49EA-8A63-50D861D73F14}"/>
              </a:ext>
            </a:extLst>
          </p:cNvPr>
          <p:cNvCxnSpPr>
            <a:cxnSpLocks/>
          </p:cNvCxnSpPr>
          <p:nvPr/>
        </p:nvCxnSpPr>
        <p:spPr>
          <a:xfrm>
            <a:off x="8207951" y="4527605"/>
            <a:ext cx="24058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5BF7BD0-EFE7-4B44-BF39-0FFDA4DAEBC9}"/>
              </a:ext>
            </a:extLst>
          </p:cNvPr>
          <p:cNvSpPr txBox="1"/>
          <p:nvPr/>
        </p:nvSpPr>
        <p:spPr>
          <a:xfrm>
            <a:off x="7927194" y="2011175"/>
            <a:ext cx="6624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DengXian" panose="02010600030101010101" pitchFamily="2" charset="-122"/>
                <a:ea typeface="DengXian" panose="02010600030101010101" pitchFamily="2" charset="-122"/>
              </a:rPr>
              <a:t>TPR</a:t>
            </a:r>
            <a:endParaRPr 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0E4A03-11C9-4221-A7BC-B09C6AE46B75}"/>
              </a:ext>
            </a:extLst>
          </p:cNvPr>
          <p:cNvSpPr txBox="1"/>
          <p:nvPr/>
        </p:nvSpPr>
        <p:spPr>
          <a:xfrm>
            <a:off x="10613798" y="4342939"/>
            <a:ext cx="6624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DengXian" panose="02010600030101010101" pitchFamily="2" charset="-122"/>
                <a:ea typeface="DengXian" panose="02010600030101010101" pitchFamily="2" charset="-122"/>
              </a:rPr>
              <a:t>FPR</a:t>
            </a:r>
            <a:endParaRPr lang="en-US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D908CC-1C70-4ECF-845E-EAB6A54C446A}"/>
              </a:ext>
            </a:extLst>
          </p:cNvPr>
          <p:cNvSpPr txBox="1"/>
          <p:nvPr/>
        </p:nvSpPr>
        <p:spPr>
          <a:xfrm>
            <a:off x="7858616" y="4342939"/>
            <a:ext cx="3195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0</a:t>
            </a:r>
          </a:p>
        </p:txBody>
      </p:sp>
      <p:graphicFrame>
        <p:nvGraphicFramePr>
          <p:cNvPr id="19" name="Table 19">
            <a:extLst>
              <a:ext uri="{FF2B5EF4-FFF2-40B4-BE49-F238E27FC236}">
                <a16:creationId xmlns:a16="http://schemas.microsoft.com/office/drawing/2014/main" id="{81D3304E-4DDD-4424-B116-12C6F4A16A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0884531"/>
              </p:ext>
            </p:extLst>
          </p:nvPr>
        </p:nvGraphicFramePr>
        <p:xfrm>
          <a:off x="1144559" y="4527605"/>
          <a:ext cx="5664614" cy="1606866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411153">
                  <a:extLst>
                    <a:ext uri="{9D8B030D-6E8A-4147-A177-3AD203B41FA5}">
                      <a16:colId xmlns:a16="http://schemas.microsoft.com/office/drawing/2014/main" val="1812008788"/>
                    </a:ext>
                  </a:extLst>
                </a:gridCol>
                <a:gridCol w="2068497">
                  <a:extLst>
                    <a:ext uri="{9D8B030D-6E8A-4147-A177-3AD203B41FA5}">
                      <a16:colId xmlns:a16="http://schemas.microsoft.com/office/drawing/2014/main" val="2226795956"/>
                    </a:ext>
                  </a:extLst>
                </a:gridCol>
                <a:gridCol w="2184964">
                  <a:extLst>
                    <a:ext uri="{9D8B030D-6E8A-4147-A177-3AD203B41FA5}">
                      <a16:colId xmlns:a16="http://schemas.microsoft.com/office/drawing/2014/main" val="729665732"/>
                    </a:ext>
                  </a:extLst>
                </a:gridCol>
              </a:tblGrid>
              <a:tr h="535622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實際為真</a:t>
                      </a:r>
                      <a:endParaRPr lang="en-US" b="1" dirty="0"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實際為假</a:t>
                      </a:r>
                      <a:endParaRPr lang="en-US" b="1" dirty="0"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8422460"/>
                  </a:ext>
                </a:extLst>
              </a:tr>
              <a:tr h="535622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預測為真</a:t>
                      </a:r>
                      <a:endParaRPr lang="en-US" b="1" dirty="0"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TP(True Positive)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FP(False Positive)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0126563"/>
                  </a:ext>
                </a:extLst>
              </a:tr>
              <a:tr h="535622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預測為假</a:t>
                      </a:r>
                      <a:endParaRPr lang="en-US" b="1" dirty="0"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FN(False Negative)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TN(True Negative)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8461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6129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BCE1C5-2C10-42EA-9F64-B024C7502852}"/>
              </a:ext>
            </a:extLst>
          </p:cNvPr>
          <p:cNvSpPr txBox="1"/>
          <p:nvPr/>
        </p:nvSpPr>
        <p:spPr>
          <a:xfrm>
            <a:off x="656651" y="658161"/>
            <a:ext cx="93662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將</a:t>
            </a:r>
            <a:r>
              <a:rPr lang="zh-TW" altLang="en-US" b="1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同一模型每個閾值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 的 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(FPR, TPR) 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座標都畫在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ROC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空間裡，就成為</a:t>
            </a:r>
            <a:r>
              <a:rPr lang="zh-TW" altLang="en-US" b="1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特定模型的</a:t>
            </a:r>
            <a:r>
              <a:rPr lang="en-US" altLang="zh-TW" b="1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ROC</a:t>
            </a:r>
            <a:r>
              <a:rPr lang="zh-TW" altLang="en-US" b="1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曲線</a:t>
            </a:r>
            <a:endParaRPr 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4EB9010E-17FD-4AF7-905C-977EC878E4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5746503"/>
              </p:ext>
            </p:extLst>
          </p:nvPr>
        </p:nvGraphicFramePr>
        <p:xfrm>
          <a:off x="361352" y="1490378"/>
          <a:ext cx="2408837" cy="434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2267">
                  <a:extLst>
                    <a:ext uri="{9D8B030D-6E8A-4147-A177-3AD203B41FA5}">
                      <a16:colId xmlns:a16="http://schemas.microsoft.com/office/drawing/2014/main" val="1093154142"/>
                    </a:ext>
                  </a:extLst>
                </a:gridCol>
                <a:gridCol w="1166570">
                  <a:extLst>
                    <a:ext uri="{9D8B030D-6E8A-4147-A177-3AD203B41FA5}">
                      <a16:colId xmlns:a16="http://schemas.microsoft.com/office/drawing/2014/main" val="8455575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Label Data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PredictionValue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4960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 </a:t>
                      </a:r>
                      <a:r>
                        <a:rPr lang="zh-CN" altLang="en-US" dirty="0"/>
                        <a:t>（真）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344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 </a:t>
                      </a:r>
                      <a:r>
                        <a:rPr lang="zh-CN" altLang="en-US" dirty="0"/>
                        <a:t>（假）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9738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4081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3652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4349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6483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354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646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0911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395291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21F3DAF-C77B-455D-BCA1-325FCEDA237F}"/>
              </a:ext>
            </a:extLst>
          </p:cNvPr>
          <p:cNvSpPr txBox="1"/>
          <p:nvPr/>
        </p:nvSpPr>
        <p:spPr>
          <a:xfrm>
            <a:off x="656652" y="181112"/>
            <a:ext cx="108786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依次把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Value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值作為閾值</a:t>
            </a:r>
            <a:r>
              <a:rPr lang="zh-CN" altLang="en-US" dirty="0">
                <a:solidFill>
                  <a:srgbClr val="242424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，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當被試的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Value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值大於等於此閾值時被認為是陽性，否則此被試被認為是陰性</a:t>
            </a:r>
            <a:endParaRPr 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0E95F2-AD20-475F-A127-3B881A3FF288}"/>
              </a:ext>
            </a:extLst>
          </p:cNvPr>
          <p:cNvSpPr txBox="1"/>
          <p:nvPr/>
        </p:nvSpPr>
        <p:spPr>
          <a:xfrm>
            <a:off x="3739716" y="1728471"/>
            <a:ext cx="10453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閾值</a:t>
            </a:r>
            <a:r>
              <a:rPr lang="en-US" altLang="zh-CN" sz="2000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=1</a:t>
            </a:r>
            <a:endParaRPr lang="en-US" sz="20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9556256-85BE-4D92-9D43-8EBD29D24F0F}"/>
              </a:ext>
            </a:extLst>
          </p:cNvPr>
          <p:cNvCxnSpPr/>
          <p:nvPr/>
        </p:nvCxnSpPr>
        <p:spPr>
          <a:xfrm>
            <a:off x="3870664" y="2281561"/>
            <a:ext cx="0" cy="32719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FCF9F83-1CE1-4967-B7BF-5D4D9D5496FA}"/>
              </a:ext>
            </a:extLst>
          </p:cNvPr>
          <p:cNvCxnSpPr>
            <a:cxnSpLocks/>
          </p:cNvCxnSpPr>
          <p:nvPr/>
        </p:nvCxnSpPr>
        <p:spPr>
          <a:xfrm flipH="1">
            <a:off x="3835054" y="2291715"/>
            <a:ext cx="4151056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1F935FE-1BCC-41F8-9AB9-653A2D2883EA}"/>
              </a:ext>
            </a:extLst>
          </p:cNvPr>
          <p:cNvSpPr txBox="1"/>
          <p:nvPr/>
        </p:nvSpPr>
        <p:spPr>
          <a:xfrm>
            <a:off x="3328135" y="2124056"/>
            <a:ext cx="532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77992C-1742-4B9F-AED3-46CA536A807B}"/>
              </a:ext>
            </a:extLst>
          </p:cNvPr>
          <p:cNvSpPr txBox="1"/>
          <p:nvPr/>
        </p:nvSpPr>
        <p:spPr>
          <a:xfrm>
            <a:off x="3302398" y="5368842"/>
            <a:ext cx="532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0.0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E9C8E30-53DB-4134-BCDF-D1F5396B6AF7}"/>
              </a:ext>
            </a:extLst>
          </p:cNvPr>
          <p:cNvSpPr/>
          <p:nvPr/>
        </p:nvSpPr>
        <p:spPr>
          <a:xfrm>
            <a:off x="4838330" y="4562043"/>
            <a:ext cx="308561" cy="3085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48E014C-C3A4-455A-93AD-70082156005D}"/>
              </a:ext>
            </a:extLst>
          </p:cNvPr>
          <p:cNvSpPr/>
          <p:nvPr/>
        </p:nvSpPr>
        <p:spPr>
          <a:xfrm>
            <a:off x="4286511" y="3704006"/>
            <a:ext cx="308561" cy="3085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423518A-26E0-4F3E-96F8-0B6428BE3953}"/>
              </a:ext>
            </a:extLst>
          </p:cNvPr>
          <p:cNvSpPr/>
          <p:nvPr/>
        </p:nvSpPr>
        <p:spPr>
          <a:xfrm>
            <a:off x="5382366" y="3227069"/>
            <a:ext cx="308561" cy="3085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A52849D-9226-455B-BE5F-6609251B083A}"/>
              </a:ext>
            </a:extLst>
          </p:cNvPr>
          <p:cNvSpPr/>
          <p:nvPr/>
        </p:nvSpPr>
        <p:spPr>
          <a:xfrm>
            <a:off x="4684049" y="2505480"/>
            <a:ext cx="308561" cy="3085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97EB78F-257C-4433-A27B-111D7C84B840}"/>
              </a:ext>
            </a:extLst>
          </p:cNvPr>
          <p:cNvSpPr/>
          <p:nvPr/>
        </p:nvSpPr>
        <p:spPr>
          <a:xfrm>
            <a:off x="7105218" y="4742832"/>
            <a:ext cx="308561" cy="30856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B43D448-9DAB-404D-B0E7-159A48BBAAE5}"/>
              </a:ext>
            </a:extLst>
          </p:cNvPr>
          <p:cNvSpPr/>
          <p:nvPr/>
        </p:nvSpPr>
        <p:spPr>
          <a:xfrm>
            <a:off x="6521774" y="3978305"/>
            <a:ext cx="308561" cy="30856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93393E1-001C-4B17-9F4F-A1B5607E3EED}"/>
              </a:ext>
            </a:extLst>
          </p:cNvPr>
          <p:cNvSpPr/>
          <p:nvPr/>
        </p:nvSpPr>
        <p:spPr>
          <a:xfrm>
            <a:off x="7312491" y="3510338"/>
            <a:ext cx="308561" cy="30856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270C66A-341D-4E6A-BAF8-4BF3A5CD7EB7}"/>
              </a:ext>
            </a:extLst>
          </p:cNvPr>
          <p:cNvSpPr/>
          <p:nvPr/>
        </p:nvSpPr>
        <p:spPr>
          <a:xfrm>
            <a:off x="6739400" y="2918509"/>
            <a:ext cx="308561" cy="30856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Brace 30">
            <a:extLst>
              <a:ext uri="{FF2B5EF4-FFF2-40B4-BE49-F238E27FC236}">
                <a16:creationId xmlns:a16="http://schemas.microsoft.com/office/drawing/2014/main" id="{656F70DD-9826-4D94-B6BF-A3F183019118}"/>
              </a:ext>
            </a:extLst>
          </p:cNvPr>
          <p:cNvSpPr/>
          <p:nvPr/>
        </p:nvSpPr>
        <p:spPr>
          <a:xfrm>
            <a:off x="8096435" y="2281561"/>
            <a:ext cx="285008" cy="3338004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A0DFB2-5C68-4E32-B9B4-BBDBB060E4E8}"/>
              </a:ext>
            </a:extLst>
          </p:cNvPr>
          <p:cNvSpPr txBox="1"/>
          <p:nvPr/>
        </p:nvSpPr>
        <p:spPr>
          <a:xfrm>
            <a:off x="8418975" y="3732868"/>
            <a:ext cx="1119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預測為</a:t>
            </a:r>
            <a:r>
              <a:rPr lang="en-US" altLang="zh-CN" dirty="0"/>
              <a:t>B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F20242F-2345-47DD-9A30-C68091AEC3E7}"/>
              </a:ext>
            </a:extLst>
          </p:cNvPr>
          <p:cNvSpPr txBox="1"/>
          <p:nvPr/>
        </p:nvSpPr>
        <p:spPr>
          <a:xfrm>
            <a:off x="9170851" y="1912229"/>
            <a:ext cx="1616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FPR=0/5=0 </a:t>
            </a:r>
          </a:p>
          <a:p>
            <a:r>
              <a:rPr lang="en-US" altLang="zh-CN" dirty="0"/>
              <a:t>TPR=0/5=0 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A0800E-CA65-4F86-AC03-6191461B6A32}"/>
              </a:ext>
            </a:extLst>
          </p:cNvPr>
          <p:cNvSpPr txBox="1"/>
          <p:nvPr/>
        </p:nvSpPr>
        <p:spPr>
          <a:xfrm>
            <a:off x="9138377" y="2814041"/>
            <a:ext cx="2396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</a:t>
            </a:r>
            <a:r>
              <a:rPr lang="en-US" b="1" dirty="0"/>
              <a:t>FPR,TPR) = (0,0)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DF9CCC3-2776-45A1-A245-DD664FAEF421}"/>
              </a:ext>
            </a:extLst>
          </p:cNvPr>
          <p:cNvSpPr/>
          <p:nvPr/>
        </p:nvSpPr>
        <p:spPr>
          <a:xfrm>
            <a:off x="4295389" y="5224642"/>
            <a:ext cx="308561" cy="3085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09CEF4A-9996-4D27-B284-71289D5EF7B1}"/>
              </a:ext>
            </a:extLst>
          </p:cNvPr>
          <p:cNvSpPr/>
          <p:nvPr/>
        </p:nvSpPr>
        <p:spPr>
          <a:xfrm>
            <a:off x="6250082" y="4941503"/>
            <a:ext cx="308561" cy="30856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90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BCE1C5-2C10-42EA-9F64-B024C7502852}"/>
              </a:ext>
            </a:extLst>
          </p:cNvPr>
          <p:cNvSpPr txBox="1"/>
          <p:nvPr/>
        </p:nvSpPr>
        <p:spPr>
          <a:xfrm>
            <a:off x="656651" y="658161"/>
            <a:ext cx="93662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將</a:t>
            </a:r>
            <a:r>
              <a:rPr lang="zh-TW" altLang="en-US" b="1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同一模型每個閾值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 的 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(FPR, TPR) 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座標都畫在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ROC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空間裡，就成為</a:t>
            </a:r>
            <a:r>
              <a:rPr lang="zh-TW" altLang="en-US" b="1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特定模型的</a:t>
            </a:r>
            <a:r>
              <a:rPr lang="en-US" altLang="zh-TW" b="1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ROC</a:t>
            </a:r>
            <a:r>
              <a:rPr lang="zh-TW" altLang="en-US" b="1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曲線</a:t>
            </a:r>
            <a:endParaRPr 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1F3DAF-C77B-455D-BCA1-325FCEDA237F}"/>
              </a:ext>
            </a:extLst>
          </p:cNvPr>
          <p:cNvSpPr txBox="1"/>
          <p:nvPr/>
        </p:nvSpPr>
        <p:spPr>
          <a:xfrm>
            <a:off x="656652" y="181112"/>
            <a:ext cx="108786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依次把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Value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值作為閾值</a:t>
            </a:r>
            <a:r>
              <a:rPr lang="zh-CN" altLang="en-US" dirty="0">
                <a:solidFill>
                  <a:srgbClr val="242424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，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當被試的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Value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值大於等於此閾值時被認為是陽性，否則此被試被認為是陰性</a:t>
            </a:r>
            <a:endParaRPr 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0E95F2-AD20-475F-A127-3B881A3FF288}"/>
              </a:ext>
            </a:extLst>
          </p:cNvPr>
          <p:cNvSpPr txBox="1"/>
          <p:nvPr/>
        </p:nvSpPr>
        <p:spPr>
          <a:xfrm>
            <a:off x="3739716" y="1728471"/>
            <a:ext cx="12528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閾值</a:t>
            </a:r>
            <a:r>
              <a:rPr lang="en-US" altLang="zh-CN" sz="2000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=0.9</a:t>
            </a:r>
            <a:endParaRPr lang="en-US" sz="20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9556256-85BE-4D92-9D43-8EBD29D24F0F}"/>
              </a:ext>
            </a:extLst>
          </p:cNvPr>
          <p:cNvCxnSpPr/>
          <p:nvPr/>
        </p:nvCxnSpPr>
        <p:spPr>
          <a:xfrm>
            <a:off x="3870664" y="2281561"/>
            <a:ext cx="0" cy="32719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FCF9F83-1CE1-4967-B7BF-5D4D9D5496FA}"/>
              </a:ext>
            </a:extLst>
          </p:cNvPr>
          <p:cNvCxnSpPr>
            <a:cxnSpLocks/>
          </p:cNvCxnSpPr>
          <p:nvPr/>
        </p:nvCxnSpPr>
        <p:spPr>
          <a:xfrm flipH="1">
            <a:off x="3644710" y="2841950"/>
            <a:ext cx="4291927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1F935FE-1BCC-41F8-9AB9-653A2D2883EA}"/>
              </a:ext>
            </a:extLst>
          </p:cNvPr>
          <p:cNvSpPr txBox="1"/>
          <p:nvPr/>
        </p:nvSpPr>
        <p:spPr>
          <a:xfrm>
            <a:off x="3328135" y="2124056"/>
            <a:ext cx="532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77992C-1742-4B9F-AED3-46CA536A807B}"/>
              </a:ext>
            </a:extLst>
          </p:cNvPr>
          <p:cNvSpPr txBox="1"/>
          <p:nvPr/>
        </p:nvSpPr>
        <p:spPr>
          <a:xfrm>
            <a:off x="3302398" y="5368842"/>
            <a:ext cx="532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0.0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E9C8E30-53DB-4134-BCDF-D1F5396B6AF7}"/>
              </a:ext>
            </a:extLst>
          </p:cNvPr>
          <p:cNvSpPr/>
          <p:nvPr/>
        </p:nvSpPr>
        <p:spPr>
          <a:xfrm>
            <a:off x="4838330" y="4562043"/>
            <a:ext cx="308561" cy="3085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48E014C-C3A4-455A-93AD-70082156005D}"/>
              </a:ext>
            </a:extLst>
          </p:cNvPr>
          <p:cNvSpPr/>
          <p:nvPr/>
        </p:nvSpPr>
        <p:spPr>
          <a:xfrm>
            <a:off x="4286511" y="3704006"/>
            <a:ext cx="308561" cy="3085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423518A-26E0-4F3E-96F8-0B6428BE3953}"/>
              </a:ext>
            </a:extLst>
          </p:cNvPr>
          <p:cNvSpPr/>
          <p:nvPr/>
        </p:nvSpPr>
        <p:spPr>
          <a:xfrm>
            <a:off x="5382366" y="3227069"/>
            <a:ext cx="308561" cy="3085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A52849D-9226-455B-BE5F-6609251B083A}"/>
              </a:ext>
            </a:extLst>
          </p:cNvPr>
          <p:cNvSpPr/>
          <p:nvPr/>
        </p:nvSpPr>
        <p:spPr>
          <a:xfrm>
            <a:off x="4684049" y="2505480"/>
            <a:ext cx="308561" cy="3085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97EB78F-257C-4433-A27B-111D7C84B840}"/>
              </a:ext>
            </a:extLst>
          </p:cNvPr>
          <p:cNvSpPr/>
          <p:nvPr/>
        </p:nvSpPr>
        <p:spPr>
          <a:xfrm>
            <a:off x="7105218" y="4742832"/>
            <a:ext cx="308561" cy="30856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B43D448-9DAB-404D-B0E7-159A48BBAAE5}"/>
              </a:ext>
            </a:extLst>
          </p:cNvPr>
          <p:cNvSpPr/>
          <p:nvPr/>
        </p:nvSpPr>
        <p:spPr>
          <a:xfrm>
            <a:off x="6521774" y="3978305"/>
            <a:ext cx="308561" cy="30856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93393E1-001C-4B17-9F4F-A1B5607E3EED}"/>
              </a:ext>
            </a:extLst>
          </p:cNvPr>
          <p:cNvSpPr/>
          <p:nvPr/>
        </p:nvSpPr>
        <p:spPr>
          <a:xfrm>
            <a:off x="7312491" y="3510338"/>
            <a:ext cx="308561" cy="30856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270C66A-341D-4E6A-BAF8-4BF3A5CD7EB7}"/>
              </a:ext>
            </a:extLst>
          </p:cNvPr>
          <p:cNvSpPr/>
          <p:nvPr/>
        </p:nvSpPr>
        <p:spPr>
          <a:xfrm>
            <a:off x="6739400" y="2918509"/>
            <a:ext cx="308561" cy="30856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Brace 30">
            <a:extLst>
              <a:ext uri="{FF2B5EF4-FFF2-40B4-BE49-F238E27FC236}">
                <a16:creationId xmlns:a16="http://schemas.microsoft.com/office/drawing/2014/main" id="{656F70DD-9826-4D94-B6BF-A3F183019118}"/>
              </a:ext>
            </a:extLst>
          </p:cNvPr>
          <p:cNvSpPr/>
          <p:nvPr/>
        </p:nvSpPr>
        <p:spPr>
          <a:xfrm>
            <a:off x="8096435" y="2281561"/>
            <a:ext cx="285008" cy="560388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A0DFB2-5C68-4E32-B9B4-BBDBB060E4E8}"/>
              </a:ext>
            </a:extLst>
          </p:cNvPr>
          <p:cNvSpPr txBox="1"/>
          <p:nvPr/>
        </p:nvSpPr>
        <p:spPr>
          <a:xfrm>
            <a:off x="8381443" y="2390463"/>
            <a:ext cx="1119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預測為</a:t>
            </a:r>
            <a:r>
              <a:rPr lang="en-US" altLang="zh-CN" dirty="0"/>
              <a:t>A</a:t>
            </a:r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EF6F96D-7F5A-4D73-9113-1502452B57E5}"/>
              </a:ext>
            </a:extLst>
          </p:cNvPr>
          <p:cNvSpPr txBox="1"/>
          <p:nvPr/>
        </p:nvSpPr>
        <p:spPr>
          <a:xfrm>
            <a:off x="3187674" y="2659760"/>
            <a:ext cx="532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0.9</a:t>
            </a:r>
          </a:p>
        </p:txBody>
      </p:sp>
      <p:sp>
        <p:nvSpPr>
          <p:cNvPr id="36" name="Right Brace 35">
            <a:extLst>
              <a:ext uri="{FF2B5EF4-FFF2-40B4-BE49-F238E27FC236}">
                <a16:creationId xmlns:a16="http://schemas.microsoft.com/office/drawing/2014/main" id="{DC2E9663-9E51-4C2C-93C4-3C775363616D}"/>
              </a:ext>
            </a:extLst>
          </p:cNvPr>
          <p:cNvSpPr/>
          <p:nvPr/>
        </p:nvSpPr>
        <p:spPr>
          <a:xfrm>
            <a:off x="8096435" y="2894246"/>
            <a:ext cx="285008" cy="2659262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AE8B6BA-EC36-46A7-AFC9-E97E7CEE3ACC}"/>
              </a:ext>
            </a:extLst>
          </p:cNvPr>
          <p:cNvSpPr txBox="1"/>
          <p:nvPr/>
        </p:nvSpPr>
        <p:spPr>
          <a:xfrm>
            <a:off x="8346025" y="4039211"/>
            <a:ext cx="1119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預測為</a:t>
            </a:r>
            <a:r>
              <a:rPr lang="en-US" altLang="zh-CN" dirty="0"/>
              <a:t>B</a:t>
            </a:r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499F9CE-F847-42DD-A3B8-A70EEFFB4938}"/>
              </a:ext>
            </a:extLst>
          </p:cNvPr>
          <p:cNvSpPr txBox="1"/>
          <p:nvPr/>
        </p:nvSpPr>
        <p:spPr>
          <a:xfrm>
            <a:off x="9485943" y="1829860"/>
            <a:ext cx="1616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FPR=0/5=0 </a:t>
            </a:r>
          </a:p>
          <a:p>
            <a:r>
              <a:rPr lang="en-US" altLang="zh-CN" dirty="0"/>
              <a:t>TPR=1/5=0.2 </a:t>
            </a:r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3CC839D-4CCA-48C0-925D-37150E83EDAD}"/>
              </a:ext>
            </a:extLst>
          </p:cNvPr>
          <p:cNvSpPr txBox="1"/>
          <p:nvPr/>
        </p:nvSpPr>
        <p:spPr>
          <a:xfrm>
            <a:off x="9453469" y="2731672"/>
            <a:ext cx="2396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</a:t>
            </a:r>
            <a:r>
              <a:rPr lang="en-US" b="1" dirty="0"/>
              <a:t>FPR,TPR) = (0,0.2)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A526E61-BEBF-4856-9264-466E8C49A167}"/>
              </a:ext>
            </a:extLst>
          </p:cNvPr>
          <p:cNvSpPr/>
          <p:nvPr/>
        </p:nvSpPr>
        <p:spPr>
          <a:xfrm>
            <a:off x="4295389" y="5224642"/>
            <a:ext cx="308561" cy="3085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78395E50-FA77-4612-BBFA-28CF89C2042D}"/>
              </a:ext>
            </a:extLst>
          </p:cNvPr>
          <p:cNvSpPr/>
          <p:nvPr/>
        </p:nvSpPr>
        <p:spPr>
          <a:xfrm>
            <a:off x="6250082" y="4941503"/>
            <a:ext cx="308561" cy="30856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2" name="Table 7">
            <a:extLst>
              <a:ext uri="{FF2B5EF4-FFF2-40B4-BE49-F238E27FC236}">
                <a16:creationId xmlns:a16="http://schemas.microsoft.com/office/drawing/2014/main" id="{4EB9010E-17FD-4AF7-905C-977EC878E4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274085"/>
              </p:ext>
            </p:extLst>
          </p:nvPr>
        </p:nvGraphicFramePr>
        <p:xfrm>
          <a:off x="361352" y="1490378"/>
          <a:ext cx="2408837" cy="434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2267">
                  <a:extLst>
                    <a:ext uri="{9D8B030D-6E8A-4147-A177-3AD203B41FA5}">
                      <a16:colId xmlns:a16="http://schemas.microsoft.com/office/drawing/2014/main" val="1093154142"/>
                    </a:ext>
                  </a:extLst>
                </a:gridCol>
                <a:gridCol w="1166570">
                  <a:extLst>
                    <a:ext uri="{9D8B030D-6E8A-4147-A177-3AD203B41FA5}">
                      <a16:colId xmlns:a16="http://schemas.microsoft.com/office/drawing/2014/main" val="8455575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Label Data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PredictionValue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4960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 </a:t>
                      </a:r>
                      <a:r>
                        <a:rPr lang="zh-CN" altLang="en-US" dirty="0"/>
                        <a:t>（真）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344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 </a:t>
                      </a:r>
                      <a:r>
                        <a:rPr lang="zh-CN" altLang="en-US" dirty="0"/>
                        <a:t>（假）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9738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4081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3652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4349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6483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354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646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0911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3952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5614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BCE1C5-2C10-42EA-9F64-B024C7502852}"/>
              </a:ext>
            </a:extLst>
          </p:cNvPr>
          <p:cNvSpPr txBox="1"/>
          <p:nvPr/>
        </p:nvSpPr>
        <p:spPr>
          <a:xfrm>
            <a:off x="656651" y="658161"/>
            <a:ext cx="93662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將</a:t>
            </a:r>
            <a:r>
              <a:rPr lang="zh-TW" altLang="en-US" b="1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同一模型每個閾值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 的 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(FPR, TPR) 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座標都畫在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ROC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空間裡，就成為</a:t>
            </a:r>
            <a:r>
              <a:rPr lang="zh-TW" altLang="en-US" b="1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特定模型的</a:t>
            </a:r>
            <a:r>
              <a:rPr lang="en-US" altLang="zh-TW" b="1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ROC</a:t>
            </a:r>
            <a:r>
              <a:rPr lang="zh-TW" altLang="en-US" b="1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曲線</a:t>
            </a:r>
            <a:endParaRPr 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1F3DAF-C77B-455D-BCA1-325FCEDA237F}"/>
              </a:ext>
            </a:extLst>
          </p:cNvPr>
          <p:cNvSpPr txBox="1"/>
          <p:nvPr/>
        </p:nvSpPr>
        <p:spPr>
          <a:xfrm>
            <a:off x="656652" y="181112"/>
            <a:ext cx="108786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依次把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Value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值作為閾值</a:t>
            </a:r>
            <a:r>
              <a:rPr lang="zh-CN" altLang="en-US" dirty="0">
                <a:solidFill>
                  <a:srgbClr val="242424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，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當被試的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Value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值大於等於此閾值時被認為是陽性，否則此被試被認為是陰性</a:t>
            </a:r>
            <a:endParaRPr 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0E95F2-AD20-475F-A127-3B881A3FF288}"/>
              </a:ext>
            </a:extLst>
          </p:cNvPr>
          <p:cNvSpPr txBox="1"/>
          <p:nvPr/>
        </p:nvSpPr>
        <p:spPr>
          <a:xfrm>
            <a:off x="3739716" y="1728471"/>
            <a:ext cx="12528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閾值</a:t>
            </a:r>
            <a:r>
              <a:rPr lang="en-US" altLang="zh-CN" sz="2000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=0.8</a:t>
            </a:r>
            <a:endParaRPr lang="en-US" sz="20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9556256-85BE-4D92-9D43-8EBD29D24F0F}"/>
              </a:ext>
            </a:extLst>
          </p:cNvPr>
          <p:cNvCxnSpPr/>
          <p:nvPr/>
        </p:nvCxnSpPr>
        <p:spPr>
          <a:xfrm>
            <a:off x="3870664" y="2281561"/>
            <a:ext cx="0" cy="32719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FCF9F83-1CE1-4967-B7BF-5D4D9D5496FA}"/>
              </a:ext>
            </a:extLst>
          </p:cNvPr>
          <p:cNvCxnSpPr>
            <a:cxnSpLocks/>
          </p:cNvCxnSpPr>
          <p:nvPr/>
        </p:nvCxnSpPr>
        <p:spPr>
          <a:xfrm flipH="1">
            <a:off x="3720330" y="3227069"/>
            <a:ext cx="4291927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1F935FE-1BCC-41F8-9AB9-653A2D2883EA}"/>
              </a:ext>
            </a:extLst>
          </p:cNvPr>
          <p:cNvSpPr txBox="1"/>
          <p:nvPr/>
        </p:nvSpPr>
        <p:spPr>
          <a:xfrm>
            <a:off x="3328135" y="2124056"/>
            <a:ext cx="532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77992C-1742-4B9F-AED3-46CA536A807B}"/>
              </a:ext>
            </a:extLst>
          </p:cNvPr>
          <p:cNvSpPr txBox="1"/>
          <p:nvPr/>
        </p:nvSpPr>
        <p:spPr>
          <a:xfrm>
            <a:off x="3302398" y="5368842"/>
            <a:ext cx="532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0.0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E9C8E30-53DB-4134-BCDF-D1F5396B6AF7}"/>
              </a:ext>
            </a:extLst>
          </p:cNvPr>
          <p:cNvSpPr/>
          <p:nvPr/>
        </p:nvSpPr>
        <p:spPr>
          <a:xfrm>
            <a:off x="4838330" y="4562043"/>
            <a:ext cx="308561" cy="3085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48E014C-C3A4-455A-93AD-70082156005D}"/>
              </a:ext>
            </a:extLst>
          </p:cNvPr>
          <p:cNvSpPr/>
          <p:nvPr/>
        </p:nvSpPr>
        <p:spPr>
          <a:xfrm>
            <a:off x="4286511" y="3704006"/>
            <a:ext cx="308561" cy="3085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423518A-26E0-4F3E-96F8-0B6428BE3953}"/>
              </a:ext>
            </a:extLst>
          </p:cNvPr>
          <p:cNvSpPr/>
          <p:nvPr/>
        </p:nvSpPr>
        <p:spPr>
          <a:xfrm>
            <a:off x="5382366" y="3227069"/>
            <a:ext cx="308561" cy="3085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A52849D-9226-455B-BE5F-6609251B083A}"/>
              </a:ext>
            </a:extLst>
          </p:cNvPr>
          <p:cNvSpPr/>
          <p:nvPr/>
        </p:nvSpPr>
        <p:spPr>
          <a:xfrm>
            <a:off x="4684049" y="2505480"/>
            <a:ext cx="308561" cy="3085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97EB78F-257C-4433-A27B-111D7C84B840}"/>
              </a:ext>
            </a:extLst>
          </p:cNvPr>
          <p:cNvSpPr/>
          <p:nvPr/>
        </p:nvSpPr>
        <p:spPr>
          <a:xfrm>
            <a:off x="7105218" y="4742832"/>
            <a:ext cx="308561" cy="30856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B43D448-9DAB-404D-B0E7-159A48BBAAE5}"/>
              </a:ext>
            </a:extLst>
          </p:cNvPr>
          <p:cNvSpPr/>
          <p:nvPr/>
        </p:nvSpPr>
        <p:spPr>
          <a:xfrm>
            <a:off x="6521774" y="3978305"/>
            <a:ext cx="308561" cy="30856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93393E1-001C-4B17-9F4F-A1B5607E3EED}"/>
              </a:ext>
            </a:extLst>
          </p:cNvPr>
          <p:cNvSpPr/>
          <p:nvPr/>
        </p:nvSpPr>
        <p:spPr>
          <a:xfrm>
            <a:off x="7312491" y="3510338"/>
            <a:ext cx="308561" cy="30856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270C66A-341D-4E6A-BAF8-4BF3A5CD7EB7}"/>
              </a:ext>
            </a:extLst>
          </p:cNvPr>
          <p:cNvSpPr/>
          <p:nvPr/>
        </p:nvSpPr>
        <p:spPr>
          <a:xfrm>
            <a:off x="6739400" y="2918509"/>
            <a:ext cx="308561" cy="30856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Brace 30">
            <a:extLst>
              <a:ext uri="{FF2B5EF4-FFF2-40B4-BE49-F238E27FC236}">
                <a16:creationId xmlns:a16="http://schemas.microsoft.com/office/drawing/2014/main" id="{656F70DD-9826-4D94-B6BF-A3F183019118}"/>
              </a:ext>
            </a:extLst>
          </p:cNvPr>
          <p:cNvSpPr/>
          <p:nvPr/>
        </p:nvSpPr>
        <p:spPr>
          <a:xfrm>
            <a:off x="8096435" y="2281560"/>
            <a:ext cx="308560" cy="945507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A0DFB2-5C68-4E32-B9B4-BBDBB060E4E8}"/>
              </a:ext>
            </a:extLst>
          </p:cNvPr>
          <p:cNvSpPr txBox="1"/>
          <p:nvPr/>
        </p:nvSpPr>
        <p:spPr>
          <a:xfrm>
            <a:off x="8366893" y="2569647"/>
            <a:ext cx="1119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預測為</a:t>
            </a:r>
            <a:r>
              <a:rPr lang="en-US" altLang="zh-CN" dirty="0"/>
              <a:t>A</a:t>
            </a:r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EF6F96D-7F5A-4D73-9113-1502452B57E5}"/>
              </a:ext>
            </a:extLst>
          </p:cNvPr>
          <p:cNvSpPr txBox="1"/>
          <p:nvPr/>
        </p:nvSpPr>
        <p:spPr>
          <a:xfrm>
            <a:off x="3216311" y="3056566"/>
            <a:ext cx="532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0.8</a:t>
            </a:r>
          </a:p>
        </p:txBody>
      </p:sp>
      <p:sp>
        <p:nvSpPr>
          <p:cNvPr id="36" name="Right Brace 35">
            <a:extLst>
              <a:ext uri="{FF2B5EF4-FFF2-40B4-BE49-F238E27FC236}">
                <a16:creationId xmlns:a16="http://schemas.microsoft.com/office/drawing/2014/main" id="{DC2E9663-9E51-4C2C-93C4-3C775363616D}"/>
              </a:ext>
            </a:extLst>
          </p:cNvPr>
          <p:cNvSpPr/>
          <p:nvPr/>
        </p:nvSpPr>
        <p:spPr>
          <a:xfrm>
            <a:off x="8096435" y="3227068"/>
            <a:ext cx="308560" cy="2326439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AE8B6BA-EC36-46A7-AFC9-E97E7CEE3ACC}"/>
              </a:ext>
            </a:extLst>
          </p:cNvPr>
          <p:cNvSpPr txBox="1"/>
          <p:nvPr/>
        </p:nvSpPr>
        <p:spPr>
          <a:xfrm>
            <a:off x="8418975" y="4183694"/>
            <a:ext cx="1119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預測為</a:t>
            </a:r>
            <a:r>
              <a:rPr lang="en-US" altLang="zh-CN" dirty="0"/>
              <a:t>B</a:t>
            </a:r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499F9CE-F847-42DD-A3B8-A70EEFFB4938}"/>
              </a:ext>
            </a:extLst>
          </p:cNvPr>
          <p:cNvSpPr txBox="1"/>
          <p:nvPr/>
        </p:nvSpPr>
        <p:spPr>
          <a:xfrm>
            <a:off x="9485943" y="1829860"/>
            <a:ext cx="1616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FPR=1/5=0.2 </a:t>
            </a:r>
          </a:p>
          <a:p>
            <a:r>
              <a:rPr lang="en-US" altLang="zh-CN" dirty="0"/>
              <a:t>TPR=1/5=0.2 </a:t>
            </a:r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3CC839D-4CCA-48C0-925D-37150E83EDAD}"/>
              </a:ext>
            </a:extLst>
          </p:cNvPr>
          <p:cNvSpPr txBox="1"/>
          <p:nvPr/>
        </p:nvSpPr>
        <p:spPr>
          <a:xfrm>
            <a:off x="9453469" y="2731672"/>
            <a:ext cx="2396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(FPR,TPR) = (0.2, 0.2)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A201484-4AF4-4A28-90FB-C85B82766DB7}"/>
              </a:ext>
            </a:extLst>
          </p:cNvPr>
          <p:cNvSpPr/>
          <p:nvPr/>
        </p:nvSpPr>
        <p:spPr>
          <a:xfrm>
            <a:off x="4295389" y="5224642"/>
            <a:ext cx="308561" cy="3085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38E5E9A-7973-4778-981E-59B2360DE854}"/>
              </a:ext>
            </a:extLst>
          </p:cNvPr>
          <p:cNvSpPr/>
          <p:nvPr/>
        </p:nvSpPr>
        <p:spPr>
          <a:xfrm>
            <a:off x="6250082" y="4941503"/>
            <a:ext cx="308561" cy="30856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7" name="Table 7">
            <a:extLst>
              <a:ext uri="{FF2B5EF4-FFF2-40B4-BE49-F238E27FC236}">
                <a16:creationId xmlns:a16="http://schemas.microsoft.com/office/drawing/2014/main" id="{4EB9010E-17FD-4AF7-905C-977EC878E4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274085"/>
              </p:ext>
            </p:extLst>
          </p:nvPr>
        </p:nvGraphicFramePr>
        <p:xfrm>
          <a:off x="361352" y="1490378"/>
          <a:ext cx="2408837" cy="434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2267">
                  <a:extLst>
                    <a:ext uri="{9D8B030D-6E8A-4147-A177-3AD203B41FA5}">
                      <a16:colId xmlns:a16="http://schemas.microsoft.com/office/drawing/2014/main" val="1093154142"/>
                    </a:ext>
                  </a:extLst>
                </a:gridCol>
                <a:gridCol w="1166570">
                  <a:extLst>
                    <a:ext uri="{9D8B030D-6E8A-4147-A177-3AD203B41FA5}">
                      <a16:colId xmlns:a16="http://schemas.microsoft.com/office/drawing/2014/main" val="8455575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Label Data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PredictionValue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4960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 </a:t>
                      </a:r>
                      <a:r>
                        <a:rPr lang="zh-CN" altLang="en-US" dirty="0"/>
                        <a:t>（真）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344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 </a:t>
                      </a:r>
                      <a:r>
                        <a:rPr lang="zh-CN" altLang="en-US" dirty="0"/>
                        <a:t>（假）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9738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4081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3652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4349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6483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354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646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0911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3952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6638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BCE1C5-2C10-42EA-9F64-B024C7502852}"/>
              </a:ext>
            </a:extLst>
          </p:cNvPr>
          <p:cNvSpPr txBox="1"/>
          <p:nvPr/>
        </p:nvSpPr>
        <p:spPr>
          <a:xfrm>
            <a:off x="656651" y="658161"/>
            <a:ext cx="93662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將</a:t>
            </a:r>
            <a:r>
              <a:rPr lang="zh-TW" altLang="en-US" b="1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同一模型每個閾值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 的 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(FPR, TPR) 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座標都畫在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ROC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空間裡，就成為</a:t>
            </a:r>
            <a:r>
              <a:rPr lang="zh-TW" altLang="en-US" b="1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特定模型的</a:t>
            </a:r>
            <a:r>
              <a:rPr lang="en-US" altLang="zh-TW" b="1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ROC</a:t>
            </a:r>
            <a:r>
              <a:rPr lang="zh-TW" altLang="en-US" b="1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曲線</a:t>
            </a:r>
            <a:endParaRPr 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1F3DAF-C77B-455D-BCA1-325FCEDA237F}"/>
              </a:ext>
            </a:extLst>
          </p:cNvPr>
          <p:cNvSpPr txBox="1"/>
          <p:nvPr/>
        </p:nvSpPr>
        <p:spPr>
          <a:xfrm>
            <a:off x="656652" y="181112"/>
            <a:ext cx="108786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依次把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Value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值作為閾值</a:t>
            </a:r>
            <a:r>
              <a:rPr lang="zh-CN" altLang="en-US" dirty="0">
                <a:solidFill>
                  <a:srgbClr val="242424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，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當被試的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Value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值大於等於此閾值時被認為是陽性，否則此被試被認為是陰性</a:t>
            </a:r>
            <a:endParaRPr 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0E95F2-AD20-475F-A127-3B881A3FF288}"/>
              </a:ext>
            </a:extLst>
          </p:cNvPr>
          <p:cNvSpPr txBox="1"/>
          <p:nvPr/>
        </p:nvSpPr>
        <p:spPr>
          <a:xfrm>
            <a:off x="3739716" y="1728471"/>
            <a:ext cx="12528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閾值</a:t>
            </a:r>
            <a:r>
              <a:rPr lang="en-US" altLang="zh-CN" sz="2000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=0.7</a:t>
            </a:r>
            <a:endParaRPr lang="en-US" sz="20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9556256-85BE-4D92-9D43-8EBD29D24F0F}"/>
              </a:ext>
            </a:extLst>
          </p:cNvPr>
          <p:cNvCxnSpPr/>
          <p:nvPr/>
        </p:nvCxnSpPr>
        <p:spPr>
          <a:xfrm>
            <a:off x="3870664" y="2281561"/>
            <a:ext cx="0" cy="32719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FCF9F83-1CE1-4967-B7BF-5D4D9D5496FA}"/>
              </a:ext>
            </a:extLst>
          </p:cNvPr>
          <p:cNvCxnSpPr>
            <a:cxnSpLocks/>
          </p:cNvCxnSpPr>
          <p:nvPr/>
        </p:nvCxnSpPr>
        <p:spPr>
          <a:xfrm flipH="1">
            <a:off x="3748967" y="3505935"/>
            <a:ext cx="4291927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1F935FE-1BCC-41F8-9AB9-653A2D2883EA}"/>
              </a:ext>
            </a:extLst>
          </p:cNvPr>
          <p:cNvSpPr txBox="1"/>
          <p:nvPr/>
        </p:nvSpPr>
        <p:spPr>
          <a:xfrm>
            <a:off x="3328135" y="2124056"/>
            <a:ext cx="532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77992C-1742-4B9F-AED3-46CA536A807B}"/>
              </a:ext>
            </a:extLst>
          </p:cNvPr>
          <p:cNvSpPr txBox="1"/>
          <p:nvPr/>
        </p:nvSpPr>
        <p:spPr>
          <a:xfrm>
            <a:off x="3302398" y="5368842"/>
            <a:ext cx="532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0.0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E9C8E30-53DB-4134-BCDF-D1F5396B6AF7}"/>
              </a:ext>
            </a:extLst>
          </p:cNvPr>
          <p:cNvSpPr/>
          <p:nvPr/>
        </p:nvSpPr>
        <p:spPr>
          <a:xfrm>
            <a:off x="4838330" y="4562043"/>
            <a:ext cx="308561" cy="3085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48E014C-C3A4-455A-93AD-70082156005D}"/>
              </a:ext>
            </a:extLst>
          </p:cNvPr>
          <p:cNvSpPr/>
          <p:nvPr/>
        </p:nvSpPr>
        <p:spPr>
          <a:xfrm>
            <a:off x="4286511" y="3704006"/>
            <a:ext cx="308561" cy="3085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423518A-26E0-4F3E-96F8-0B6428BE3953}"/>
              </a:ext>
            </a:extLst>
          </p:cNvPr>
          <p:cNvSpPr/>
          <p:nvPr/>
        </p:nvSpPr>
        <p:spPr>
          <a:xfrm>
            <a:off x="5382366" y="3227069"/>
            <a:ext cx="308561" cy="3085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A52849D-9226-455B-BE5F-6609251B083A}"/>
              </a:ext>
            </a:extLst>
          </p:cNvPr>
          <p:cNvSpPr/>
          <p:nvPr/>
        </p:nvSpPr>
        <p:spPr>
          <a:xfrm>
            <a:off x="4684049" y="2505480"/>
            <a:ext cx="308561" cy="3085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97EB78F-257C-4433-A27B-111D7C84B840}"/>
              </a:ext>
            </a:extLst>
          </p:cNvPr>
          <p:cNvSpPr/>
          <p:nvPr/>
        </p:nvSpPr>
        <p:spPr>
          <a:xfrm>
            <a:off x="7105218" y="4742832"/>
            <a:ext cx="308561" cy="30856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B43D448-9DAB-404D-B0E7-159A48BBAAE5}"/>
              </a:ext>
            </a:extLst>
          </p:cNvPr>
          <p:cNvSpPr/>
          <p:nvPr/>
        </p:nvSpPr>
        <p:spPr>
          <a:xfrm>
            <a:off x="6521774" y="3978305"/>
            <a:ext cx="308561" cy="30856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93393E1-001C-4B17-9F4F-A1B5607E3EED}"/>
              </a:ext>
            </a:extLst>
          </p:cNvPr>
          <p:cNvSpPr/>
          <p:nvPr/>
        </p:nvSpPr>
        <p:spPr>
          <a:xfrm>
            <a:off x="7312491" y="3510338"/>
            <a:ext cx="308561" cy="30856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270C66A-341D-4E6A-BAF8-4BF3A5CD7EB7}"/>
              </a:ext>
            </a:extLst>
          </p:cNvPr>
          <p:cNvSpPr/>
          <p:nvPr/>
        </p:nvSpPr>
        <p:spPr>
          <a:xfrm>
            <a:off x="6739400" y="2918509"/>
            <a:ext cx="308561" cy="30856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Brace 30">
            <a:extLst>
              <a:ext uri="{FF2B5EF4-FFF2-40B4-BE49-F238E27FC236}">
                <a16:creationId xmlns:a16="http://schemas.microsoft.com/office/drawing/2014/main" id="{656F70DD-9826-4D94-B6BF-A3F183019118}"/>
              </a:ext>
            </a:extLst>
          </p:cNvPr>
          <p:cNvSpPr/>
          <p:nvPr/>
        </p:nvSpPr>
        <p:spPr>
          <a:xfrm>
            <a:off x="8096434" y="2281560"/>
            <a:ext cx="322533" cy="1224375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A0DFB2-5C68-4E32-B9B4-BBDBB060E4E8}"/>
              </a:ext>
            </a:extLst>
          </p:cNvPr>
          <p:cNvSpPr txBox="1"/>
          <p:nvPr/>
        </p:nvSpPr>
        <p:spPr>
          <a:xfrm>
            <a:off x="8366893" y="2674306"/>
            <a:ext cx="1119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預測為</a:t>
            </a:r>
            <a:r>
              <a:rPr lang="en-US" altLang="zh-CN" dirty="0"/>
              <a:t>A</a:t>
            </a:r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EF6F96D-7F5A-4D73-9113-1502452B57E5}"/>
              </a:ext>
            </a:extLst>
          </p:cNvPr>
          <p:cNvSpPr txBox="1"/>
          <p:nvPr/>
        </p:nvSpPr>
        <p:spPr>
          <a:xfrm>
            <a:off x="3278998" y="3321269"/>
            <a:ext cx="532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0.7</a:t>
            </a:r>
          </a:p>
        </p:txBody>
      </p:sp>
      <p:sp>
        <p:nvSpPr>
          <p:cNvPr id="36" name="Right Brace 35">
            <a:extLst>
              <a:ext uri="{FF2B5EF4-FFF2-40B4-BE49-F238E27FC236}">
                <a16:creationId xmlns:a16="http://schemas.microsoft.com/office/drawing/2014/main" id="{DC2E9663-9E51-4C2C-93C4-3C775363616D}"/>
              </a:ext>
            </a:extLst>
          </p:cNvPr>
          <p:cNvSpPr/>
          <p:nvPr/>
        </p:nvSpPr>
        <p:spPr>
          <a:xfrm>
            <a:off x="8096435" y="3505935"/>
            <a:ext cx="308559" cy="2047572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AE8B6BA-EC36-46A7-AFC9-E97E7CEE3ACC}"/>
              </a:ext>
            </a:extLst>
          </p:cNvPr>
          <p:cNvSpPr txBox="1"/>
          <p:nvPr/>
        </p:nvSpPr>
        <p:spPr>
          <a:xfrm>
            <a:off x="8404994" y="4345055"/>
            <a:ext cx="1119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預測為</a:t>
            </a:r>
            <a:r>
              <a:rPr lang="en-US" altLang="zh-CN" dirty="0"/>
              <a:t>B</a:t>
            </a:r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499F9CE-F847-42DD-A3B8-A70EEFFB4938}"/>
              </a:ext>
            </a:extLst>
          </p:cNvPr>
          <p:cNvSpPr txBox="1"/>
          <p:nvPr/>
        </p:nvSpPr>
        <p:spPr>
          <a:xfrm>
            <a:off x="9485943" y="1829860"/>
            <a:ext cx="1616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FPR=1/5=0.2 </a:t>
            </a:r>
          </a:p>
          <a:p>
            <a:r>
              <a:rPr lang="en-US" altLang="zh-CN" dirty="0"/>
              <a:t>TPR=2/5=0.4 </a:t>
            </a:r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3CC839D-4CCA-48C0-925D-37150E83EDAD}"/>
              </a:ext>
            </a:extLst>
          </p:cNvPr>
          <p:cNvSpPr txBox="1"/>
          <p:nvPr/>
        </p:nvSpPr>
        <p:spPr>
          <a:xfrm>
            <a:off x="9453469" y="2731672"/>
            <a:ext cx="2396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</a:t>
            </a:r>
            <a:r>
              <a:rPr lang="en-US" b="1" dirty="0"/>
              <a:t>FPR,TPR) = (0.2, 0.4)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CFB5CD1-63B6-40CB-B1D3-69403EFE8ECD}"/>
              </a:ext>
            </a:extLst>
          </p:cNvPr>
          <p:cNvSpPr/>
          <p:nvPr/>
        </p:nvSpPr>
        <p:spPr>
          <a:xfrm>
            <a:off x="4295389" y="5224642"/>
            <a:ext cx="308561" cy="3085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F092B5A3-01BF-4EAF-8055-A81B7A39986A}"/>
              </a:ext>
            </a:extLst>
          </p:cNvPr>
          <p:cNvSpPr/>
          <p:nvPr/>
        </p:nvSpPr>
        <p:spPr>
          <a:xfrm>
            <a:off x="6250082" y="4941503"/>
            <a:ext cx="308561" cy="30856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7" name="Table 7">
            <a:extLst>
              <a:ext uri="{FF2B5EF4-FFF2-40B4-BE49-F238E27FC236}">
                <a16:creationId xmlns:a16="http://schemas.microsoft.com/office/drawing/2014/main" id="{4EB9010E-17FD-4AF7-905C-977EC878E4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274085"/>
              </p:ext>
            </p:extLst>
          </p:nvPr>
        </p:nvGraphicFramePr>
        <p:xfrm>
          <a:off x="361352" y="1490378"/>
          <a:ext cx="2408837" cy="434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2267">
                  <a:extLst>
                    <a:ext uri="{9D8B030D-6E8A-4147-A177-3AD203B41FA5}">
                      <a16:colId xmlns:a16="http://schemas.microsoft.com/office/drawing/2014/main" val="1093154142"/>
                    </a:ext>
                  </a:extLst>
                </a:gridCol>
                <a:gridCol w="1166570">
                  <a:extLst>
                    <a:ext uri="{9D8B030D-6E8A-4147-A177-3AD203B41FA5}">
                      <a16:colId xmlns:a16="http://schemas.microsoft.com/office/drawing/2014/main" val="8455575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Label Data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PredictionValue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4960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 </a:t>
                      </a:r>
                      <a:r>
                        <a:rPr lang="zh-CN" altLang="en-US" dirty="0"/>
                        <a:t>（真）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344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 </a:t>
                      </a:r>
                      <a:r>
                        <a:rPr lang="zh-CN" altLang="en-US" dirty="0"/>
                        <a:t>（假）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9738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4081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3652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4349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6483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354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646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0911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3952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3918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BCE1C5-2C10-42EA-9F64-B024C7502852}"/>
              </a:ext>
            </a:extLst>
          </p:cNvPr>
          <p:cNvSpPr txBox="1"/>
          <p:nvPr/>
        </p:nvSpPr>
        <p:spPr>
          <a:xfrm>
            <a:off x="656651" y="658161"/>
            <a:ext cx="93662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將</a:t>
            </a:r>
            <a:r>
              <a:rPr lang="zh-TW" altLang="en-US" b="1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同一模型每個閾值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 的 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(FPR, TPR) 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座標都畫在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ROC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空間裡，就成為</a:t>
            </a:r>
            <a:r>
              <a:rPr lang="zh-TW" altLang="en-US" b="1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特定模型的</a:t>
            </a:r>
            <a:r>
              <a:rPr lang="en-US" altLang="zh-TW" b="1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ROC</a:t>
            </a:r>
            <a:r>
              <a:rPr lang="zh-TW" altLang="en-US" b="1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曲線</a:t>
            </a:r>
            <a:endParaRPr 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1F3DAF-C77B-455D-BCA1-325FCEDA237F}"/>
              </a:ext>
            </a:extLst>
          </p:cNvPr>
          <p:cNvSpPr txBox="1"/>
          <p:nvPr/>
        </p:nvSpPr>
        <p:spPr>
          <a:xfrm>
            <a:off x="656652" y="181112"/>
            <a:ext cx="108786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依次把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Value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值作為閾值</a:t>
            </a:r>
            <a:r>
              <a:rPr lang="zh-CN" altLang="en-US" dirty="0">
                <a:solidFill>
                  <a:srgbClr val="242424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，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當被試的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Value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值大於等於此閾值時被認為是陽性，否則此被試被認為是陰性</a:t>
            </a:r>
            <a:endParaRPr 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0E95F2-AD20-475F-A127-3B881A3FF288}"/>
              </a:ext>
            </a:extLst>
          </p:cNvPr>
          <p:cNvSpPr txBox="1"/>
          <p:nvPr/>
        </p:nvSpPr>
        <p:spPr>
          <a:xfrm>
            <a:off x="3739716" y="1728471"/>
            <a:ext cx="12528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閾值</a:t>
            </a:r>
            <a:r>
              <a:rPr lang="en-US" altLang="zh-CN" sz="2000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=0.6</a:t>
            </a:r>
            <a:endParaRPr lang="en-US" sz="20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9556256-85BE-4D92-9D43-8EBD29D24F0F}"/>
              </a:ext>
            </a:extLst>
          </p:cNvPr>
          <p:cNvCxnSpPr/>
          <p:nvPr/>
        </p:nvCxnSpPr>
        <p:spPr>
          <a:xfrm>
            <a:off x="3870664" y="2281561"/>
            <a:ext cx="0" cy="32719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FCF9F83-1CE1-4967-B7BF-5D4D9D5496FA}"/>
              </a:ext>
            </a:extLst>
          </p:cNvPr>
          <p:cNvCxnSpPr>
            <a:cxnSpLocks/>
          </p:cNvCxnSpPr>
          <p:nvPr/>
        </p:nvCxnSpPr>
        <p:spPr>
          <a:xfrm flipH="1">
            <a:off x="3739716" y="3690601"/>
            <a:ext cx="4291927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1F935FE-1BCC-41F8-9AB9-653A2D2883EA}"/>
              </a:ext>
            </a:extLst>
          </p:cNvPr>
          <p:cNvSpPr txBox="1"/>
          <p:nvPr/>
        </p:nvSpPr>
        <p:spPr>
          <a:xfrm>
            <a:off x="3328135" y="2124056"/>
            <a:ext cx="532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77992C-1742-4B9F-AED3-46CA536A807B}"/>
              </a:ext>
            </a:extLst>
          </p:cNvPr>
          <p:cNvSpPr txBox="1"/>
          <p:nvPr/>
        </p:nvSpPr>
        <p:spPr>
          <a:xfrm>
            <a:off x="3302398" y="5368842"/>
            <a:ext cx="532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0.0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E9C8E30-53DB-4134-BCDF-D1F5396B6AF7}"/>
              </a:ext>
            </a:extLst>
          </p:cNvPr>
          <p:cNvSpPr/>
          <p:nvPr/>
        </p:nvSpPr>
        <p:spPr>
          <a:xfrm>
            <a:off x="4838330" y="4562043"/>
            <a:ext cx="308561" cy="3085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48E014C-C3A4-455A-93AD-70082156005D}"/>
              </a:ext>
            </a:extLst>
          </p:cNvPr>
          <p:cNvSpPr/>
          <p:nvPr/>
        </p:nvSpPr>
        <p:spPr>
          <a:xfrm>
            <a:off x="4286511" y="3704006"/>
            <a:ext cx="308561" cy="3085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423518A-26E0-4F3E-96F8-0B6428BE3953}"/>
              </a:ext>
            </a:extLst>
          </p:cNvPr>
          <p:cNvSpPr/>
          <p:nvPr/>
        </p:nvSpPr>
        <p:spPr>
          <a:xfrm>
            <a:off x="5382366" y="3227069"/>
            <a:ext cx="308561" cy="3085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A52849D-9226-455B-BE5F-6609251B083A}"/>
              </a:ext>
            </a:extLst>
          </p:cNvPr>
          <p:cNvSpPr/>
          <p:nvPr/>
        </p:nvSpPr>
        <p:spPr>
          <a:xfrm>
            <a:off x="4684049" y="2505480"/>
            <a:ext cx="308561" cy="3085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97EB78F-257C-4433-A27B-111D7C84B840}"/>
              </a:ext>
            </a:extLst>
          </p:cNvPr>
          <p:cNvSpPr/>
          <p:nvPr/>
        </p:nvSpPr>
        <p:spPr>
          <a:xfrm>
            <a:off x="7105218" y="4742832"/>
            <a:ext cx="308561" cy="30856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B43D448-9DAB-404D-B0E7-159A48BBAAE5}"/>
              </a:ext>
            </a:extLst>
          </p:cNvPr>
          <p:cNvSpPr/>
          <p:nvPr/>
        </p:nvSpPr>
        <p:spPr>
          <a:xfrm>
            <a:off x="6521774" y="3978305"/>
            <a:ext cx="308561" cy="30856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93393E1-001C-4B17-9F4F-A1B5607E3EED}"/>
              </a:ext>
            </a:extLst>
          </p:cNvPr>
          <p:cNvSpPr/>
          <p:nvPr/>
        </p:nvSpPr>
        <p:spPr>
          <a:xfrm>
            <a:off x="7312491" y="3510338"/>
            <a:ext cx="308561" cy="30856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270C66A-341D-4E6A-BAF8-4BF3A5CD7EB7}"/>
              </a:ext>
            </a:extLst>
          </p:cNvPr>
          <p:cNvSpPr/>
          <p:nvPr/>
        </p:nvSpPr>
        <p:spPr>
          <a:xfrm>
            <a:off x="6739400" y="2918509"/>
            <a:ext cx="308561" cy="30856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Brace 30">
            <a:extLst>
              <a:ext uri="{FF2B5EF4-FFF2-40B4-BE49-F238E27FC236}">
                <a16:creationId xmlns:a16="http://schemas.microsoft.com/office/drawing/2014/main" id="{656F70DD-9826-4D94-B6BF-A3F183019118}"/>
              </a:ext>
            </a:extLst>
          </p:cNvPr>
          <p:cNvSpPr/>
          <p:nvPr/>
        </p:nvSpPr>
        <p:spPr>
          <a:xfrm>
            <a:off x="8096434" y="2281560"/>
            <a:ext cx="337999" cy="1409040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A0DFB2-5C68-4E32-B9B4-BBDBB060E4E8}"/>
              </a:ext>
            </a:extLst>
          </p:cNvPr>
          <p:cNvSpPr txBox="1"/>
          <p:nvPr/>
        </p:nvSpPr>
        <p:spPr>
          <a:xfrm>
            <a:off x="8366893" y="2784619"/>
            <a:ext cx="1119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預測為</a:t>
            </a:r>
            <a:r>
              <a:rPr lang="en-US" altLang="zh-CN" dirty="0"/>
              <a:t>A</a:t>
            </a:r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EF6F96D-7F5A-4D73-9113-1502452B57E5}"/>
              </a:ext>
            </a:extLst>
          </p:cNvPr>
          <p:cNvSpPr txBox="1"/>
          <p:nvPr/>
        </p:nvSpPr>
        <p:spPr>
          <a:xfrm>
            <a:off x="3276977" y="3519340"/>
            <a:ext cx="532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0.6</a:t>
            </a:r>
          </a:p>
        </p:txBody>
      </p:sp>
      <p:sp>
        <p:nvSpPr>
          <p:cNvPr id="36" name="Right Brace 35">
            <a:extLst>
              <a:ext uri="{FF2B5EF4-FFF2-40B4-BE49-F238E27FC236}">
                <a16:creationId xmlns:a16="http://schemas.microsoft.com/office/drawing/2014/main" id="{DC2E9663-9E51-4C2C-93C4-3C775363616D}"/>
              </a:ext>
            </a:extLst>
          </p:cNvPr>
          <p:cNvSpPr/>
          <p:nvPr/>
        </p:nvSpPr>
        <p:spPr>
          <a:xfrm>
            <a:off x="8096436" y="3690601"/>
            <a:ext cx="285008" cy="1862906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AE8B6BA-EC36-46A7-AFC9-E97E7CEE3ACC}"/>
              </a:ext>
            </a:extLst>
          </p:cNvPr>
          <p:cNvSpPr txBox="1"/>
          <p:nvPr/>
        </p:nvSpPr>
        <p:spPr>
          <a:xfrm>
            <a:off x="8334419" y="4437388"/>
            <a:ext cx="1119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預測為</a:t>
            </a:r>
            <a:r>
              <a:rPr lang="en-US" altLang="zh-CN" dirty="0"/>
              <a:t>B</a:t>
            </a:r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499F9CE-F847-42DD-A3B8-A70EEFFB4938}"/>
              </a:ext>
            </a:extLst>
          </p:cNvPr>
          <p:cNvSpPr txBox="1"/>
          <p:nvPr/>
        </p:nvSpPr>
        <p:spPr>
          <a:xfrm>
            <a:off x="9485943" y="1829860"/>
            <a:ext cx="1616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FPR=2/5=0.4 </a:t>
            </a:r>
          </a:p>
          <a:p>
            <a:r>
              <a:rPr lang="en-US" altLang="zh-CN" dirty="0"/>
              <a:t>TPR=2/5=0.4 </a:t>
            </a:r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3CC839D-4CCA-48C0-925D-37150E83EDAD}"/>
              </a:ext>
            </a:extLst>
          </p:cNvPr>
          <p:cNvSpPr txBox="1"/>
          <p:nvPr/>
        </p:nvSpPr>
        <p:spPr>
          <a:xfrm>
            <a:off x="9453469" y="2731672"/>
            <a:ext cx="2396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(FPR,TPR) = (0.4, 0.4)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5543801-D56F-41C6-84B7-9FA9A65EB65A}"/>
              </a:ext>
            </a:extLst>
          </p:cNvPr>
          <p:cNvSpPr/>
          <p:nvPr/>
        </p:nvSpPr>
        <p:spPr>
          <a:xfrm>
            <a:off x="4295389" y="5224642"/>
            <a:ext cx="308561" cy="3085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9110529-BEF8-4212-88F0-67173DBAF6D7}"/>
              </a:ext>
            </a:extLst>
          </p:cNvPr>
          <p:cNvSpPr/>
          <p:nvPr/>
        </p:nvSpPr>
        <p:spPr>
          <a:xfrm>
            <a:off x="6250082" y="4941503"/>
            <a:ext cx="308561" cy="30856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7" name="Table 7">
            <a:extLst>
              <a:ext uri="{FF2B5EF4-FFF2-40B4-BE49-F238E27FC236}">
                <a16:creationId xmlns:a16="http://schemas.microsoft.com/office/drawing/2014/main" id="{4EB9010E-17FD-4AF7-905C-977EC878E4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274085"/>
              </p:ext>
            </p:extLst>
          </p:nvPr>
        </p:nvGraphicFramePr>
        <p:xfrm>
          <a:off x="361352" y="1490378"/>
          <a:ext cx="2408837" cy="434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2267">
                  <a:extLst>
                    <a:ext uri="{9D8B030D-6E8A-4147-A177-3AD203B41FA5}">
                      <a16:colId xmlns:a16="http://schemas.microsoft.com/office/drawing/2014/main" val="1093154142"/>
                    </a:ext>
                  </a:extLst>
                </a:gridCol>
                <a:gridCol w="1166570">
                  <a:extLst>
                    <a:ext uri="{9D8B030D-6E8A-4147-A177-3AD203B41FA5}">
                      <a16:colId xmlns:a16="http://schemas.microsoft.com/office/drawing/2014/main" val="8455575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Label Data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PredictionValue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4960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 </a:t>
                      </a:r>
                      <a:r>
                        <a:rPr lang="zh-CN" altLang="en-US" dirty="0"/>
                        <a:t>（真）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344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 </a:t>
                      </a:r>
                      <a:r>
                        <a:rPr lang="zh-CN" altLang="en-US" dirty="0"/>
                        <a:t>（假）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9738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4081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3652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4349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6483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354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646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0911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3952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5332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BCE1C5-2C10-42EA-9F64-B024C7502852}"/>
              </a:ext>
            </a:extLst>
          </p:cNvPr>
          <p:cNvSpPr txBox="1"/>
          <p:nvPr/>
        </p:nvSpPr>
        <p:spPr>
          <a:xfrm>
            <a:off x="656651" y="658161"/>
            <a:ext cx="93662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將</a:t>
            </a:r>
            <a:r>
              <a:rPr lang="zh-TW" altLang="en-US" b="1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同一模型每個閾值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 的 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(FPR, TPR) 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座標都畫在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ROC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空間裡，就成為</a:t>
            </a:r>
            <a:r>
              <a:rPr lang="zh-TW" altLang="en-US" b="1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特定模型的</a:t>
            </a:r>
            <a:r>
              <a:rPr lang="en-US" altLang="zh-TW" b="1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ROC</a:t>
            </a:r>
            <a:r>
              <a:rPr lang="zh-TW" altLang="en-US" b="1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曲線</a:t>
            </a:r>
            <a:endParaRPr 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1F3DAF-C77B-455D-BCA1-325FCEDA237F}"/>
              </a:ext>
            </a:extLst>
          </p:cNvPr>
          <p:cNvSpPr txBox="1"/>
          <p:nvPr/>
        </p:nvSpPr>
        <p:spPr>
          <a:xfrm>
            <a:off x="656652" y="181112"/>
            <a:ext cx="108786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依次把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Value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值作為閾值</a:t>
            </a:r>
            <a:r>
              <a:rPr lang="zh-CN" altLang="en-US" dirty="0">
                <a:solidFill>
                  <a:srgbClr val="242424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，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當被試的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Value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值大於等於此閾值時被認為是陽性，否則此被試被認為是陰性</a:t>
            </a:r>
            <a:endParaRPr 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0E95F2-AD20-475F-A127-3B881A3FF288}"/>
              </a:ext>
            </a:extLst>
          </p:cNvPr>
          <p:cNvSpPr txBox="1"/>
          <p:nvPr/>
        </p:nvSpPr>
        <p:spPr>
          <a:xfrm>
            <a:off x="3739715" y="1728471"/>
            <a:ext cx="15687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閾值</a:t>
            </a:r>
            <a:r>
              <a:rPr lang="en-US" altLang="zh-CN" sz="2000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=0.55</a:t>
            </a:r>
            <a:endParaRPr lang="en-US" sz="20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9556256-85BE-4D92-9D43-8EBD29D24F0F}"/>
              </a:ext>
            </a:extLst>
          </p:cNvPr>
          <p:cNvCxnSpPr>
            <a:cxnSpLocks/>
          </p:cNvCxnSpPr>
          <p:nvPr/>
        </p:nvCxnSpPr>
        <p:spPr>
          <a:xfrm>
            <a:off x="3870664" y="2281561"/>
            <a:ext cx="0" cy="32719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FCF9F83-1CE1-4967-B7BF-5D4D9D5496FA}"/>
              </a:ext>
            </a:extLst>
          </p:cNvPr>
          <p:cNvCxnSpPr>
            <a:cxnSpLocks/>
          </p:cNvCxnSpPr>
          <p:nvPr/>
        </p:nvCxnSpPr>
        <p:spPr>
          <a:xfrm flipH="1">
            <a:off x="3769709" y="3966918"/>
            <a:ext cx="4291927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1F935FE-1BCC-41F8-9AB9-653A2D2883EA}"/>
              </a:ext>
            </a:extLst>
          </p:cNvPr>
          <p:cNvSpPr txBox="1"/>
          <p:nvPr/>
        </p:nvSpPr>
        <p:spPr>
          <a:xfrm>
            <a:off x="3328135" y="2124056"/>
            <a:ext cx="532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77992C-1742-4B9F-AED3-46CA536A807B}"/>
              </a:ext>
            </a:extLst>
          </p:cNvPr>
          <p:cNvSpPr txBox="1"/>
          <p:nvPr/>
        </p:nvSpPr>
        <p:spPr>
          <a:xfrm>
            <a:off x="3302398" y="5368842"/>
            <a:ext cx="532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0.0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E9C8E30-53DB-4134-BCDF-D1F5396B6AF7}"/>
              </a:ext>
            </a:extLst>
          </p:cNvPr>
          <p:cNvSpPr/>
          <p:nvPr/>
        </p:nvSpPr>
        <p:spPr>
          <a:xfrm>
            <a:off x="4838330" y="4562043"/>
            <a:ext cx="308561" cy="3085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48E014C-C3A4-455A-93AD-70082156005D}"/>
              </a:ext>
            </a:extLst>
          </p:cNvPr>
          <p:cNvSpPr/>
          <p:nvPr/>
        </p:nvSpPr>
        <p:spPr>
          <a:xfrm>
            <a:off x="4286511" y="3704006"/>
            <a:ext cx="308561" cy="3085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423518A-26E0-4F3E-96F8-0B6428BE3953}"/>
              </a:ext>
            </a:extLst>
          </p:cNvPr>
          <p:cNvSpPr/>
          <p:nvPr/>
        </p:nvSpPr>
        <p:spPr>
          <a:xfrm>
            <a:off x="5382366" y="3227069"/>
            <a:ext cx="308561" cy="3085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A52849D-9226-455B-BE5F-6609251B083A}"/>
              </a:ext>
            </a:extLst>
          </p:cNvPr>
          <p:cNvSpPr/>
          <p:nvPr/>
        </p:nvSpPr>
        <p:spPr>
          <a:xfrm>
            <a:off x="4684049" y="2505480"/>
            <a:ext cx="308561" cy="3085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97EB78F-257C-4433-A27B-111D7C84B840}"/>
              </a:ext>
            </a:extLst>
          </p:cNvPr>
          <p:cNvSpPr/>
          <p:nvPr/>
        </p:nvSpPr>
        <p:spPr>
          <a:xfrm>
            <a:off x="7105218" y="4742832"/>
            <a:ext cx="308561" cy="30856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B43D448-9DAB-404D-B0E7-159A48BBAAE5}"/>
              </a:ext>
            </a:extLst>
          </p:cNvPr>
          <p:cNvSpPr/>
          <p:nvPr/>
        </p:nvSpPr>
        <p:spPr>
          <a:xfrm>
            <a:off x="6521774" y="3978305"/>
            <a:ext cx="308561" cy="30856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93393E1-001C-4B17-9F4F-A1B5607E3EED}"/>
              </a:ext>
            </a:extLst>
          </p:cNvPr>
          <p:cNvSpPr/>
          <p:nvPr/>
        </p:nvSpPr>
        <p:spPr>
          <a:xfrm>
            <a:off x="7312491" y="3510338"/>
            <a:ext cx="308561" cy="30856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270C66A-341D-4E6A-BAF8-4BF3A5CD7EB7}"/>
              </a:ext>
            </a:extLst>
          </p:cNvPr>
          <p:cNvSpPr/>
          <p:nvPr/>
        </p:nvSpPr>
        <p:spPr>
          <a:xfrm>
            <a:off x="6739400" y="2918509"/>
            <a:ext cx="308561" cy="30856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Brace 30">
            <a:extLst>
              <a:ext uri="{FF2B5EF4-FFF2-40B4-BE49-F238E27FC236}">
                <a16:creationId xmlns:a16="http://schemas.microsoft.com/office/drawing/2014/main" id="{656F70DD-9826-4D94-B6BF-A3F183019118}"/>
              </a:ext>
            </a:extLst>
          </p:cNvPr>
          <p:cNvSpPr/>
          <p:nvPr/>
        </p:nvSpPr>
        <p:spPr>
          <a:xfrm>
            <a:off x="8096435" y="2281559"/>
            <a:ext cx="337998" cy="1685355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A0DFB2-5C68-4E32-B9B4-BBDBB060E4E8}"/>
              </a:ext>
            </a:extLst>
          </p:cNvPr>
          <p:cNvSpPr txBox="1"/>
          <p:nvPr/>
        </p:nvSpPr>
        <p:spPr>
          <a:xfrm>
            <a:off x="8381438" y="2916338"/>
            <a:ext cx="1119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預測為</a:t>
            </a:r>
            <a:r>
              <a:rPr lang="en-US" altLang="zh-CN" dirty="0"/>
              <a:t>A</a:t>
            </a:r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EF6F96D-7F5A-4D73-9113-1502452B57E5}"/>
              </a:ext>
            </a:extLst>
          </p:cNvPr>
          <p:cNvSpPr txBox="1"/>
          <p:nvPr/>
        </p:nvSpPr>
        <p:spPr>
          <a:xfrm>
            <a:off x="3195964" y="3814362"/>
            <a:ext cx="629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0.55</a:t>
            </a:r>
          </a:p>
        </p:txBody>
      </p:sp>
      <p:sp>
        <p:nvSpPr>
          <p:cNvPr id="36" name="Right Brace 35">
            <a:extLst>
              <a:ext uri="{FF2B5EF4-FFF2-40B4-BE49-F238E27FC236}">
                <a16:creationId xmlns:a16="http://schemas.microsoft.com/office/drawing/2014/main" id="{DC2E9663-9E51-4C2C-93C4-3C775363616D}"/>
              </a:ext>
            </a:extLst>
          </p:cNvPr>
          <p:cNvSpPr/>
          <p:nvPr/>
        </p:nvSpPr>
        <p:spPr>
          <a:xfrm>
            <a:off x="8096436" y="3966917"/>
            <a:ext cx="285002" cy="1586589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AE8B6BA-EC36-46A7-AFC9-E97E7CEE3ACC}"/>
              </a:ext>
            </a:extLst>
          </p:cNvPr>
          <p:cNvSpPr txBox="1"/>
          <p:nvPr/>
        </p:nvSpPr>
        <p:spPr>
          <a:xfrm>
            <a:off x="8366893" y="4531657"/>
            <a:ext cx="1119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預測為</a:t>
            </a:r>
            <a:r>
              <a:rPr lang="en-US" altLang="zh-CN" dirty="0"/>
              <a:t>B</a:t>
            </a:r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499F9CE-F847-42DD-A3B8-A70EEFFB4938}"/>
              </a:ext>
            </a:extLst>
          </p:cNvPr>
          <p:cNvSpPr txBox="1"/>
          <p:nvPr/>
        </p:nvSpPr>
        <p:spPr>
          <a:xfrm>
            <a:off x="9485943" y="1829860"/>
            <a:ext cx="1616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FPR=2/5=0.4 </a:t>
            </a:r>
          </a:p>
          <a:p>
            <a:r>
              <a:rPr lang="en-US" altLang="zh-CN" dirty="0"/>
              <a:t>TPR=3/5=0.6 </a:t>
            </a:r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3CC839D-4CCA-48C0-925D-37150E83EDAD}"/>
              </a:ext>
            </a:extLst>
          </p:cNvPr>
          <p:cNvSpPr txBox="1"/>
          <p:nvPr/>
        </p:nvSpPr>
        <p:spPr>
          <a:xfrm>
            <a:off x="9453469" y="2731672"/>
            <a:ext cx="2396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(FPR,TPR) = (0.4, 0.6)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FABCFBF-C1A1-47CB-AA15-F6AA70999F46}"/>
              </a:ext>
            </a:extLst>
          </p:cNvPr>
          <p:cNvSpPr/>
          <p:nvPr/>
        </p:nvSpPr>
        <p:spPr>
          <a:xfrm>
            <a:off x="4295389" y="5224642"/>
            <a:ext cx="308561" cy="3085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F6AF003-3FBF-4C53-A5D3-C71BE3EB7DC8}"/>
              </a:ext>
            </a:extLst>
          </p:cNvPr>
          <p:cNvSpPr/>
          <p:nvPr/>
        </p:nvSpPr>
        <p:spPr>
          <a:xfrm>
            <a:off x="6250082" y="4941503"/>
            <a:ext cx="308561" cy="30856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7" name="Table 7">
            <a:extLst>
              <a:ext uri="{FF2B5EF4-FFF2-40B4-BE49-F238E27FC236}">
                <a16:creationId xmlns:a16="http://schemas.microsoft.com/office/drawing/2014/main" id="{4EB9010E-17FD-4AF7-905C-977EC878E4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3320033"/>
              </p:ext>
            </p:extLst>
          </p:nvPr>
        </p:nvGraphicFramePr>
        <p:xfrm>
          <a:off x="361352" y="1499004"/>
          <a:ext cx="2408837" cy="434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2267">
                  <a:extLst>
                    <a:ext uri="{9D8B030D-6E8A-4147-A177-3AD203B41FA5}">
                      <a16:colId xmlns:a16="http://schemas.microsoft.com/office/drawing/2014/main" val="1093154142"/>
                    </a:ext>
                  </a:extLst>
                </a:gridCol>
                <a:gridCol w="1166570">
                  <a:extLst>
                    <a:ext uri="{9D8B030D-6E8A-4147-A177-3AD203B41FA5}">
                      <a16:colId xmlns:a16="http://schemas.microsoft.com/office/drawing/2014/main" val="8455575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Label Data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PredictionValue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4960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 </a:t>
                      </a:r>
                      <a:r>
                        <a:rPr lang="zh-CN" altLang="en-US" dirty="0"/>
                        <a:t>（真）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344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 </a:t>
                      </a:r>
                      <a:r>
                        <a:rPr lang="zh-CN" altLang="en-US" dirty="0"/>
                        <a:t>（假）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9738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4081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3652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4349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6483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354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646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0911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3952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5361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BCE1C5-2C10-42EA-9F64-B024C7502852}"/>
              </a:ext>
            </a:extLst>
          </p:cNvPr>
          <p:cNvSpPr txBox="1"/>
          <p:nvPr/>
        </p:nvSpPr>
        <p:spPr>
          <a:xfrm>
            <a:off x="656651" y="658161"/>
            <a:ext cx="93662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將</a:t>
            </a:r>
            <a:r>
              <a:rPr lang="zh-TW" altLang="en-US" b="1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同一模型每個閾值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 的 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(FPR, TPR) 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座標都畫在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ROC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空間裡，就成為</a:t>
            </a:r>
            <a:r>
              <a:rPr lang="zh-TW" altLang="en-US" b="1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特定模型的</a:t>
            </a:r>
            <a:r>
              <a:rPr lang="en-US" altLang="zh-TW" b="1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ROC</a:t>
            </a:r>
            <a:r>
              <a:rPr lang="zh-TW" altLang="en-US" b="1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曲線</a:t>
            </a:r>
            <a:endParaRPr 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4EB9010E-17FD-4AF7-905C-977EC878E4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8002606"/>
              </p:ext>
            </p:extLst>
          </p:nvPr>
        </p:nvGraphicFramePr>
        <p:xfrm>
          <a:off x="577546" y="1490378"/>
          <a:ext cx="2399045" cy="434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1716">
                  <a:extLst>
                    <a:ext uri="{9D8B030D-6E8A-4147-A177-3AD203B41FA5}">
                      <a16:colId xmlns:a16="http://schemas.microsoft.com/office/drawing/2014/main" val="1093154142"/>
                    </a:ext>
                  </a:extLst>
                </a:gridCol>
                <a:gridCol w="1217329">
                  <a:extLst>
                    <a:ext uri="{9D8B030D-6E8A-4147-A177-3AD203B41FA5}">
                      <a16:colId xmlns:a16="http://schemas.microsoft.com/office/drawing/2014/main" val="8455575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Label Data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PredictionValue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4960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 </a:t>
                      </a:r>
                      <a:r>
                        <a:rPr lang="zh-CN" altLang="en-US" dirty="0"/>
                        <a:t>（真）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344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 </a:t>
                      </a:r>
                      <a:r>
                        <a:rPr lang="zh-CN" altLang="en-US" dirty="0"/>
                        <a:t>（假）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9738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4081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3652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4349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6483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354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646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0911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395291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21F3DAF-C77B-455D-BCA1-325FCEDA237F}"/>
              </a:ext>
            </a:extLst>
          </p:cNvPr>
          <p:cNvSpPr txBox="1"/>
          <p:nvPr/>
        </p:nvSpPr>
        <p:spPr>
          <a:xfrm>
            <a:off x="656652" y="181112"/>
            <a:ext cx="108786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依次把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Value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值作為閾值</a:t>
            </a:r>
            <a:r>
              <a:rPr lang="zh-CN" altLang="en-US" dirty="0">
                <a:solidFill>
                  <a:srgbClr val="242424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，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當被試的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Value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值大於等於此閾值時被認為是陽性，否則此被試被認為是陰性</a:t>
            </a:r>
            <a:endParaRPr 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0E95F2-AD20-475F-A127-3B881A3FF288}"/>
              </a:ext>
            </a:extLst>
          </p:cNvPr>
          <p:cNvSpPr txBox="1"/>
          <p:nvPr/>
        </p:nvSpPr>
        <p:spPr>
          <a:xfrm>
            <a:off x="3739715" y="1728471"/>
            <a:ext cx="15687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閾值</a:t>
            </a:r>
            <a:r>
              <a:rPr lang="en-US" altLang="zh-CN" sz="2000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=0.4</a:t>
            </a:r>
            <a:endParaRPr lang="en-US" sz="20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9556256-85BE-4D92-9D43-8EBD29D24F0F}"/>
              </a:ext>
            </a:extLst>
          </p:cNvPr>
          <p:cNvCxnSpPr>
            <a:cxnSpLocks/>
          </p:cNvCxnSpPr>
          <p:nvPr/>
        </p:nvCxnSpPr>
        <p:spPr>
          <a:xfrm>
            <a:off x="3870664" y="2281561"/>
            <a:ext cx="0" cy="32719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FCF9F83-1CE1-4967-B7BF-5D4D9D5496FA}"/>
              </a:ext>
            </a:extLst>
          </p:cNvPr>
          <p:cNvCxnSpPr>
            <a:cxnSpLocks/>
          </p:cNvCxnSpPr>
          <p:nvPr/>
        </p:nvCxnSpPr>
        <p:spPr>
          <a:xfrm flipH="1">
            <a:off x="3739715" y="4286866"/>
            <a:ext cx="4291927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1F935FE-1BCC-41F8-9AB9-653A2D2883EA}"/>
              </a:ext>
            </a:extLst>
          </p:cNvPr>
          <p:cNvSpPr txBox="1"/>
          <p:nvPr/>
        </p:nvSpPr>
        <p:spPr>
          <a:xfrm>
            <a:off x="3328135" y="2124056"/>
            <a:ext cx="532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77992C-1742-4B9F-AED3-46CA536A807B}"/>
              </a:ext>
            </a:extLst>
          </p:cNvPr>
          <p:cNvSpPr txBox="1"/>
          <p:nvPr/>
        </p:nvSpPr>
        <p:spPr>
          <a:xfrm>
            <a:off x="3302398" y="5368842"/>
            <a:ext cx="532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0.0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E9C8E30-53DB-4134-BCDF-D1F5396B6AF7}"/>
              </a:ext>
            </a:extLst>
          </p:cNvPr>
          <p:cNvSpPr/>
          <p:nvPr/>
        </p:nvSpPr>
        <p:spPr>
          <a:xfrm>
            <a:off x="4838330" y="4562043"/>
            <a:ext cx="308561" cy="3085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48E014C-C3A4-455A-93AD-70082156005D}"/>
              </a:ext>
            </a:extLst>
          </p:cNvPr>
          <p:cNvSpPr/>
          <p:nvPr/>
        </p:nvSpPr>
        <p:spPr>
          <a:xfrm>
            <a:off x="4286511" y="3704006"/>
            <a:ext cx="308561" cy="3085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423518A-26E0-4F3E-96F8-0B6428BE3953}"/>
              </a:ext>
            </a:extLst>
          </p:cNvPr>
          <p:cNvSpPr/>
          <p:nvPr/>
        </p:nvSpPr>
        <p:spPr>
          <a:xfrm>
            <a:off x="5382366" y="3227069"/>
            <a:ext cx="308561" cy="3085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A52849D-9226-455B-BE5F-6609251B083A}"/>
              </a:ext>
            </a:extLst>
          </p:cNvPr>
          <p:cNvSpPr/>
          <p:nvPr/>
        </p:nvSpPr>
        <p:spPr>
          <a:xfrm>
            <a:off x="4684049" y="2505480"/>
            <a:ext cx="308561" cy="3085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97EB78F-257C-4433-A27B-111D7C84B840}"/>
              </a:ext>
            </a:extLst>
          </p:cNvPr>
          <p:cNvSpPr/>
          <p:nvPr/>
        </p:nvSpPr>
        <p:spPr>
          <a:xfrm>
            <a:off x="7105218" y="4742832"/>
            <a:ext cx="308561" cy="30856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B43D448-9DAB-404D-B0E7-159A48BBAAE5}"/>
              </a:ext>
            </a:extLst>
          </p:cNvPr>
          <p:cNvSpPr/>
          <p:nvPr/>
        </p:nvSpPr>
        <p:spPr>
          <a:xfrm>
            <a:off x="6521774" y="3978305"/>
            <a:ext cx="308561" cy="30856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93393E1-001C-4B17-9F4F-A1B5607E3EED}"/>
              </a:ext>
            </a:extLst>
          </p:cNvPr>
          <p:cNvSpPr/>
          <p:nvPr/>
        </p:nvSpPr>
        <p:spPr>
          <a:xfrm>
            <a:off x="7312491" y="3510338"/>
            <a:ext cx="308561" cy="30856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270C66A-341D-4E6A-BAF8-4BF3A5CD7EB7}"/>
              </a:ext>
            </a:extLst>
          </p:cNvPr>
          <p:cNvSpPr/>
          <p:nvPr/>
        </p:nvSpPr>
        <p:spPr>
          <a:xfrm>
            <a:off x="6739400" y="2918509"/>
            <a:ext cx="308561" cy="30856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Brace 30">
            <a:extLst>
              <a:ext uri="{FF2B5EF4-FFF2-40B4-BE49-F238E27FC236}">
                <a16:creationId xmlns:a16="http://schemas.microsoft.com/office/drawing/2014/main" id="{656F70DD-9826-4D94-B6BF-A3F183019118}"/>
              </a:ext>
            </a:extLst>
          </p:cNvPr>
          <p:cNvSpPr/>
          <p:nvPr/>
        </p:nvSpPr>
        <p:spPr>
          <a:xfrm>
            <a:off x="8096435" y="2281559"/>
            <a:ext cx="337998" cy="2005306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A0DFB2-5C68-4E32-B9B4-BBDBB060E4E8}"/>
              </a:ext>
            </a:extLst>
          </p:cNvPr>
          <p:cNvSpPr txBox="1"/>
          <p:nvPr/>
        </p:nvSpPr>
        <p:spPr>
          <a:xfrm>
            <a:off x="8384426" y="3086129"/>
            <a:ext cx="1119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預測為</a:t>
            </a:r>
            <a:r>
              <a:rPr lang="en-US" altLang="zh-CN" dirty="0"/>
              <a:t>A</a:t>
            </a:r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EF6F96D-7F5A-4D73-9113-1502452B57E5}"/>
              </a:ext>
            </a:extLst>
          </p:cNvPr>
          <p:cNvSpPr txBox="1"/>
          <p:nvPr/>
        </p:nvSpPr>
        <p:spPr>
          <a:xfrm>
            <a:off x="3249879" y="4102200"/>
            <a:ext cx="629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0.4</a:t>
            </a:r>
          </a:p>
        </p:txBody>
      </p:sp>
      <p:sp>
        <p:nvSpPr>
          <p:cNvPr id="36" name="Right Brace 35">
            <a:extLst>
              <a:ext uri="{FF2B5EF4-FFF2-40B4-BE49-F238E27FC236}">
                <a16:creationId xmlns:a16="http://schemas.microsoft.com/office/drawing/2014/main" id="{DC2E9663-9E51-4C2C-93C4-3C775363616D}"/>
              </a:ext>
            </a:extLst>
          </p:cNvPr>
          <p:cNvSpPr/>
          <p:nvPr/>
        </p:nvSpPr>
        <p:spPr>
          <a:xfrm>
            <a:off x="8096436" y="4286866"/>
            <a:ext cx="270454" cy="1266640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AE8B6BA-EC36-46A7-AFC9-E97E7CEE3ACC}"/>
              </a:ext>
            </a:extLst>
          </p:cNvPr>
          <p:cNvSpPr txBox="1"/>
          <p:nvPr/>
        </p:nvSpPr>
        <p:spPr>
          <a:xfrm>
            <a:off x="8334419" y="4742832"/>
            <a:ext cx="1119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預測為</a:t>
            </a:r>
            <a:r>
              <a:rPr lang="en-US" altLang="zh-CN" dirty="0"/>
              <a:t>B</a:t>
            </a:r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499F9CE-F847-42DD-A3B8-A70EEFFB4938}"/>
              </a:ext>
            </a:extLst>
          </p:cNvPr>
          <p:cNvSpPr txBox="1"/>
          <p:nvPr/>
        </p:nvSpPr>
        <p:spPr>
          <a:xfrm>
            <a:off x="9485943" y="1829860"/>
            <a:ext cx="1616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FPR=3/5=0.6 </a:t>
            </a:r>
          </a:p>
          <a:p>
            <a:r>
              <a:rPr lang="en-US" altLang="zh-CN" dirty="0"/>
              <a:t>TPR=3/5=0.6 </a:t>
            </a:r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3CC839D-4CCA-48C0-925D-37150E83EDAD}"/>
              </a:ext>
            </a:extLst>
          </p:cNvPr>
          <p:cNvSpPr txBox="1"/>
          <p:nvPr/>
        </p:nvSpPr>
        <p:spPr>
          <a:xfrm>
            <a:off x="9453469" y="2731672"/>
            <a:ext cx="2396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(FPR,TPR) = (0.6, 0.6)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6CC0E938-BF2D-494B-B6EA-231F2F8EBBB3}"/>
              </a:ext>
            </a:extLst>
          </p:cNvPr>
          <p:cNvSpPr/>
          <p:nvPr/>
        </p:nvSpPr>
        <p:spPr>
          <a:xfrm>
            <a:off x="4295389" y="5224642"/>
            <a:ext cx="308561" cy="3085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7BC9057-435A-487F-BB6D-C56A5CE51EA1}"/>
              </a:ext>
            </a:extLst>
          </p:cNvPr>
          <p:cNvSpPr/>
          <p:nvPr/>
        </p:nvSpPr>
        <p:spPr>
          <a:xfrm>
            <a:off x="6250082" y="4941503"/>
            <a:ext cx="308561" cy="30856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517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BCE1C5-2C10-42EA-9F64-B024C7502852}"/>
              </a:ext>
            </a:extLst>
          </p:cNvPr>
          <p:cNvSpPr txBox="1"/>
          <p:nvPr/>
        </p:nvSpPr>
        <p:spPr>
          <a:xfrm>
            <a:off x="656651" y="658161"/>
            <a:ext cx="93662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將</a:t>
            </a:r>
            <a:r>
              <a:rPr lang="zh-TW" altLang="en-US" b="1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同一模型每個閾值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 的 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(FPR, TPR) 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座標都畫在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ROC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空間裡，就成為</a:t>
            </a:r>
            <a:r>
              <a:rPr lang="zh-TW" altLang="en-US" b="1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特定模型的</a:t>
            </a:r>
            <a:r>
              <a:rPr lang="en-US" altLang="zh-TW" b="1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ROC</a:t>
            </a:r>
            <a:r>
              <a:rPr lang="zh-TW" altLang="en-US" b="1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曲線</a:t>
            </a:r>
            <a:endParaRPr 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1F3DAF-C77B-455D-BCA1-325FCEDA237F}"/>
              </a:ext>
            </a:extLst>
          </p:cNvPr>
          <p:cNvSpPr txBox="1"/>
          <p:nvPr/>
        </p:nvSpPr>
        <p:spPr>
          <a:xfrm>
            <a:off x="656652" y="181112"/>
            <a:ext cx="108786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依次把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Value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值作為閾值</a:t>
            </a:r>
            <a:r>
              <a:rPr lang="zh-CN" altLang="en-US" dirty="0">
                <a:solidFill>
                  <a:srgbClr val="242424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，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當被試的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Value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值大於等於此閾值時被認為是陽性，否則此被試被認為是陰性</a:t>
            </a:r>
            <a:endParaRPr 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0E95F2-AD20-475F-A127-3B881A3FF288}"/>
              </a:ext>
            </a:extLst>
          </p:cNvPr>
          <p:cNvSpPr txBox="1"/>
          <p:nvPr/>
        </p:nvSpPr>
        <p:spPr>
          <a:xfrm>
            <a:off x="3739715" y="1728471"/>
            <a:ext cx="15687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閾值</a:t>
            </a:r>
            <a:r>
              <a:rPr lang="en-US" altLang="zh-CN" sz="2000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=0.35</a:t>
            </a:r>
            <a:endParaRPr lang="en-US" sz="20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9556256-85BE-4D92-9D43-8EBD29D24F0F}"/>
              </a:ext>
            </a:extLst>
          </p:cNvPr>
          <p:cNvCxnSpPr>
            <a:cxnSpLocks/>
          </p:cNvCxnSpPr>
          <p:nvPr/>
        </p:nvCxnSpPr>
        <p:spPr>
          <a:xfrm>
            <a:off x="3870664" y="2281561"/>
            <a:ext cx="0" cy="32719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FCF9F83-1CE1-4967-B7BF-5D4D9D5496FA}"/>
              </a:ext>
            </a:extLst>
          </p:cNvPr>
          <p:cNvCxnSpPr>
            <a:cxnSpLocks/>
          </p:cNvCxnSpPr>
          <p:nvPr/>
        </p:nvCxnSpPr>
        <p:spPr>
          <a:xfrm flipH="1">
            <a:off x="3764191" y="4742832"/>
            <a:ext cx="4291927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1F935FE-1BCC-41F8-9AB9-653A2D2883EA}"/>
              </a:ext>
            </a:extLst>
          </p:cNvPr>
          <p:cNvSpPr txBox="1"/>
          <p:nvPr/>
        </p:nvSpPr>
        <p:spPr>
          <a:xfrm>
            <a:off x="3328135" y="2124056"/>
            <a:ext cx="532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77992C-1742-4B9F-AED3-46CA536A807B}"/>
              </a:ext>
            </a:extLst>
          </p:cNvPr>
          <p:cNvSpPr txBox="1"/>
          <p:nvPr/>
        </p:nvSpPr>
        <p:spPr>
          <a:xfrm>
            <a:off x="3302398" y="5368842"/>
            <a:ext cx="532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0.0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E9C8E30-53DB-4134-BCDF-D1F5396B6AF7}"/>
              </a:ext>
            </a:extLst>
          </p:cNvPr>
          <p:cNvSpPr/>
          <p:nvPr/>
        </p:nvSpPr>
        <p:spPr>
          <a:xfrm>
            <a:off x="4838330" y="4562043"/>
            <a:ext cx="308561" cy="3085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48E014C-C3A4-455A-93AD-70082156005D}"/>
              </a:ext>
            </a:extLst>
          </p:cNvPr>
          <p:cNvSpPr/>
          <p:nvPr/>
        </p:nvSpPr>
        <p:spPr>
          <a:xfrm>
            <a:off x="4286511" y="3704006"/>
            <a:ext cx="308561" cy="3085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423518A-26E0-4F3E-96F8-0B6428BE3953}"/>
              </a:ext>
            </a:extLst>
          </p:cNvPr>
          <p:cNvSpPr/>
          <p:nvPr/>
        </p:nvSpPr>
        <p:spPr>
          <a:xfrm>
            <a:off x="5382366" y="3227069"/>
            <a:ext cx="308561" cy="3085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A52849D-9226-455B-BE5F-6609251B083A}"/>
              </a:ext>
            </a:extLst>
          </p:cNvPr>
          <p:cNvSpPr/>
          <p:nvPr/>
        </p:nvSpPr>
        <p:spPr>
          <a:xfrm>
            <a:off x="4684049" y="2505480"/>
            <a:ext cx="308561" cy="3085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97EB78F-257C-4433-A27B-111D7C84B840}"/>
              </a:ext>
            </a:extLst>
          </p:cNvPr>
          <p:cNvSpPr/>
          <p:nvPr/>
        </p:nvSpPr>
        <p:spPr>
          <a:xfrm>
            <a:off x="7105218" y="4742832"/>
            <a:ext cx="308561" cy="30856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B43D448-9DAB-404D-B0E7-159A48BBAAE5}"/>
              </a:ext>
            </a:extLst>
          </p:cNvPr>
          <p:cNvSpPr/>
          <p:nvPr/>
        </p:nvSpPr>
        <p:spPr>
          <a:xfrm>
            <a:off x="6521774" y="3978305"/>
            <a:ext cx="308561" cy="30856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93393E1-001C-4B17-9F4F-A1B5607E3EED}"/>
              </a:ext>
            </a:extLst>
          </p:cNvPr>
          <p:cNvSpPr/>
          <p:nvPr/>
        </p:nvSpPr>
        <p:spPr>
          <a:xfrm>
            <a:off x="7312491" y="3510338"/>
            <a:ext cx="308561" cy="30856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270C66A-341D-4E6A-BAF8-4BF3A5CD7EB7}"/>
              </a:ext>
            </a:extLst>
          </p:cNvPr>
          <p:cNvSpPr/>
          <p:nvPr/>
        </p:nvSpPr>
        <p:spPr>
          <a:xfrm>
            <a:off x="6739400" y="2918509"/>
            <a:ext cx="308561" cy="30856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Brace 30">
            <a:extLst>
              <a:ext uri="{FF2B5EF4-FFF2-40B4-BE49-F238E27FC236}">
                <a16:creationId xmlns:a16="http://schemas.microsoft.com/office/drawing/2014/main" id="{656F70DD-9826-4D94-B6BF-A3F183019118}"/>
              </a:ext>
            </a:extLst>
          </p:cNvPr>
          <p:cNvSpPr/>
          <p:nvPr/>
        </p:nvSpPr>
        <p:spPr>
          <a:xfrm>
            <a:off x="8096434" y="2281559"/>
            <a:ext cx="375529" cy="2461271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A0DFB2-5C68-4E32-B9B4-BBDBB060E4E8}"/>
              </a:ext>
            </a:extLst>
          </p:cNvPr>
          <p:cNvSpPr txBox="1"/>
          <p:nvPr/>
        </p:nvSpPr>
        <p:spPr>
          <a:xfrm>
            <a:off x="8442894" y="3338754"/>
            <a:ext cx="1119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預測為</a:t>
            </a:r>
            <a:r>
              <a:rPr lang="en-US" altLang="zh-CN" dirty="0"/>
              <a:t>A</a:t>
            </a:r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EF6F96D-7F5A-4D73-9113-1502452B57E5}"/>
              </a:ext>
            </a:extLst>
          </p:cNvPr>
          <p:cNvSpPr txBox="1"/>
          <p:nvPr/>
        </p:nvSpPr>
        <p:spPr>
          <a:xfrm>
            <a:off x="3201118" y="4558166"/>
            <a:ext cx="629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0.35</a:t>
            </a:r>
          </a:p>
        </p:txBody>
      </p:sp>
      <p:sp>
        <p:nvSpPr>
          <p:cNvPr id="36" name="Right Brace 35">
            <a:extLst>
              <a:ext uri="{FF2B5EF4-FFF2-40B4-BE49-F238E27FC236}">
                <a16:creationId xmlns:a16="http://schemas.microsoft.com/office/drawing/2014/main" id="{DC2E9663-9E51-4C2C-93C4-3C775363616D}"/>
              </a:ext>
            </a:extLst>
          </p:cNvPr>
          <p:cNvSpPr/>
          <p:nvPr/>
        </p:nvSpPr>
        <p:spPr>
          <a:xfrm>
            <a:off x="8096435" y="4742832"/>
            <a:ext cx="359995" cy="810674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AE8B6BA-EC36-46A7-AFC9-E97E7CEE3ACC}"/>
              </a:ext>
            </a:extLst>
          </p:cNvPr>
          <p:cNvSpPr txBox="1"/>
          <p:nvPr/>
        </p:nvSpPr>
        <p:spPr>
          <a:xfrm>
            <a:off x="8442894" y="4963503"/>
            <a:ext cx="1119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預測為</a:t>
            </a:r>
            <a:r>
              <a:rPr lang="en-US" altLang="zh-CN" dirty="0"/>
              <a:t>B</a:t>
            </a:r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499F9CE-F847-42DD-A3B8-A70EEFFB4938}"/>
              </a:ext>
            </a:extLst>
          </p:cNvPr>
          <p:cNvSpPr txBox="1"/>
          <p:nvPr/>
        </p:nvSpPr>
        <p:spPr>
          <a:xfrm>
            <a:off x="9485943" y="1829860"/>
            <a:ext cx="1616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FPR=3/5=0.6 </a:t>
            </a:r>
          </a:p>
          <a:p>
            <a:r>
              <a:rPr lang="en-US" altLang="zh-CN" dirty="0"/>
              <a:t>TPR=4/5=0.8 </a:t>
            </a:r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3CC839D-4CCA-48C0-925D-37150E83EDAD}"/>
              </a:ext>
            </a:extLst>
          </p:cNvPr>
          <p:cNvSpPr txBox="1"/>
          <p:nvPr/>
        </p:nvSpPr>
        <p:spPr>
          <a:xfrm>
            <a:off x="9453469" y="2731672"/>
            <a:ext cx="2396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</a:t>
            </a:r>
            <a:r>
              <a:rPr lang="en-US" b="1" dirty="0"/>
              <a:t>FPR,TPR) = (0.6, 0.8)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FC17529-6DC0-4970-9211-3D99C3532960}"/>
              </a:ext>
            </a:extLst>
          </p:cNvPr>
          <p:cNvSpPr/>
          <p:nvPr/>
        </p:nvSpPr>
        <p:spPr>
          <a:xfrm>
            <a:off x="4295389" y="5224642"/>
            <a:ext cx="308561" cy="3085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D11C8DD-ACC0-4A37-AE28-771DD6F75016}"/>
              </a:ext>
            </a:extLst>
          </p:cNvPr>
          <p:cNvSpPr/>
          <p:nvPr/>
        </p:nvSpPr>
        <p:spPr>
          <a:xfrm>
            <a:off x="6250082" y="4941503"/>
            <a:ext cx="308561" cy="30856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7" name="Table 7">
            <a:extLst>
              <a:ext uri="{FF2B5EF4-FFF2-40B4-BE49-F238E27FC236}">
                <a16:creationId xmlns:a16="http://schemas.microsoft.com/office/drawing/2014/main" id="{4EB9010E-17FD-4AF7-905C-977EC878E4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274085"/>
              </p:ext>
            </p:extLst>
          </p:nvPr>
        </p:nvGraphicFramePr>
        <p:xfrm>
          <a:off x="361352" y="1490378"/>
          <a:ext cx="2408837" cy="434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2267">
                  <a:extLst>
                    <a:ext uri="{9D8B030D-6E8A-4147-A177-3AD203B41FA5}">
                      <a16:colId xmlns:a16="http://schemas.microsoft.com/office/drawing/2014/main" val="1093154142"/>
                    </a:ext>
                  </a:extLst>
                </a:gridCol>
                <a:gridCol w="1166570">
                  <a:extLst>
                    <a:ext uri="{9D8B030D-6E8A-4147-A177-3AD203B41FA5}">
                      <a16:colId xmlns:a16="http://schemas.microsoft.com/office/drawing/2014/main" val="8455575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Label Data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PredictionValue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4960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 </a:t>
                      </a:r>
                      <a:r>
                        <a:rPr lang="zh-CN" altLang="en-US" dirty="0"/>
                        <a:t>（真）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344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 </a:t>
                      </a:r>
                      <a:r>
                        <a:rPr lang="zh-CN" altLang="en-US" dirty="0"/>
                        <a:t>（假）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9738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4081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3652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4349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6483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354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646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0911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3952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8272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BCE1C5-2C10-42EA-9F64-B024C7502852}"/>
              </a:ext>
            </a:extLst>
          </p:cNvPr>
          <p:cNvSpPr txBox="1"/>
          <p:nvPr/>
        </p:nvSpPr>
        <p:spPr>
          <a:xfrm>
            <a:off x="656651" y="658161"/>
            <a:ext cx="93662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將</a:t>
            </a:r>
            <a:r>
              <a:rPr lang="zh-TW" altLang="en-US" b="1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同一模型每個閾值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 的 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(FPR, TPR) 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座標都畫在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ROC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空間裡，就成為</a:t>
            </a:r>
            <a:r>
              <a:rPr lang="zh-TW" altLang="en-US" b="1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特定模型的</a:t>
            </a:r>
            <a:r>
              <a:rPr lang="en-US" altLang="zh-TW" b="1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ROC</a:t>
            </a:r>
            <a:r>
              <a:rPr lang="zh-TW" altLang="en-US" b="1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曲線</a:t>
            </a:r>
            <a:endParaRPr 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1F3DAF-C77B-455D-BCA1-325FCEDA237F}"/>
              </a:ext>
            </a:extLst>
          </p:cNvPr>
          <p:cNvSpPr txBox="1"/>
          <p:nvPr/>
        </p:nvSpPr>
        <p:spPr>
          <a:xfrm>
            <a:off x="656652" y="181112"/>
            <a:ext cx="108786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依次把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Value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值作為閾值</a:t>
            </a:r>
            <a:r>
              <a:rPr lang="zh-CN" altLang="en-US" dirty="0">
                <a:solidFill>
                  <a:srgbClr val="242424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，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當被試的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Value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值大於等於此閾值時被認為是陽性，否則此被試被認為是陰性</a:t>
            </a:r>
            <a:endParaRPr 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0E95F2-AD20-475F-A127-3B881A3FF288}"/>
              </a:ext>
            </a:extLst>
          </p:cNvPr>
          <p:cNvSpPr txBox="1"/>
          <p:nvPr/>
        </p:nvSpPr>
        <p:spPr>
          <a:xfrm>
            <a:off x="3739715" y="1728471"/>
            <a:ext cx="15687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閾值</a:t>
            </a:r>
            <a:r>
              <a:rPr lang="en-US" altLang="zh-CN" sz="2000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=0.3</a:t>
            </a:r>
            <a:endParaRPr lang="en-US" sz="20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9556256-85BE-4D92-9D43-8EBD29D24F0F}"/>
              </a:ext>
            </a:extLst>
          </p:cNvPr>
          <p:cNvCxnSpPr>
            <a:cxnSpLocks/>
          </p:cNvCxnSpPr>
          <p:nvPr/>
        </p:nvCxnSpPr>
        <p:spPr>
          <a:xfrm>
            <a:off x="3870664" y="2281561"/>
            <a:ext cx="0" cy="32719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FCF9F83-1CE1-4967-B7BF-5D4D9D5496FA}"/>
              </a:ext>
            </a:extLst>
          </p:cNvPr>
          <p:cNvCxnSpPr>
            <a:cxnSpLocks/>
          </p:cNvCxnSpPr>
          <p:nvPr/>
        </p:nvCxnSpPr>
        <p:spPr>
          <a:xfrm flipH="1">
            <a:off x="3739715" y="4938145"/>
            <a:ext cx="4291927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1F935FE-1BCC-41F8-9AB9-653A2D2883EA}"/>
              </a:ext>
            </a:extLst>
          </p:cNvPr>
          <p:cNvSpPr txBox="1"/>
          <p:nvPr/>
        </p:nvSpPr>
        <p:spPr>
          <a:xfrm>
            <a:off x="3328135" y="2124056"/>
            <a:ext cx="532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77992C-1742-4B9F-AED3-46CA536A807B}"/>
              </a:ext>
            </a:extLst>
          </p:cNvPr>
          <p:cNvSpPr txBox="1"/>
          <p:nvPr/>
        </p:nvSpPr>
        <p:spPr>
          <a:xfrm>
            <a:off x="3302398" y="5368842"/>
            <a:ext cx="532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0.0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946FADC-7555-4123-9F6E-497F7CD850B9}"/>
              </a:ext>
            </a:extLst>
          </p:cNvPr>
          <p:cNvSpPr/>
          <p:nvPr/>
        </p:nvSpPr>
        <p:spPr>
          <a:xfrm>
            <a:off x="4295389" y="5224642"/>
            <a:ext cx="308561" cy="3085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E9C8E30-53DB-4134-BCDF-D1F5396B6AF7}"/>
              </a:ext>
            </a:extLst>
          </p:cNvPr>
          <p:cNvSpPr/>
          <p:nvPr/>
        </p:nvSpPr>
        <p:spPr>
          <a:xfrm>
            <a:off x="4838330" y="4562043"/>
            <a:ext cx="308561" cy="3085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48E014C-C3A4-455A-93AD-70082156005D}"/>
              </a:ext>
            </a:extLst>
          </p:cNvPr>
          <p:cNvSpPr/>
          <p:nvPr/>
        </p:nvSpPr>
        <p:spPr>
          <a:xfrm>
            <a:off x="4286511" y="3704006"/>
            <a:ext cx="308561" cy="3085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423518A-26E0-4F3E-96F8-0B6428BE3953}"/>
              </a:ext>
            </a:extLst>
          </p:cNvPr>
          <p:cNvSpPr/>
          <p:nvPr/>
        </p:nvSpPr>
        <p:spPr>
          <a:xfrm>
            <a:off x="5382366" y="3227069"/>
            <a:ext cx="308561" cy="3085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A52849D-9226-455B-BE5F-6609251B083A}"/>
              </a:ext>
            </a:extLst>
          </p:cNvPr>
          <p:cNvSpPr/>
          <p:nvPr/>
        </p:nvSpPr>
        <p:spPr>
          <a:xfrm>
            <a:off x="4684049" y="2505480"/>
            <a:ext cx="308561" cy="3085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17A20FA-DE0C-4FB0-A7D8-028E7752116E}"/>
              </a:ext>
            </a:extLst>
          </p:cNvPr>
          <p:cNvSpPr/>
          <p:nvPr/>
        </p:nvSpPr>
        <p:spPr>
          <a:xfrm>
            <a:off x="6250082" y="4941503"/>
            <a:ext cx="308561" cy="30856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97EB78F-257C-4433-A27B-111D7C84B840}"/>
              </a:ext>
            </a:extLst>
          </p:cNvPr>
          <p:cNvSpPr/>
          <p:nvPr/>
        </p:nvSpPr>
        <p:spPr>
          <a:xfrm>
            <a:off x="7105218" y="4742832"/>
            <a:ext cx="308561" cy="30856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B43D448-9DAB-404D-B0E7-159A48BBAAE5}"/>
              </a:ext>
            </a:extLst>
          </p:cNvPr>
          <p:cNvSpPr/>
          <p:nvPr/>
        </p:nvSpPr>
        <p:spPr>
          <a:xfrm>
            <a:off x="6521774" y="3978305"/>
            <a:ext cx="308561" cy="30856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93393E1-001C-4B17-9F4F-A1B5607E3EED}"/>
              </a:ext>
            </a:extLst>
          </p:cNvPr>
          <p:cNvSpPr/>
          <p:nvPr/>
        </p:nvSpPr>
        <p:spPr>
          <a:xfrm>
            <a:off x="7312491" y="3510338"/>
            <a:ext cx="308561" cy="30856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270C66A-341D-4E6A-BAF8-4BF3A5CD7EB7}"/>
              </a:ext>
            </a:extLst>
          </p:cNvPr>
          <p:cNvSpPr/>
          <p:nvPr/>
        </p:nvSpPr>
        <p:spPr>
          <a:xfrm>
            <a:off x="6739400" y="2918509"/>
            <a:ext cx="308561" cy="30856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Brace 30">
            <a:extLst>
              <a:ext uri="{FF2B5EF4-FFF2-40B4-BE49-F238E27FC236}">
                <a16:creationId xmlns:a16="http://schemas.microsoft.com/office/drawing/2014/main" id="{656F70DD-9826-4D94-B6BF-A3F183019118}"/>
              </a:ext>
            </a:extLst>
          </p:cNvPr>
          <p:cNvSpPr/>
          <p:nvPr/>
        </p:nvSpPr>
        <p:spPr>
          <a:xfrm>
            <a:off x="8096435" y="2281559"/>
            <a:ext cx="245600" cy="2656582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A0DFB2-5C68-4E32-B9B4-BBDBB060E4E8}"/>
              </a:ext>
            </a:extLst>
          </p:cNvPr>
          <p:cNvSpPr txBox="1"/>
          <p:nvPr/>
        </p:nvSpPr>
        <p:spPr>
          <a:xfrm>
            <a:off x="8311241" y="3424585"/>
            <a:ext cx="1119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預測為</a:t>
            </a:r>
            <a:r>
              <a:rPr lang="en-US" altLang="zh-CN" dirty="0"/>
              <a:t>A</a:t>
            </a:r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EF6F96D-7F5A-4D73-9113-1502452B57E5}"/>
              </a:ext>
            </a:extLst>
          </p:cNvPr>
          <p:cNvSpPr txBox="1"/>
          <p:nvPr/>
        </p:nvSpPr>
        <p:spPr>
          <a:xfrm>
            <a:off x="3311631" y="4729420"/>
            <a:ext cx="629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0.3</a:t>
            </a:r>
          </a:p>
        </p:txBody>
      </p:sp>
      <p:sp>
        <p:nvSpPr>
          <p:cNvPr id="36" name="Right Brace 35">
            <a:extLst>
              <a:ext uri="{FF2B5EF4-FFF2-40B4-BE49-F238E27FC236}">
                <a16:creationId xmlns:a16="http://schemas.microsoft.com/office/drawing/2014/main" id="{DC2E9663-9E51-4C2C-93C4-3C775363616D}"/>
              </a:ext>
            </a:extLst>
          </p:cNvPr>
          <p:cNvSpPr/>
          <p:nvPr/>
        </p:nvSpPr>
        <p:spPr>
          <a:xfrm>
            <a:off x="8096436" y="4938145"/>
            <a:ext cx="214805" cy="615361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AE8B6BA-EC36-46A7-AFC9-E97E7CEE3ACC}"/>
              </a:ext>
            </a:extLst>
          </p:cNvPr>
          <p:cNvSpPr txBox="1"/>
          <p:nvPr/>
        </p:nvSpPr>
        <p:spPr>
          <a:xfrm>
            <a:off x="8311241" y="5061159"/>
            <a:ext cx="1119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預測為</a:t>
            </a:r>
            <a:r>
              <a:rPr lang="en-US" altLang="zh-CN" dirty="0"/>
              <a:t>B</a:t>
            </a:r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499F9CE-F847-42DD-A3B8-A70EEFFB4938}"/>
              </a:ext>
            </a:extLst>
          </p:cNvPr>
          <p:cNvSpPr txBox="1"/>
          <p:nvPr/>
        </p:nvSpPr>
        <p:spPr>
          <a:xfrm>
            <a:off x="9485943" y="1829860"/>
            <a:ext cx="1616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FPR=4/5=0.8 </a:t>
            </a:r>
          </a:p>
          <a:p>
            <a:r>
              <a:rPr lang="en-US" altLang="zh-CN" dirty="0"/>
              <a:t>TPR=4/5=0.8 </a:t>
            </a:r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3CC839D-4CCA-48C0-925D-37150E83EDAD}"/>
              </a:ext>
            </a:extLst>
          </p:cNvPr>
          <p:cNvSpPr txBox="1"/>
          <p:nvPr/>
        </p:nvSpPr>
        <p:spPr>
          <a:xfrm>
            <a:off x="9453469" y="2731672"/>
            <a:ext cx="2396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(FPR,TPR) = (0.8, 0.8)</a:t>
            </a:r>
          </a:p>
        </p:txBody>
      </p:sp>
      <p:graphicFrame>
        <p:nvGraphicFramePr>
          <p:cNvPr id="32" name="Table 7">
            <a:extLst>
              <a:ext uri="{FF2B5EF4-FFF2-40B4-BE49-F238E27FC236}">
                <a16:creationId xmlns:a16="http://schemas.microsoft.com/office/drawing/2014/main" id="{4EB9010E-17FD-4AF7-905C-977EC878E4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274085"/>
              </p:ext>
            </p:extLst>
          </p:nvPr>
        </p:nvGraphicFramePr>
        <p:xfrm>
          <a:off x="361352" y="1490378"/>
          <a:ext cx="2408837" cy="434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2267">
                  <a:extLst>
                    <a:ext uri="{9D8B030D-6E8A-4147-A177-3AD203B41FA5}">
                      <a16:colId xmlns:a16="http://schemas.microsoft.com/office/drawing/2014/main" val="1093154142"/>
                    </a:ext>
                  </a:extLst>
                </a:gridCol>
                <a:gridCol w="1166570">
                  <a:extLst>
                    <a:ext uri="{9D8B030D-6E8A-4147-A177-3AD203B41FA5}">
                      <a16:colId xmlns:a16="http://schemas.microsoft.com/office/drawing/2014/main" val="8455575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Label Data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PredictionValue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4960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 </a:t>
                      </a:r>
                      <a:r>
                        <a:rPr lang="zh-CN" altLang="en-US" dirty="0"/>
                        <a:t>（真）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344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 </a:t>
                      </a:r>
                      <a:r>
                        <a:rPr lang="zh-CN" altLang="en-US" dirty="0"/>
                        <a:t>（假）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9738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4081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3652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4349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6483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354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646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0911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3952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81017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BCE1C5-2C10-42EA-9F64-B024C7502852}"/>
              </a:ext>
            </a:extLst>
          </p:cNvPr>
          <p:cNvSpPr txBox="1"/>
          <p:nvPr/>
        </p:nvSpPr>
        <p:spPr>
          <a:xfrm>
            <a:off x="656651" y="658161"/>
            <a:ext cx="93662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將</a:t>
            </a:r>
            <a:r>
              <a:rPr lang="zh-TW" altLang="en-US" b="1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同一模型每個閾值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 的 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(FPR, TPR) 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座標都畫在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ROC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空間裡，就成為</a:t>
            </a:r>
            <a:r>
              <a:rPr lang="zh-TW" altLang="en-US" b="1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特定模型的</a:t>
            </a:r>
            <a:r>
              <a:rPr lang="en-US" altLang="zh-TW" b="1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ROC</a:t>
            </a:r>
            <a:r>
              <a:rPr lang="zh-TW" altLang="en-US" b="1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曲線</a:t>
            </a:r>
            <a:endParaRPr 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1F3DAF-C77B-455D-BCA1-325FCEDA237F}"/>
              </a:ext>
            </a:extLst>
          </p:cNvPr>
          <p:cNvSpPr txBox="1"/>
          <p:nvPr/>
        </p:nvSpPr>
        <p:spPr>
          <a:xfrm>
            <a:off x="656652" y="181112"/>
            <a:ext cx="108786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依次把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Value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值作為閾值</a:t>
            </a:r>
            <a:r>
              <a:rPr lang="zh-CN" altLang="en-US" dirty="0">
                <a:solidFill>
                  <a:srgbClr val="242424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，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當被試的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Value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值大於等於此閾值時被認為是陽性，否則此被試被認為是陰性</a:t>
            </a:r>
            <a:endParaRPr 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0E95F2-AD20-475F-A127-3B881A3FF288}"/>
              </a:ext>
            </a:extLst>
          </p:cNvPr>
          <p:cNvSpPr txBox="1"/>
          <p:nvPr/>
        </p:nvSpPr>
        <p:spPr>
          <a:xfrm>
            <a:off x="3739715" y="1728471"/>
            <a:ext cx="15687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閾值</a:t>
            </a:r>
            <a:r>
              <a:rPr lang="en-US" altLang="zh-CN" sz="2000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=0.2</a:t>
            </a:r>
            <a:endParaRPr lang="en-US" sz="20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9556256-85BE-4D92-9D43-8EBD29D24F0F}"/>
              </a:ext>
            </a:extLst>
          </p:cNvPr>
          <p:cNvCxnSpPr>
            <a:cxnSpLocks/>
          </p:cNvCxnSpPr>
          <p:nvPr/>
        </p:nvCxnSpPr>
        <p:spPr>
          <a:xfrm>
            <a:off x="3870664" y="2281561"/>
            <a:ext cx="0" cy="32719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FCF9F83-1CE1-4967-B7BF-5D4D9D5496FA}"/>
              </a:ext>
            </a:extLst>
          </p:cNvPr>
          <p:cNvCxnSpPr>
            <a:cxnSpLocks/>
          </p:cNvCxnSpPr>
          <p:nvPr/>
        </p:nvCxnSpPr>
        <p:spPr>
          <a:xfrm flipH="1">
            <a:off x="3739715" y="5224642"/>
            <a:ext cx="4291927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1F935FE-1BCC-41F8-9AB9-653A2D2883EA}"/>
              </a:ext>
            </a:extLst>
          </p:cNvPr>
          <p:cNvSpPr txBox="1"/>
          <p:nvPr/>
        </p:nvSpPr>
        <p:spPr>
          <a:xfrm>
            <a:off x="3328135" y="2124056"/>
            <a:ext cx="532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77992C-1742-4B9F-AED3-46CA536A807B}"/>
              </a:ext>
            </a:extLst>
          </p:cNvPr>
          <p:cNvSpPr txBox="1"/>
          <p:nvPr/>
        </p:nvSpPr>
        <p:spPr>
          <a:xfrm>
            <a:off x="3338008" y="5404783"/>
            <a:ext cx="532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0.0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E9C8E30-53DB-4134-BCDF-D1F5396B6AF7}"/>
              </a:ext>
            </a:extLst>
          </p:cNvPr>
          <p:cNvSpPr/>
          <p:nvPr/>
        </p:nvSpPr>
        <p:spPr>
          <a:xfrm>
            <a:off x="4838330" y="4562043"/>
            <a:ext cx="308561" cy="3085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48E014C-C3A4-455A-93AD-70082156005D}"/>
              </a:ext>
            </a:extLst>
          </p:cNvPr>
          <p:cNvSpPr/>
          <p:nvPr/>
        </p:nvSpPr>
        <p:spPr>
          <a:xfrm>
            <a:off x="4286511" y="3704006"/>
            <a:ext cx="308561" cy="3085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423518A-26E0-4F3E-96F8-0B6428BE3953}"/>
              </a:ext>
            </a:extLst>
          </p:cNvPr>
          <p:cNvSpPr/>
          <p:nvPr/>
        </p:nvSpPr>
        <p:spPr>
          <a:xfrm>
            <a:off x="5382366" y="3227069"/>
            <a:ext cx="308561" cy="3085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A52849D-9226-455B-BE5F-6609251B083A}"/>
              </a:ext>
            </a:extLst>
          </p:cNvPr>
          <p:cNvSpPr/>
          <p:nvPr/>
        </p:nvSpPr>
        <p:spPr>
          <a:xfrm>
            <a:off x="4684049" y="2505480"/>
            <a:ext cx="308561" cy="3085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97EB78F-257C-4433-A27B-111D7C84B840}"/>
              </a:ext>
            </a:extLst>
          </p:cNvPr>
          <p:cNvSpPr/>
          <p:nvPr/>
        </p:nvSpPr>
        <p:spPr>
          <a:xfrm>
            <a:off x="7105218" y="4742832"/>
            <a:ext cx="308561" cy="30856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B43D448-9DAB-404D-B0E7-159A48BBAAE5}"/>
              </a:ext>
            </a:extLst>
          </p:cNvPr>
          <p:cNvSpPr/>
          <p:nvPr/>
        </p:nvSpPr>
        <p:spPr>
          <a:xfrm>
            <a:off x="6521774" y="3978305"/>
            <a:ext cx="308561" cy="30856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93393E1-001C-4B17-9F4F-A1B5607E3EED}"/>
              </a:ext>
            </a:extLst>
          </p:cNvPr>
          <p:cNvSpPr/>
          <p:nvPr/>
        </p:nvSpPr>
        <p:spPr>
          <a:xfrm>
            <a:off x="7312491" y="3510338"/>
            <a:ext cx="308561" cy="30856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270C66A-341D-4E6A-BAF8-4BF3A5CD7EB7}"/>
              </a:ext>
            </a:extLst>
          </p:cNvPr>
          <p:cNvSpPr/>
          <p:nvPr/>
        </p:nvSpPr>
        <p:spPr>
          <a:xfrm>
            <a:off x="6739400" y="2918509"/>
            <a:ext cx="308561" cy="30856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Brace 30">
            <a:extLst>
              <a:ext uri="{FF2B5EF4-FFF2-40B4-BE49-F238E27FC236}">
                <a16:creationId xmlns:a16="http://schemas.microsoft.com/office/drawing/2014/main" id="{656F70DD-9826-4D94-B6BF-A3F183019118}"/>
              </a:ext>
            </a:extLst>
          </p:cNvPr>
          <p:cNvSpPr/>
          <p:nvPr/>
        </p:nvSpPr>
        <p:spPr>
          <a:xfrm>
            <a:off x="8096435" y="2281559"/>
            <a:ext cx="296049" cy="2943082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A0DFB2-5C68-4E32-B9B4-BBDBB060E4E8}"/>
              </a:ext>
            </a:extLst>
          </p:cNvPr>
          <p:cNvSpPr txBox="1"/>
          <p:nvPr/>
        </p:nvSpPr>
        <p:spPr>
          <a:xfrm>
            <a:off x="8363452" y="3550311"/>
            <a:ext cx="1119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預測為</a:t>
            </a:r>
            <a:r>
              <a:rPr lang="en-US" altLang="zh-CN" dirty="0"/>
              <a:t>A</a:t>
            </a:r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EF6F96D-7F5A-4D73-9113-1502452B57E5}"/>
              </a:ext>
            </a:extLst>
          </p:cNvPr>
          <p:cNvSpPr txBox="1"/>
          <p:nvPr/>
        </p:nvSpPr>
        <p:spPr>
          <a:xfrm>
            <a:off x="3302398" y="4999510"/>
            <a:ext cx="629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0.2</a:t>
            </a:r>
          </a:p>
        </p:txBody>
      </p:sp>
      <p:sp>
        <p:nvSpPr>
          <p:cNvPr id="36" name="Right Brace 35">
            <a:extLst>
              <a:ext uri="{FF2B5EF4-FFF2-40B4-BE49-F238E27FC236}">
                <a16:creationId xmlns:a16="http://schemas.microsoft.com/office/drawing/2014/main" id="{DC2E9663-9E51-4C2C-93C4-3C775363616D}"/>
              </a:ext>
            </a:extLst>
          </p:cNvPr>
          <p:cNvSpPr/>
          <p:nvPr/>
        </p:nvSpPr>
        <p:spPr>
          <a:xfrm>
            <a:off x="8096436" y="5244945"/>
            <a:ext cx="270455" cy="308561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AE8B6BA-EC36-46A7-AFC9-E97E7CEE3ACC}"/>
              </a:ext>
            </a:extLst>
          </p:cNvPr>
          <p:cNvSpPr txBox="1"/>
          <p:nvPr/>
        </p:nvSpPr>
        <p:spPr>
          <a:xfrm>
            <a:off x="8366893" y="5236793"/>
            <a:ext cx="1119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預測為</a:t>
            </a:r>
            <a:r>
              <a:rPr lang="en-US" altLang="zh-CN" dirty="0"/>
              <a:t>B</a:t>
            </a:r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499F9CE-F847-42DD-A3B8-A70EEFFB4938}"/>
              </a:ext>
            </a:extLst>
          </p:cNvPr>
          <p:cNvSpPr txBox="1"/>
          <p:nvPr/>
        </p:nvSpPr>
        <p:spPr>
          <a:xfrm>
            <a:off x="9485943" y="1829860"/>
            <a:ext cx="1616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FPR=5/5=1 </a:t>
            </a:r>
          </a:p>
          <a:p>
            <a:r>
              <a:rPr lang="en-US" altLang="zh-CN" dirty="0"/>
              <a:t>TPR=4/5=0.8 </a:t>
            </a:r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3CC839D-4CCA-48C0-925D-37150E83EDAD}"/>
              </a:ext>
            </a:extLst>
          </p:cNvPr>
          <p:cNvSpPr txBox="1"/>
          <p:nvPr/>
        </p:nvSpPr>
        <p:spPr>
          <a:xfrm>
            <a:off x="9453469" y="2731672"/>
            <a:ext cx="2396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(FPR,TPR) = (1, 0.8)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1193202-3D0F-4FDA-8855-81735A721846}"/>
              </a:ext>
            </a:extLst>
          </p:cNvPr>
          <p:cNvSpPr/>
          <p:nvPr/>
        </p:nvSpPr>
        <p:spPr>
          <a:xfrm>
            <a:off x="4295389" y="5224642"/>
            <a:ext cx="308561" cy="3085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94E4AA4C-865E-44D1-B0CB-4B6C0544AA33}"/>
              </a:ext>
            </a:extLst>
          </p:cNvPr>
          <p:cNvSpPr/>
          <p:nvPr/>
        </p:nvSpPr>
        <p:spPr>
          <a:xfrm>
            <a:off x="6250082" y="4941503"/>
            <a:ext cx="308561" cy="30856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7" name="Table 7">
            <a:extLst>
              <a:ext uri="{FF2B5EF4-FFF2-40B4-BE49-F238E27FC236}">
                <a16:creationId xmlns:a16="http://schemas.microsoft.com/office/drawing/2014/main" id="{4EB9010E-17FD-4AF7-905C-977EC878E4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274085"/>
              </p:ext>
            </p:extLst>
          </p:nvPr>
        </p:nvGraphicFramePr>
        <p:xfrm>
          <a:off x="361352" y="1490378"/>
          <a:ext cx="2408837" cy="434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2267">
                  <a:extLst>
                    <a:ext uri="{9D8B030D-6E8A-4147-A177-3AD203B41FA5}">
                      <a16:colId xmlns:a16="http://schemas.microsoft.com/office/drawing/2014/main" val="1093154142"/>
                    </a:ext>
                  </a:extLst>
                </a:gridCol>
                <a:gridCol w="1166570">
                  <a:extLst>
                    <a:ext uri="{9D8B030D-6E8A-4147-A177-3AD203B41FA5}">
                      <a16:colId xmlns:a16="http://schemas.microsoft.com/office/drawing/2014/main" val="8455575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Label Data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PredictionValue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4960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 </a:t>
                      </a:r>
                      <a:r>
                        <a:rPr lang="zh-CN" altLang="en-US" dirty="0"/>
                        <a:t>（真）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344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 </a:t>
                      </a:r>
                      <a:r>
                        <a:rPr lang="zh-CN" altLang="en-US" dirty="0"/>
                        <a:t>（假）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9738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4081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3652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4349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6483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354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646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0911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3952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45742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BCE1C5-2C10-42EA-9F64-B024C7502852}"/>
              </a:ext>
            </a:extLst>
          </p:cNvPr>
          <p:cNvSpPr txBox="1"/>
          <p:nvPr/>
        </p:nvSpPr>
        <p:spPr>
          <a:xfrm>
            <a:off x="656651" y="658161"/>
            <a:ext cx="93662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將</a:t>
            </a:r>
            <a:r>
              <a:rPr lang="zh-TW" altLang="en-US" b="1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同一模型每個閾值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 的 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(FPR, TPR) 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座標都畫在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ROC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空間裡，就成為</a:t>
            </a:r>
            <a:r>
              <a:rPr lang="zh-TW" altLang="en-US" b="1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特定模型的</a:t>
            </a:r>
            <a:r>
              <a:rPr lang="en-US" altLang="zh-TW" b="1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ROC</a:t>
            </a:r>
            <a:r>
              <a:rPr lang="zh-TW" altLang="en-US" b="1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曲線</a:t>
            </a:r>
            <a:endParaRPr 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1F3DAF-C77B-455D-BCA1-325FCEDA237F}"/>
              </a:ext>
            </a:extLst>
          </p:cNvPr>
          <p:cNvSpPr txBox="1"/>
          <p:nvPr/>
        </p:nvSpPr>
        <p:spPr>
          <a:xfrm>
            <a:off x="656652" y="181112"/>
            <a:ext cx="108786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依次把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Value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值作為閾值</a:t>
            </a:r>
            <a:r>
              <a:rPr lang="zh-CN" altLang="en-US" dirty="0">
                <a:solidFill>
                  <a:srgbClr val="242424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，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當被試的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Value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值大於等於此閾值時被認為是陽性，否則此被試被認為是陰性</a:t>
            </a:r>
            <a:endParaRPr 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0E95F2-AD20-475F-A127-3B881A3FF288}"/>
              </a:ext>
            </a:extLst>
          </p:cNvPr>
          <p:cNvSpPr txBox="1"/>
          <p:nvPr/>
        </p:nvSpPr>
        <p:spPr>
          <a:xfrm>
            <a:off x="3739715" y="1728471"/>
            <a:ext cx="15687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閾值</a:t>
            </a:r>
            <a:r>
              <a:rPr lang="en-US" altLang="zh-CN" sz="2000" b="0" i="0" dirty="0">
                <a:solidFill>
                  <a:srgbClr val="24242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=0</a:t>
            </a:r>
            <a:endParaRPr lang="en-US" sz="20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9556256-85BE-4D92-9D43-8EBD29D24F0F}"/>
              </a:ext>
            </a:extLst>
          </p:cNvPr>
          <p:cNvCxnSpPr>
            <a:cxnSpLocks/>
          </p:cNvCxnSpPr>
          <p:nvPr/>
        </p:nvCxnSpPr>
        <p:spPr>
          <a:xfrm>
            <a:off x="3870664" y="2281561"/>
            <a:ext cx="0" cy="32719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FCF9F83-1CE1-4967-B7BF-5D4D9D5496FA}"/>
              </a:ext>
            </a:extLst>
          </p:cNvPr>
          <p:cNvCxnSpPr>
            <a:cxnSpLocks/>
          </p:cNvCxnSpPr>
          <p:nvPr/>
        </p:nvCxnSpPr>
        <p:spPr>
          <a:xfrm flipH="1">
            <a:off x="3739715" y="5553506"/>
            <a:ext cx="4291927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1F935FE-1BCC-41F8-9AB9-653A2D2883EA}"/>
              </a:ext>
            </a:extLst>
          </p:cNvPr>
          <p:cNvSpPr txBox="1"/>
          <p:nvPr/>
        </p:nvSpPr>
        <p:spPr>
          <a:xfrm>
            <a:off x="3328135" y="2124056"/>
            <a:ext cx="532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77992C-1742-4B9F-AED3-46CA536A807B}"/>
              </a:ext>
            </a:extLst>
          </p:cNvPr>
          <p:cNvSpPr txBox="1"/>
          <p:nvPr/>
        </p:nvSpPr>
        <p:spPr>
          <a:xfrm>
            <a:off x="3302398" y="5368842"/>
            <a:ext cx="532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0.0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E9C8E30-53DB-4134-BCDF-D1F5396B6AF7}"/>
              </a:ext>
            </a:extLst>
          </p:cNvPr>
          <p:cNvSpPr/>
          <p:nvPr/>
        </p:nvSpPr>
        <p:spPr>
          <a:xfrm>
            <a:off x="4838330" y="4562043"/>
            <a:ext cx="308561" cy="3085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48E014C-C3A4-455A-93AD-70082156005D}"/>
              </a:ext>
            </a:extLst>
          </p:cNvPr>
          <p:cNvSpPr/>
          <p:nvPr/>
        </p:nvSpPr>
        <p:spPr>
          <a:xfrm>
            <a:off x="4286511" y="3704006"/>
            <a:ext cx="308561" cy="3085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423518A-26E0-4F3E-96F8-0B6428BE3953}"/>
              </a:ext>
            </a:extLst>
          </p:cNvPr>
          <p:cNvSpPr/>
          <p:nvPr/>
        </p:nvSpPr>
        <p:spPr>
          <a:xfrm>
            <a:off x="5382366" y="3227069"/>
            <a:ext cx="308561" cy="3085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A52849D-9226-455B-BE5F-6609251B083A}"/>
              </a:ext>
            </a:extLst>
          </p:cNvPr>
          <p:cNvSpPr/>
          <p:nvPr/>
        </p:nvSpPr>
        <p:spPr>
          <a:xfrm>
            <a:off x="4684049" y="2505480"/>
            <a:ext cx="308561" cy="3085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97EB78F-257C-4433-A27B-111D7C84B840}"/>
              </a:ext>
            </a:extLst>
          </p:cNvPr>
          <p:cNvSpPr/>
          <p:nvPr/>
        </p:nvSpPr>
        <p:spPr>
          <a:xfrm>
            <a:off x="7105218" y="4742832"/>
            <a:ext cx="308561" cy="30856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B43D448-9DAB-404D-B0E7-159A48BBAAE5}"/>
              </a:ext>
            </a:extLst>
          </p:cNvPr>
          <p:cNvSpPr/>
          <p:nvPr/>
        </p:nvSpPr>
        <p:spPr>
          <a:xfrm>
            <a:off x="6521774" y="3978305"/>
            <a:ext cx="308561" cy="30856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93393E1-001C-4B17-9F4F-A1B5607E3EED}"/>
              </a:ext>
            </a:extLst>
          </p:cNvPr>
          <p:cNvSpPr/>
          <p:nvPr/>
        </p:nvSpPr>
        <p:spPr>
          <a:xfrm>
            <a:off x="7312491" y="3510338"/>
            <a:ext cx="308561" cy="30856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270C66A-341D-4E6A-BAF8-4BF3A5CD7EB7}"/>
              </a:ext>
            </a:extLst>
          </p:cNvPr>
          <p:cNvSpPr/>
          <p:nvPr/>
        </p:nvSpPr>
        <p:spPr>
          <a:xfrm>
            <a:off x="6739400" y="2918509"/>
            <a:ext cx="308561" cy="30856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Brace 30">
            <a:extLst>
              <a:ext uri="{FF2B5EF4-FFF2-40B4-BE49-F238E27FC236}">
                <a16:creationId xmlns:a16="http://schemas.microsoft.com/office/drawing/2014/main" id="{656F70DD-9826-4D94-B6BF-A3F183019118}"/>
              </a:ext>
            </a:extLst>
          </p:cNvPr>
          <p:cNvSpPr/>
          <p:nvPr/>
        </p:nvSpPr>
        <p:spPr>
          <a:xfrm>
            <a:off x="8096435" y="2281559"/>
            <a:ext cx="337998" cy="3271947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A0DFB2-5C68-4E32-B9B4-BBDBB060E4E8}"/>
              </a:ext>
            </a:extLst>
          </p:cNvPr>
          <p:cNvSpPr txBox="1"/>
          <p:nvPr/>
        </p:nvSpPr>
        <p:spPr>
          <a:xfrm>
            <a:off x="8368127" y="3716964"/>
            <a:ext cx="1119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預測為</a:t>
            </a:r>
            <a:r>
              <a:rPr lang="en-US" altLang="zh-CN" dirty="0"/>
              <a:t>A</a:t>
            </a:r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499F9CE-F847-42DD-A3B8-A70EEFFB4938}"/>
              </a:ext>
            </a:extLst>
          </p:cNvPr>
          <p:cNvSpPr txBox="1"/>
          <p:nvPr/>
        </p:nvSpPr>
        <p:spPr>
          <a:xfrm>
            <a:off x="9485943" y="1829860"/>
            <a:ext cx="1616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FPR=5/5=1 </a:t>
            </a:r>
          </a:p>
          <a:p>
            <a:r>
              <a:rPr lang="en-US" altLang="zh-CN" dirty="0"/>
              <a:t>TPR=5/5=1 </a:t>
            </a:r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3CC839D-4CCA-48C0-925D-37150E83EDAD}"/>
              </a:ext>
            </a:extLst>
          </p:cNvPr>
          <p:cNvSpPr txBox="1"/>
          <p:nvPr/>
        </p:nvSpPr>
        <p:spPr>
          <a:xfrm>
            <a:off x="9453469" y="2731672"/>
            <a:ext cx="2396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(FPR,TPR) = (1, 1)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5FEBB6D-0A1B-4151-B1FA-65945E64B693}"/>
              </a:ext>
            </a:extLst>
          </p:cNvPr>
          <p:cNvSpPr/>
          <p:nvPr/>
        </p:nvSpPr>
        <p:spPr>
          <a:xfrm>
            <a:off x="4295389" y="5224642"/>
            <a:ext cx="308561" cy="3085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FE22677-A897-4372-B764-12E4C23E886C}"/>
              </a:ext>
            </a:extLst>
          </p:cNvPr>
          <p:cNvSpPr/>
          <p:nvPr/>
        </p:nvSpPr>
        <p:spPr>
          <a:xfrm>
            <a:off x="6250082" y="4941503"/>
            <a:ext cx="308561" cy="30856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6" name="Table 7">
            <a:extLst>
              <a:ext uri="{FF2B5EF4-FFF2-40B4-BE49-F238E27FC236}">
                <a16:creationId xmlns:a16="http://schemas.microsoft.com/office/drawing/2014/main" id="{4EB9010E-17FD-4AF7-905C-977EC878E4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274085"/>
              </p:ext>
            </p:extLst>
          </p:nvPr>
        </p:nvGraphicFramePr>
        <p:xfrm>
          <a:off x="361352" y="1490378"/>
          <a:ext cx="2408837" cy="434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2267">
                  <a:extLst>
                    <a:ext uri="{9D8B030D-6E8A-4147-A177-3AD203B41FA5}">
                      <a16:colId xmlns:a16="http://schemas.microsoft.com/office/drawing/2014/main" val="1093154142"/>
                    </a:ext>
                  </a:extLst>
                </a:gridCol>
                <a:gridCol w="1166570">
                  <a:extLst>
                    <a:ext uri="{9D8B030D-6E8A-4147-A177-3AD203B41FA5}">
                      <a16:colId xmlns:a16="http://schemas.microsoft.com/office/drawing/2014/main" val="8455575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Label Data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PredictionValue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4960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 </a:t>
                      </a:r>
                      <a:r>
                        <a:rPr lang="zh-CN" altLang="en-US" dirty="0"/>
                        <a:t>（真）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344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 </a:t>
                      </a:r>
                      <a:r>
                        <a:rPr lang="zh-CN" altLang="en-US" dirty="0"/>
                        <a:t>（假）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9738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4081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3652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4349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6483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354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646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0911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3952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61104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889625B-9D6F-40EE-853B-F97DDEA0DC10}"/>
              </a:ext>
            </a:extLst>
          </p:cNvPr>
          <p:cNvCxnSpPr>
            <a:cxnSpLocks/>
          </p:cNvCxnSpPr>
          <p:nvPr/>
        </p:nvCxnSpPr>
        <p:spPr>
          <a:xfrm flipV="1">
            <a:off x="3897297" y="1819922"/>
            <a:ext cx="0" cy="37375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854517A-C3B1-4F93-A047-126DD84BE811}"/>
              </a:ext>
            </a:extLst>
          </p:cNvPr>
          <p:cNvCxnSpPr>
            <a:cxnSpLocks/>
          </p:cNvCxnSpPr>
          <p:nvPr/>
        </p:nvCxnSpPr>
        <p:spPr>
          <a:xfrm>
            <a:off x="3897297" y="5557421"/>
            <a:ext cx="5184559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1559B2B-F634-4E81-85C6-2E5B8421CE67}"/>
              </a:ext>
            </a:extLst>
          </p:cNvPr>
          <p:cNvSpPr txBox="1"/>
          <p:nvPr/>
        </p:nvSpPr>
        <p:spPr>
          <a:xfrm>
            <a:off x="5194916" y="594805"/>
            <a:ext cx="18021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ROC </a:t>
            </a:r>
            <a:r>
              <a:rPr lang="zh-CN" altLang="en-US" sz="3200" dirty="0"/>
              <a:t>曲線</a:t>
            </a:r>
            <a:endParaRPr lang="en-US" sz="3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7F058D-36ED-4A60-B5A4-5D56EECB042F}"/>
              </a:ext>
            </a:extLst>
          </p:cNvPr>
          <p:cNvSpPr txBox="1"/>
          <p:nvPr/>
        </p:nvSpPr>
        <p:spPr>
          <a:xfrm>
            <a:off x="3589259" y="1325392"/>
            <a:ext cx="769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TPR</a:t>
            </a:r>
            <a:endParaRPr lang="en-US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08FBBE-463A-48C1-96E6-8ABB9D9E7756}"/>
              </a:ext>
            </a:extLst>
          </p:cNvPr>
          <p:cNvSpPr txBox="1"/>
          <p:nvPr/>
        </p:nvSpPr>
        <p:spPr>
          <a:xfrm>
            <a:off x="9174793" y="5326589"/>
            <a:ext cx="769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FPR</a:t>
            </a:r>
            <a:endParaRPr lang="en-US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83D9DE-F563-4C72-9B2B-0F9123EFC635}"/>
              </a:ext>
            </a:extLst>
          </p:cNvPr>
          <p:cNvSpPr txBox="1"/>
          <p:nvPr/>
        </p:nvSpPr>
        <p:spPr>
          <a:xfrm>
            <a:off x="3465991" y="5301775"/>
            <a:ext cx="3848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</a:t>
            </a:r>
            <a:endParaRPr lang="en-US" sz="24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970F2A7-C4A2-4A16-804A-8A18E98EDFE0}"/>
              </a:ext>
            </a:extLst>
          </p:cNvPr>
          <p:cNvCxnSpPr/>
          <p:nvPr/>
        </p:nvCxnSpPr>
        <p:spPr>
          <a:xfrm>
            <a:off x="4731798" y="5450889"/>
            <a:ext cx="0" cy="21306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F762C06-AD90-4CE8-A71D-CA746D04F93E}"/>
              </a:ext>
            </a:extLst>
          </p:cNvPr>
          <p:cNvCxnSpPr/>
          <p:nvPr/>
        </p:nvCxnSpPr>
        <p:spPr>
          <a:xfrm>
            <a:off x="5656556" y="5450889"/>
            <a:ext cx="0" cy="21306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ECECADD-0A4F-4E6B-8B06-56C12DBA10CE}"/>
              </a:ext>
            </a:extLst>
          </p:cNvPr>
          <p:cNvCxnSpPr/>
          <p:nvPr/>
        </p:nvCxnSpPr>
        <p:spPr>
          <a:xfrm>
            <a:off x="6492536" y="5454187"/>
            <a:ext cx="0" cy="21306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2FD0D89-2D32-4388-818D-724A0028FC64}"/>
              </a:ext>
            </a:extLst>
          </p:cNvPr>
          <p:cNvCxnSpPr/>
          <p:nvPr/>
        </p:nvCxnSpPr>
        <p:spPr>
          <a:xfrm>
            <a:off x="7328516" y="5457485"/>
            <a:ext cx="0" cy="21306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C5845A0-BD0E-4D64-951B-AB451814713B}"/>
              </a:ext>
            </a:extLst>
          </p:cNvPr>
          <p:cNvCxnSpPr/>
          <p:nvPr/>
        </p:nvCxnSpPr>
        <p:spPr>
          <a:xfrm>
            <a:off x="8164496" y="5460783"/>
            <a:ext cx="0" cy="21306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39717D5-92F2-4ADA-857F-AE1BE3246BF5}"/>
              </a:ext>
            </a:extLst>
          </p:cNvPr>
          <p:cNvCxnSpPr>
            <a:cxnSpLocks/>
          </p:cNvCxnSpPr>
          <p:nvPr/>
        </p:nvCxnSpPr>
        <p:spPr>
          <a:xfrm flipH="1">
            <a:off x="3775299" y="4777666"/>
            <a:ext cx="24399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AEA0030-0EE9-4C3C-B8D1-F3F69FFD6F66}"/>
              </a:ext>
            </a:extLst>
          </p:cNvPr>
          <p:cNvCxnSpPr>
            <a:cxnSpLocks/>
          </p:cNvCxnSpPr>
          <p:nvPr/>
        </p:nvCxnSpPr>
        <p:spPr>
          <a:xfrm flipH="1">
            <a:off x="3774699" y="4113321"/>
            <a:ext cx="24399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CB1C99E-6E58-4801-8C15-C28E1DB1FBDB}"/>
              </a:ext>
            </a:extLst>
          </p:cNvPr>
          <p:cNvCxnSpPr>
            <a:cxnSpLocks/>
          </p:cNvCxnSpPr>
          <p:nvPr/>
        </p:nvCxnSpPr>
        <p:spPr>
          <a:xfrm flipH="1">
            <a:off x="3774099" y="3448976"/>
            <a:ext cx="24399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0BDEBDA-984C-4A74-9B93-EB6AA53ABAC5}"/>
              </a:ext>
            </a:extLst>
          </p:cNvPr>
          <p:cNvCxnSpPr>
            <a:cxnSpLocks/>
          </p:cNvCxnSpPr>
          <p:nvPr/>
        </p:nvCxnSpPr>
        <p:spPr>
          <a:xfrm flipH="1">
            <a:off x="3773499" y="2784631"/>
            <a:ext cx="24399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CE127E4-CEFD-4C09-B897-FBF1D558BB20}"/>
              </a:ext>
            </a:extLst>
          </p:cNvPr>
          <p:cNvCxnSpPr>
            <a:cxnSpLocks/>
          </p:cNvCxnSpPr>
          <p:nvPr/>
        </p:nvCxnSpPr>
        <p:spPr>
          <a:xfrm flipH="1">
            <a:off x="3772899" y="2120286"/>
            <a:ext cx="24399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DCC51C24-4890-4254-A1B5-48A3784FC92D}"/>
              </a:ext>
            </a:extLst>
          </p:cNvPr>
          <p:cNvSpPr txBox="1"/>
          <p:nvPr/>
        </p:nvSpPr>
        <p:spPr>
          <a:xfrm>
            <a:off x="4474114" y="5654059"/>
            <a:ext cx="6216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0.2</a:t>
            </a:r>
            <a:endParaRPr lang="en-US" sz="2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43EF6C7-0561-4AAD-8CF5-7647A3121F8C}"/>
              </a:ext>
            </a:extLst>
          </p:cNvPr>
          <p:cNvSpPr txBox="1"/>
          <p:nvPr/>
        </p:nvSpPr>
        <p:spPr>
          <a:xfrm>
            <a:off x="5397251" y="5673847"/>
            <a:ext cx="6216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0.4</a:t>
            </a:r>
            <a:endParaRPr lang="en-US" sz="2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E7F1E75-45CB-4C88-8679-651CB08D3E82}"/>
              </a:ext>
            </a:extLst>
          </p:cNvPr>
          <p:cNvSpPr txBox="1"/>
          <p:nvPr/>
        </p:nvSpPr>
        <p:spPr>
          <a:xfrm>
            <a:off x="6184124" y="5674863"/>
            <a:ext cx="6216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0.6</a:t>
            </a:r>
            <a:endParaRPr lang="en-US" sz="24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6A81388-AF09-47F8-B508-D8E5D8DA16E5}"/>
              </a:ext>
            </a:extLst>
          </p:cNvPr>
          <p:cNvSpPr txBox="1"/>
          <p:nvPr/>
        </p:nvSpPr>
        <p:spPr>
          <a:xfrm>
            <a:off x="7049213" y="5667251"/>
            <a:ext cx="6216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0.8</a:t>
            </a:r>
            <a:endParaRPr lang="en-US" sz="2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CD8EC48-8010-4A3F-8C50-AC70802AE7C6}"/>
              </a:ext>
            </a:extLst>
          </p:cNvPr>
          <p:cNvSpPr txBox="1"/>
          <p:nvPr/>
        </p:nvSpPr>
        <p:spPr>
          <a:xfrm>
            <a:off x="7878841" y="5674863"/>
            <a:ext cx="6216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1.0</a:t>
            </a:r>
            <a:endParaRPr lang="en-US" sz="24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72EF070-018E-47E7-934E-7C39106E6DD5}"/>
              </a:ext>
            </a:extLst>
          </p:cNvPr>
          <p:cNvSpPr txBox="1"/>
          <p:nvPr/>
        </p:nvSpPr>
        <p:spPr>
          <a:xfrm>
            <a:off x="3213429" y="4546833"/>
            <a:ext cx="6216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0.2</a:t>
            </a:r>
            <a:endParaRPr lang="en-US" sz="2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95041D9-9415-4B00-ADC9-59E4A3B583A5}"/>
              </a:ext>
            </a:extLst>
          </p:cNvPr>
          <p:cNvSpPr txBox="1"/>
          <p:nvPr/>
        </p:nvSpPr>
        <p:spPr>
          <a:xfrm>
            <a:off x="3213428" y="3875830"/>
            <a:ext cx="6216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0.4</a:t>
            </a:r>
            <a:endParaRPr lang="en-US" sz="24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A5A62E1-6302-48D1-8D7C-E1BB6E610C37}"/>
              </a:ext>
            </a:extLst>
          </p:cNvPr>
          <p:cNvSpPr txBox="1"/>
          <p:nvPr/>
        </p:nvSpPr>
        <p:spPr>
          <a:xfrm>
            <a:off x="3213427" y="3204827"/>
            <a:ext cx="6216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0.6</a:t>
            </a:r>
            <a:endParaRPr lang="en-US" sz="24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64C1A5E-E683-4257-9F1D-551DF4F6D734}"/>
              </a:ext>
            </a:extLst>
          </p:cNvPr>
          <p:cNvSpPr txBox="1"/>
          <p:nvPr/>
        </p:nvSpPr>
        <p:spPr>
          <a:xfrm>
            <a:off x="3213426" y="2533824"/>
            <a:ext cx="6216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0.8</a:t>
            </a:r>
            <a:endParaRPr lang="en-US" sz="24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B505548-EFF4-475A-AECE-A8D03E3F4310}"/>
              </a:ext>
            </a:extLst>
          </p:cNvPr>
          <p:cNvSpPr txBox="1"/>
          <p:nvPr/>
        </p:nvSpPr>
        <p:spPr>
          <a:xfrm>
            <a:off x="3213425" y="1862821"/>
            <a:ext cx="6216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1.0</a:t>
            </a:r>
            <a:endParaRPr lang="en-US" sz="240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91B813F-C802-4743-9EB5-5D033CDA101F}"/>
              </a:ext>
            </a:extLst>
          </p:cNvPr>
          <p:cNvSpPr/>
          <p:nvPr/>
        </p:nvSpPr>
        <p:spPr>
          <a:xfrm>
            <a:off x="3804360" y="4687227"/>
            <a:ext cx="182400" cy="18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A6F3C8A7-3128-4C99-ABB7-E26909CD043E}"/>
              </a:ext>
            </a:extLst>
          </p:cNvPr>
          <p:cNvSpPr/>
          <p:nvPr/>
        </p:nvSpPr>
        <p:spPr>
          <a:xfrm>
            <a:off x="4621126" y="4029647"/>
            <a:ext cx="182400" cy="18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773E870E-D407-4880-B225-5323BA6F700B}"/>
              </a:ext>
            </a:extLst>
          </p:cNvPr>
          <p:cNvSpPr/>
          <p:nvPr/>
        </p:nvSpPr>
        <p:spPr>
          <a:xfrm>
            <a:off x="8083908" y="2029086"/>
            <a:ext cx="182400" cy="18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7C20B2EE-AD8C-4C79-9312-7623422DC0E6}"/>
              </a:ext>
            </a:extLst>
          </p:cNvPr>
          <p:cNvCxnSpPr>
            <a:stCxn id="43" idx="4"/>
            <a:endCxn id="44" idx="4"/>
          </p:cNvCxnSpPr>
          <p:nvPr/>
        </p:nvCxnSpPr>
        <p:spPr>
          <a:xfrm flipV="1">
            <a:off x="3895560" y="4869627"/>
            <a:ext cx="0" cy="770258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4A28245-4EF0-4EFE-983E-FED3C123922D}"/>
              </a:ext>
            </a:extLst>
          </p:cNvPr>
          <p:cNvCxnSpPr>
            <a:cxnSpLocks/>
            <a:stCxn id="44" idx="6"/>
            <a:endCxn id="45" idx="6"/>
          </p:cNvCxnSpPr>
          <p:nvPr/>
        </p:nvCxnSpPr>
        <p:spPr>
          <a:xfrm>
            <a:off x="3986760" y="4778427"/>
            <a:ext cx="816766" cy="5897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E336B311-4BB5-4168-B62A-E357FEBF6E84}"/>
              </a:ext>
            </a:extLst>
          </p:cNvPr>
          <p:cNvCxnSpPr>
            <a:cxnSpLocks/>
            <a:stCxn id="45" idx="4"/>
            <a:endCxn id="46" idx="4"/>
          </p:cNvCxnSpPr>
          <p:nvPr/>
        </p:nvCxnSpPr>
        <p:spPr>
          <a:xfrm flipV="1">
            <a:off x="4712326" y="4212047"/>
            <a:ext cx="0" cy="663477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60BB2BF4-6C3E-49B6-ABDA-CF1E5633FE5A}"/>
              </a:ext>
            </a:extLst>
          </p:cNvPr>
          <p:cNvCxnSpPr>
            <a:cxnSpLocks/>
            <a:stCxn id="46" idx="6"/>
            <a:endCxn id="47" idx="6"/>
          </p:cNvCxnSpPr>
          <p:nvPr/>
        </p:nvCxnSpPr>
        <p:spPr>
          <a:xfrm>
            <a:off x="4803526" y="4120847"/>
            <a:ext cx="900581" cy="444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D24C03CC-49C9-4A97-9143-7A366ABCA957}"/>
              </a:ext>
            </a:extLst>
          </p:cNvPr>
          <p:cNvCxnSpPr>
            <a:cxnSpLocks/>
          </p:cNvCxnSpPr>
          <p:nvPr/>
        </p:nvCxnSpPr>
        <p:spPr>
          <a:xfrm>
            <a:off x="5568629" y="3510739"/>
            <a:ext cx="900581" cy="444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2917F83-7ED6-4CB1-815A-22C0F12F35BC}"/>
              </a:ext>
            </a:extLst>
          </p:cNvPr>
          <p:cNvCxnSpPr>
            <a:cxnSpLocks/>
            <a:endCxn id="51" idx="2"/>
          </p:cNvCxnSpPr>
          <p:nvPr/>
        </p:nvCxnSpPr>
        <p:spPr>
          <a:xfrm flipV="1">
            <a:off x="6424555" y="2855856"/>
            <a:ext cx="1648741" cy="2909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568170CC-2E60-4DA3-89E1-DA97FB8F98C9}"/>
              </a:ext>
            </a:extLst>
          </p:cNvPr>
          <p:cNvCxnSpPr>
            <a:cxnSpLocks/>
            <a:stCxn id="51" idx="4"/>
            <a:endCxn id="52" idx="4"/>
          </p:cNvCxnSpPr>
          <p:nvPr/>
        </p:nvCxnSpPr>
        <p:spPr>
          <a:xfrm flipV="1">
            <a:off x="8164496" y="2211486"/>
            <a:ext cx="10612" cy="73557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9E56FF34-3C38-4A60-84C3-55DE194D9FEA}"/>
              </a:ext>
            </a:extLst>
          </p:cNvPr>
          <p:cNvCxnSpPr>
            <a:cxnSpLocks/>
          </p:cNvCxnSpPr>
          <p:nvPr/>
        </p:nvCxnSpPr>
        <p:spPr>
          <a:xfrm flipV="1">
            <a:off x="6427594" y="2827675"/>
            <a:ext cx="33926" cy="705248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7703D762-0C6D-450E-8705-01EEADF659D0}"/>
              </a:ext>
            </a:extLst>
          </p:cNvPr>
          <p:cNvCxnSpPr>
            <a:cxnSpLocks/>
          </p:cNvCxnSpPr>
          <p:nvPr/>
        </p:nvCxnSpPr>
        <p:spPr>
          <a:xfrm flipV="1">
            <a:off x="5607379" y="3440389"/>
            <a:ext cx="33926" cy="705248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109989AE-3E04-43C5-ABF5-BDE6E727AA3A}"/>
              </a:ext>
            </a:extLst>
          </p:cNvPr>
          <p:cNvSpPr/>
          <p:nvPr/>
        </p:nvSpPr>
        <p:spPr>
          <a:xfrm>
            <a:off x="4621126" y="4693124"/>
            <a:ext cx="182400" cy="18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C6599DB9-D45B-4925-81B7-398AE4430372}"/>
              </a:ext>
            </a:extLst>
          </p:cNvPr>
          <p:cNvSpPr/>
          <p:nvPr/>
        </p:nvSpPr>
        <p:spPr>
          <a:xfrm>
            <a:off x="7177647" y="2788482"/>
            <a:ext cx="182400" cy="18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E58E761B-C423-4BAE-9595-13136B6DF3FA}"/>
              </a:ext>
            </a:extLst>
          </p:cNvPr>
          <p:cNvSpPr/>
          <p:nvPr/>
        </p:nvSpPr>
        <p:spPr>
          <a:xfrm>
            <a:off x="6373198" y="2801800"/>
            <a:ext cx="182400" cy="18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458AC599-8864-4514-8201-9D1E720876A1}"/>
              </a:ext>
            </a:extLst>
          </p:cNvPr>
          <p:cNvSpPr/>
          <p:nvPr/>
        </p:nvSpPr>
        <p:spPr>
          <a:xfrm>
            <a:off x="6353645" y="3416348"/>
            <a:ext cx="182400" cy="18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C678E0A6-D7EA-4C07-8C1D-5BCB287F6FA2}"/>
              </a:ext>
            </a:extLst>
          </p:cNvPr>
          <p:cNvSpPr/>
          <p:nvPr/>
        </p:nvSpPr>
        <p:spPr>
          <a:xfrm>
            <a:off x="5521707" y="3419539"/>
            <a:ext cx="182400" cy="18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01C16F13-404E-4316-9C1A-632D033A9ED4}"/>
              </a:ext>
            </a:extLst>
          </p:cNvPr>
          <p:cNvSpPr/>
          <p:nvPr/>
        </p:nvSpPr>
        <p:spPr>
          <a:xfrm>
            <a:off x="5521707" y="4034087"/>
            <a:ext cx="182400" cy="18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9A60E34A-BAE7-4CA2-8A79-A4252924845E}"/>
              </a:ext>
            </a:extLst>
          </p:cNvPr>
          <p:cNvSpPr/>
          <p:nvPr/>
        </p:nvSpPr>
        <p:spPr>
          <a:xfrm>
            <a:off x="3804360" y="5457485"/>
            <a:ext cx="182400" cy="18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AB26375C-FBD8-4D76-B060-C040ABA11175}"/>
              </a:ext>
            </a:extLst>
          </p:cNvPr>
          <p:cNvSpPr/>
          <p:nvPr/>
        </p:nvSpPr>
        <p:spPr>
          <a:xfrm>
            <a:off x="8073296" y="2764656"/>
            <a:ext cx="182400" cy="18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9752251-54B8-415D-AABE-562966433B6F}"/>
              </a:ext>
            </a:extLst>
          </p:cNvPr>
          <p:cNvSpPr txBox="1"/>
          <p:nvPr/>
        </p:nvSpPr>
        <p:spPr>
          <a:xfrm>
            <a:off x="8695700" y="3763897"/>
            <a:ext cx="314531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1" i="0" dirty="0">
                <a:solidFill>
                  <a:srgbClr val="242424"/>
                </a:solidFill>
                <a:effectLst/>
                <a:latin typeface="sohne"/>
              </a:rPr>
              <a:t>*曲線下面積：</a:t>
            </a:r>
            <a:r>
              <a:rPr lang="en-US" b="1" i="0" dirty="0">
                <a:solidFill>
                  <a:srgbClr val="242424"/>
                </a:solidFill>
                <a:effectLst/>
                <a:latin typeface="sohne"/>
              </a:rPr>
              <a:t>AUC(Area under curve)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source-serif-pro"/>
              </a:rPr>
              <a:t> 越高則分類器正確率會越高</a:t>
            </a:r>
            <a:endParaRPr lang="en-US" b="1" i="0" dirty="0">
              <a:solidFill>
                <a:srgbClr val="242424"/>
              </a:solidFill>
              <a:effectLst/>
              <a:latin typeface="sohne"/>
            </a:endParaRPr>
          </a:p>
        </p:txBody>
      </p:sp>
      <p:graphicFrame>
        <p:nvGraphicFramePr>
          <p:cNvPr id="54" name="Table 7">
            <a:extLst>
              <a:ext uri="{FF2B5EF4-FFF2-40B4-BE49-F238E27FC236}">
                <a16:creationId xmlns:a16="http://schemas.microsoft.com/office/drawing/2014/main" id="{377ACCDE-B32B-487D-993F-3FAC56E07C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9676259"/>
              </p:ext>
            </p:extLst>
          </p:nvPr>
        </p:nvGraphicFramePr>
        <p:xfrm>
          <a:off x="575020" y="1373708"/>
          <a:ext cx="2291425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1716">
                  <a:extLst>
                    <a:ext uri="{9D8B030D-6E8A-4147-A177-3AD203B41FA5}">
                      <a16:colId xmlns:a16="http://schemas.microsoft.com/office/drawing/2014/main" val="1093154142"/>
                    </a:ext>
                  </a:extLst>
                </a:gridCol>
                <a:gridCol w="1109709">
                  <a:extLst>
                    <a:ext uri="{9D8B030D-6E8A-4147-A177-3AD203B41FA5}">
                      <a16:colId xmlns:a16="http://schemas.microsoft.com/office/drawing/2014/main" val="8455575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TPR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4960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344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9738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4081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3652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4349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6483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354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646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0911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39529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02681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717459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606</TotalTime>
  <Words>1132</Words>
  <Application>Microsoft Office PowerPoint</Application>
  <PresentationFormat>寬螢幕</PresentationFormat>
  <Paragraphs>421</Paragraphs>
  <Slides>14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3" baseType="lpstr">
      <vt:lpstr>DengXian</vt:lpstr>
      <vt:lpstr>宋体</vt:lpstr>
      <vt:lpstr>sohne</vt:lpstr>
      <vt:lpstr>source-serif-pro</vt:lpstr>
      <vt:lpstr>新細明體</vt:lpstr>
      <vt:lpstr>Arial</vt:lpstr>
      <vt:lpstr>Calibri</vt:lpstr>
      <vt:lpstr>Calibri Light</vt:lpstr>
      <vt:lpstr>Retrospect</vt:lpstr>
      <vt:lpstr>ROC曲線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ROC曲線</dc:title>
  <dc:creator>Shuxian Lim</dc:creator>
  <cp:lastModifiedBy>user</cp:lastModifiedBy>
  <cp:revision>24</cp:revision>
  <dcterms:created xsi:type="dcterms:W3CDTF">2023-12-20T08:05:29Z</dcterms:created>
  <dcterms:modified xsi:type="dcterms:W3CDTF">2023-12-23T06:32:47Z</dcterms:modified>
</cp:coreProperties>
</file>